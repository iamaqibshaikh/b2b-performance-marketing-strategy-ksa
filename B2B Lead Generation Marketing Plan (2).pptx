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 id="2147483673" r:id="rId3"/>
  </p:sldMasterIdLst>
  <p:notesMasterIdLst>
    <p:notesMasterId r:id="rId24"/>
  </p:notesMasterIdLst>
  <p:sldIdLst>
    <p:sldId id="256" r:id="rId4"/>
    <p:sldId id="257" r:id="rId5"/>
    <p:sldId id="258" r:id="rId6"/>
    <p:sldId id="259" r:id="rId7"/>
    <p:sldId id="260" r:id="rId8"/>
    <p:sldId id="261" r:id="rId9"/>
    <p:sldId id="262" r:id="rId10"/>
    <p:sldId id="263" r:id="rId11"/>
    <p:sldId id="265" r:id="rId12"/>
    <p:sldId id="266" r:id="rId13"/>
    <p:sldId id="275" r:id="rId14"/>
    <p:sldId id="276" r:id="rId15"/>
    <p:sldId id="277" r:id="rId16"/>
    <p:sldId id="269" r:id="rId17"/>
    <p:sldId id="270" r:id="rId18"/>
    <p:sldId id="278" r:id="rId19"/>
    <p:sldId id="271" r:id="rId20"/>
    <p:sldId id="272" r:id="rId21"/>
    <p:sldId id="273" r:id="rId22"/>
    <p:sldId id="274" r:id="rId23"/>
  </p:sldIdLst>
  <p:sldSz cx="9144000" cy="5143500" type="screen16x9"/>
  <p:notesSz cx="6858000" cy="9144000"/>
  <p:embeddedFontLst>
    <p:embeddedFont>
      <p:font typeface="Noto Sans Arabic" panose="020B0604020202020204" charset="-78"/>
      <p:regular r:id="rId25"/>
      <p:bold r:id="rId26"/>
    </p:embeddedFont>
    <p:embeddedFont>
      <p:font typeface="Open Sans" panose="020B0606030504020204" pitchFamily="34"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426" y="96"/>
      </p:cViewPr>
      <p:guideLst>
        <p:guide orient="horz" pos="1620"/>
        <p:guide pos="2880"/>
      </p:guideLst>
    </p:cSldViewPr>
  </p:slideViewPr>
  <p:notesTextViewPr>
    <p:cViewPr>
      <p:scale>
        <a:sx n="1" d="1"/>
        <a:sy n="1" d="1"/>
      </p:scale>
      <p:origin x="0" y="-414"/>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2.fntdata"/><Relationship Id="rId21" Type="http://schemas.openxmlformats.org/officeDocument/2006/relationships/slide" Target="slides/slide18.xml"/><Relationship Id="rId34" Type="http://schemas.openxmlformats.org/officeDocument/2006/relationships/font" Target="fonts/font10.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f01ae00b5c_1_2: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g3f01ae00b5c_1_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a:t>Open with the headline ask up front: a dedicated SAR 22,000 Google Ads budget projected to deliver 76+ qualified B2B leads. This is a performance marketing proposal for corporate training leads across Saudi Arabia, not a general brand awareness spend — every slide ties back to this number. Keep this slide on screen for 15-20 seconds while framing the ask, then move straight into the why.</a:t>
            </a:r>
            <a:endParaRPr/>
          </a:p>
        </p:txBody>
      </p:sp>
      <p:sp>
        <p:nvSpPr>
          <p:cNvPr id="100" name="Google Shape;100;g3f01ae00b5c_1_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01ae00b5c_1_22: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g3f01ae00b5c_1_2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a:t>the goal (high-intent B2B leads), the problem we're solving (budget leakage to B2C/spam), the strategy (dual-layer Search + Performance Max), the investment (SAR 22,000), the expected output (76+ leads), and the commercial focus (bulk quotes, group training, enterprise buyers). </a:t>
            </a:r>
            <a:endParaRPr/>
          </a:p>
        </p:txBody>
      </p:sp>
      <p:sp>
        <p:nvSpPr>
          <p:cNvPr id="120" name="Google Shape;120;g3f01ae00b5c_1_2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f01ae00b5c_1_63: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g3f01ae00b5c_1_63: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a:t>examines Standard Arabia, one of the most established industrial training and inspection providers in the Eastern Province and Jubail. Their strength lies in holding official approvals from both IPAF and PASMA alongside Highfield for food safety. Their primary acquisition channel is Google PPC on high-intent search terms coupled with direct B2B field sales to EPC contractors. </a:t>
            </a:r>
            <a:endParaRPr/>
          </a:p>
        </p:txBody>
      </p:sp>
      <p:sp>
        <p:nvSpPr>
          <p:cNvPr id="162" name="Google Shape;162;g3f01ae00b5c_1_63: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9ed52d9ba_0_17:notes"/>
          <p:cNvSpPr>
            <a:spLocks noGrp="1" noRot="1" noChangeAspect="1"/>
          </p:cNvSpPr>
          <p:nvPr>
            <p:ph type="sldImg" idx="2"/>
          </p:nvPr>
        </p:nvSpPr>
        <p:spPr>
          <a:xfrm>
            <a:off x="-874713" y="0"/>
            <a:ext cx="3999000" cy="2249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g3f9ed52d9ba_0_17: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a:t>Dayim represents a unique competitive model because they leverage their heavy equipment rental business to cross-sell mandatory IPAF and equipment operator certifications. By bundling rental contracts with operator PAL cards, they capture substantial enterprise volume directly at the project procurement stage </a:t>
            </a:r>
            <a:endParaRPr/>
          </a:p>
        </p:txBody>
      </p:sp>
      <p:sp>
        <p:nvSpPr>
          <p:cNvPr id="179" name="Google Shape;179;g3f9ed52d9ba_0_17: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f9ed52d9ba_0_41: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g3f9ed52d9ba_0_41: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a:t>Operating across Riyadh, Jubail, and Jazan, they hold direct approvals from IPAF UK, PASMA, Highfield, and TVTC. Their primary digital push is focused on location-based Google Search campaigns targeting site managers who require rapid on-site operator certifications. </a:t>
            </a:r>
            <a:endParaRPr/>
          </a:p>
        </p:txBody>
      </p:sp>
      <p:sp>
        <p:nvSpPr>
          <p:cNvPr id="196" name="Google Shape;196;g3f9ed52d9ba_0_41: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f9ed52d9ba_0_62:notes"/>
          <p:cNvSpPr>
            <a:spLocks noGrp="1" noRot="1" noChangeAspect="1"/>
          </p:cNvSpPr>
          <p:nvPr>
            <p:ph type="sldImg" idx="2"/>
          </p:nvPr>
        </p:nvSpPr>
        <p:spPr>
          <a:xfrm>
            <a:off x="-874713" y="0"/>
            <a:ext cx="3999000" cy="2249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g3f9ed52d9ba_0_6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a:t>Arbrit focuses heavily on fleet safety and food compliance. They utilize ROSPA accreditation for defensive driving and Highfield/HACCP for food safety. Their digital strategy relies on dominating local search results across major Saudi metro areas and retargeting safety managers via email and search ads. </a:t>
            </a:r>
            <a:endParaRPr/>
          </a:p>
        </p:txBody>
      </p:sp>
      <p:sp>
        <p:nvSpPr>
          <p:cNvPr id="212" name="Google Shape;212;g3f9ed52d9ba_0_6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f9ed52d9ba_0_82:notes"/>
          <p:cNvSpPr>
            <a:spLocks noGrp="1" noRot="1" noChangeAspect="1"/>
          </p:cNvSpPr>
          <p:nvPr>
            <p:ph type="sldImg" idx="2"/>
          </p:nvPr>
        </p:nvSpPr>
        <p:spPr>
          <a:xfrm>
            <a:off x="-874713" y="0"/>
            <a:ext cx="3999000" cy="2249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g3f9ed52d9ba_0_8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a:t>FLTC differs from industrial-only centers by placing a heavy focus on the F&amp;B, hotel, and commercial driving sectors. They are particularly effective on social channels like Instagram and WhatsApp, capturing F&amp;B managers and executive chefs looking for quick SFDA compliance training." </a:t>
            </a:r>
            <a:endParaRPr/>
          </a:p>
        </p:txBody>
      </p:sp>
      <p:sp>
        <p:nvSpPr>
          <p:cNvPr id="228" name="Google Shape;228;g3f9ed52d9ba_0_8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7</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f01ae00b5c_1_172: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g3f01ae00b5c_1_172: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dirty="0"/>
              <a:t>This defines our exact Target Market Segmentation across all 5 product lines—Defensive Driving, IPAF, PASMA, Food Safety, and Hospitality. Geographically, we are focusing on Riyadh, the Eastern Province industrial corridor, and Western Region hospitality hubs. Our decision-maker profile is strictly B2B: HSE Managers, Procurement Directors, Executive Chefs, and Fleet Operations Heads—explicitly filtering out B2C job seekers or individual students. Their primary buying motivation is risk aversion and strict compliance with Saudi laws (SFDA, TVTC, Civil Defense). Finally, their buying behavior shows high search intent for bulk group quotes, making rapid response via landing page lead forms and WhatsApp Business essential for high lead conversion."</a:t>
            </a:r>
            <a:endParaRPr dirty="0"/>
          </a:p>
        </p:txBody>
      </p:sp>
      <p:sp>
        <p:nvSpPr>
          <p:cNvPr id="244" name="Google Shape;244;g3f01ae00b5c_1_172: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8</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f01ae00b5c_1_327: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g3f01ae00b5c_1_327: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dirty="0"/>
              <a:t>Portfolio overview — four accredited products, each getting its own dedicated Search + Performance Max campaign rather than one generic campaign. Fire Safety is the compliance anchor, First Aid is recurring workforce-protection demand, BICSc is a specialist FM/hospitality vertical, and Defensive Driving targets fleet and logistics risk. Total SAR 22,000 across all four, projected 76+ leads combined. This sets up the next four slides, which go one level deeper into each product.</a:t>
            </a:r>
            <a:endParaRPr dirty="0"/>
          </a:p>
        </p:txBody>
      </p:sp>
      <p:sp>
        <p:nvSpPr>
          <p:cNvPr id="336" name="Google Shape;336;g3f01ae00b5c_1_327: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9</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f01ae00b5c_1_359: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g3f01ae00b5c_1_359: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dirty="0"/>
              <a:t>IPAF Training represents our primary high-margin product strategy for industrial site access. With a dedicated budget allocation of SAR 8,000 (SAR 6,000 in Google Search and SAR 2,000 in Performance Max), we are projecting 23+ high-value corporate RFQs. The ad messaging specifically focuses on TVTC and Aramco compliance, targeting HSE Managers and Plant Hire procurement teams who need bulk operator PAL Cards (3a, 3b, PAV) for site entry across Riyadh, Jubail, and giga-project locations</a:t>
            </a:r>
            <a:endParaRPr dirty="0"/>
          </a:p>
        </p:txBody>
      </p:sp>
      <p:sp>
        <p:nvSpPr>
          <p:cNvPr id="371" name="Google Shape;371;g3f01ae00b5c_1_359: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f01ae00b5c_1_359: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g3f01ae00b5c_1_359: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dirty="0"/>
              <a:t>PASMA Training targets scaffolding and tower safety. Allocating SAR 8,000 total (SAR 6k Search / SAR 2k </a:t>
            </a:r>
            <a:r>
              <a:rPr lang="en-US" dirty="0" err="1"/>
              <a:t>PMax</a:t>
            </a:r>
            <a:r>
              <a:rPr lang="en-US" dirty="0"/>
              <a:t>) projects 30+ corporate RFQs focusing on site assembly compliance for FM and construction leads."</a:t>
            </a:r>
            <a:endParaRPr dirty="0"/>
          </a:p>
        </p:txBody>
      </p:sp>
      <p:sp>
        <p:nvSpPr>
          <p:cNvPr id="371" name="Google Shape;371;g3f01ae00b5c_1_359: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11</a:t>
            </a:fld>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5061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f01ae00b5c_1_359: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g3f01ae00b5c_1_359: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dirty="0"/>
              <a:t>Food Safety Training targets the rapidly expanding hospitality, catering, and food manufacturing sectors across KSA. Budget allocation is SAR 8,000 total (SAR 6,000 Search / SAR 2,000 </a:t>
            </a:r>
            <a:r>
              <a:rPr lang="en-US" dirty="0" err="1"/>
              <a:t>PMax</a:t>
            </a:r>
            <a:r>
              <a:rPr lang="en-US" dirty="0"/>
              <a:t> on Meta/Google), projecting 25+ corporate RFQs. The strategy leverages high visual and search engagement around SFDA and </a:t>
            </a:r>
            <a:r>
              <a:rPr lang="en-US" dirty="0" err="1"/>
              <a:t>Balady</a:t>
            </a:r>
            <a:r>
              <a:rPr lang="en-US" dirty="0"/>
              <a:t> municipality audit deadlines to convert F&amp;B decision-makers.</a:t>
            </a:r>
            <a:endParaRPr dirty="0"/>
          </a:p>
        </p:txBody>
      </p:sp>
      <p:sp>
        <p:nvSpPr>
          <p:cNvPr id="371" name="Google Shape;371;g3f01ae00b5c_1_359: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12</a:t>
            </a:fld>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64830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f01ae00b5c_1_359: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g3f01ae00b5c_1_359: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dirty="0"/>
              <a:t>Hospitality Training taps into the massive growth of Saudi Arabia's hotel, luxury resort, and tourism sectors driven by Vision 2030. With a total allocated budget of SAR 8,000 (SAR 6,000 Search / SAR 2,000 </a:t>
            </a:r>
            <a:r>
              <a:rPr lang="en-US" dirty="0" err="1"/>
              <a:t>PMax</a:t>
            </a:r>
            <a:r>
              <a:rPr lang="en-US" dirty="0"/>
              <a:t> , we project 30+ corporate RFQs. The campaign targets Hotel HR Directors and L&amp;D heads looking to upscale front-of-house service, guest relations, and operational efficiency across Riyadh, Jeddah, and Red Sea developments.</a:t>
            </a:r>
            <a:endParaRPr dirty="0"/>
          </a:p>
        </p:txBody>
      </p:sp>
      <p:sp>
        <p:nvSpPr>
          <p:cNvPr id="371" name="Google Shape;371;g3f01ae00b5c_1_359: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13</a:t>
            </a:fld>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88509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f01ae00b5c_1_507: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 name="Google Shape;519;g3f01ae00b5c_1_507: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dirty="0"/>
              <a:t>Defensive Driving — SAR 8,000 (30+ leads), targeting fleet and logistics risk management. Buyers here are Transport Managers and Supply Chain Directors in industrial hubs, motivated by liability reduction rather than pure compliance. Rounds out the four-product portfolio.</a:t>
            </a:r>
            <a:endParaRPr dirty="0"/>
          </a:p>
        </p:txBody>
      </p:sp>
      <p:sp>
        <p:nvSpPr>
          <p:cNvPr id="520" name="Google Shape;520;g3f01ae00b5c_1_507: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f01ae00b5c_1_556: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9" name="Google Shape;569;g3f01ae00b5c_1_55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a:t>This is the budget reconciliation slide — useful if the CEO wants to verify the math adds up. SAR 22,000 total, split 64% to Search (SAR 14,000) and 36% to Performance Max (SAR 8,000), broken out per product. All four products sum to the 76+ lead target. Keep this slide available for Q&amp;A rather than dwelling on it — it's a reference point, not a story beat.</a:t>
            </a:r>
            <a:endParaRPr/>
          </a:p>
        </p:txBody>
      </p:sp>
      <p:sp>
        <p:nvSpPr>
          <p:cNvPr id="570" name="Google Shape;570;g3f01ae00b5c_1_55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f01ae00b5c_1_556: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9" name="Google Shape;569;g3f01ae00b5c_1_55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a:t>This is the budget reconciliation slide — useful if the CEO wants to verify the math adds up. SAR 22,000 total, split 64% to Search (SAR 14,000) and 36% to Performance Max (SAR 8,000), broken out per product. All four products sum to the 76+ lead target. Keep this slide available for Q&amp;A rather than dwelling on it — it's a reference point, not a story beat.</a:t>
            </a:r>
            <a:endParaRPr/>
          </a:p>
        </p:txBody>
      </p:sp>
      <p:sp>
        <p:nvSpPr>
          <p:cNvPr id="570" name="Google Shape;570;g3f01ae00b5c_1_55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16</a:t>
            </a:fld>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63790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f01ae00b5c_1_646: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4" name="Google Shape;644;g3f01ae00b5c_1_646: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a:t>This is how we'll prove the campaign is working, not just spending. Four KPIs: Cost Per Lead (tracked via conversion tags on form submissions and call clicks), Lead Quality Rate (the % that are real corporate RFQs, not job seekers or spam — this is the direct proof point against the budget-leakage problem), Click-Through Rate (protects Quality Score and CPC), and CRM Tracking (every lead followed from first click to deal closure, with a daily sales feedback loop). Emphasize: we're not just counting leads, we're counting good leads and tracking them to revenue.</a:t>
            </a:r>
            <a:endParaRPr/>
          </a:p>
        </p:txBody>
      </p:sp>
      <p:sp>
        <p:nvSpPr>
          <p:cNvPr id="645" name="Google Shape;645;g3f01ae00b5c_1_646: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17</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3f01ae00b5c_1_7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5" name="Google Shape;675;g3f01ae00b5c_1_7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New slide — answers the question every CEO asks before approving a budget: 'when do I see results?' Four phases over 90 days: Weeks 1-2 setup and launch (account build, tracking, landing pages live), Weeks 3-4 learning phase (algorithm calibrates, daily negative-keyword review), Month 2 optimization (shift to Target CPA, reallocate budget to top performers), Month 3 scale review (full evaluation against the 76+ lead target, decision to renew/scale/reallocate). The three bottom callouts are the headline commitments: first leads by Week 1, full optimization by Day 30, formal budget review at Day 90. This sets clear expectations and a built-in checkpoint for the CEO to revisit the investment.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f01ae00b5c_1_7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4" name="Google Shape;714;g3f01ae00b5c_1_7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New slide — this is the most important slide for budget approval, so don't rush it. Left side: the projected CPL of SAR 289 is lower than our actual historical blended B2B CPL of SAR 367 from CRM data — be transparent that this reflects tighter exclusion targeting and the new dual-layer reach, not a guarantee, and that we're using the existing 6.4% B2C NEBOSH conversion rate as a conservative proxy until we have B2B-specific close-rate data, implying roughly 4-5 enrollments from this batch of leads before sales follow-up multiplies that. Right side: this is the safety net — if CPL exceeds SAR 400 by Day 30, we pause and reallocate; if the legitimate-RFQ rate falls below 50%, we tighten targeting before spending further; and a weekly marketing-sales sync keeps lead quality honest against actual pipeline conversion. This slide proves the ask is both ambitious and accountable.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3f01ae00b5c_1_839:notes"/>
          <p:cNvSpPr>
            <a:spLocks noGrp="1" noRot="1" noChangeAspect="1"/>
          </p:cNvSpPr>
          <p:nvPr>
            <p:ph type="sldImg" idx="2"/>
          </p:nvPr>
        </p:nvSpPr>
        <p:spPr>
          <a:xfrm>
            <a:off x="-874713" y="0"/>
            <a:ext cx="3998913" cy="22494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0" name="Google Shape;740;g3f01ae00b5c_1_839: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dirty="0"/>
              <a:t>This is the close — the ask, stated plainly. Marketing commits to weekly B2B emailers, daily traffic monitoring, and daily lead-quality reporting to sales; Sales commits to twice-weekly follow-up on every lead, personal qualification by the Sales Head, and daily feedback to marketing — this loop is what turns 76 leads into revenue, not just a lead count. The ask: approve and launch the SAR 40,000 Google Ads budget across food safety, ipad, pasma, hospitality, Defensive Driving, , with the dual-layer Search + Performance Max architecture, CRM tracking, and the sales cadence already described. End on the number</a:t>
            </a:r>
            <a:r>
              <a:rPr lang="en" sz="1100"/>
              <a:t>: 150+ </a:t>
            </a:r>
            <a:r>
              <a:rPr lang="en" sz="1100" dirty="0"/>
              <a:t>qualified B2B leads. Pause here for questions — the risk/contingency slide (18) and budget breakdown (14) are your fallback references if the CEO pushes back on numbers.</a:t>
            </a:r>
            <a:endParaRPr dirty="0"/>
          </a:p>
        </p:txBody>
      </p:sp>
      <p:sp>
        <p:nvSpPr>
          <p:cNvPr id="741" name="Google Shape;741;g3f01ae00b5c_1_839: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Arial"/>
                <a:ea typeface="Arial"/>
                <a:cs typeface="Arial"/>
                <a:sym typeface="Arial"/>
              </a:rPr>
              <a:t>20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8"/>
        <p:cNvGrpSpPr/>
        <p:nvPr/>
      </p:nvGrpSpPr>
      <p:grpSpPr>
        <a:xfrm>
          <a:off x="0" y="0"/>
          <a:ext cx="0" cy="0"/>
          <a:chOff x="0" y="0"/>
          <a:chExt cx="0" cy="0"/>
        </a:xfrm>
      </p:grpSpPr>
      <p:sp>
        <p:nvSpPr>
          <p:cNvPr id="59" name="Google Shape;59;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60" name="Google Shape;60;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1" name="Google Shape;6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4" name="Google Shape;6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5"/>
        <p:cNvGrpSpPr/>
        <p:nvPr/>
      </p:nvGrpSpPr>
      <p:grpSpPr>
        <a:xfrm>
          <a:off x="0" y="0"/>
          <a:ext cx="0" cy="0"/>
          <a:chOff x="0" y="0"/>
          <a:chExt cx="0" cy="0"/>
        </a:xfrm>
      </p:grpSpPr>
      <p:sp>
        <p:nvSpPr>
          <p:cNvPr id="66" name="Google Shape;6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8" name="Google Shape;6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1" name="Google Shape;71;p2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2" name="Google Shape;72;p2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3" name="Google Shape;7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6" name="Google Shape;76;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9" name="Google Shape;79;p2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0" name="Google Shape;8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9" name="Google Shape;8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0"/>
        <p:cNvGrpSpPr/>
        <p:nvPr/>
      </p:nvGrpSpPr>
      <p:grpSpPr>
        <a:xfrm>
          <a:off x="0" y="0"/>
          <a:ext cx="0" cy="0"/>
          <a:chOff x="0" y="0"/>
          <a:chExt cx="0" cy="0"/>
        </a:xfrm>
      </p:grpSpPr>
      <p:sp>
        <p:nvSpPr>
          <p:cNvPr id="91" name="Google Shape;91;p2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2" name="Google Shape;9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3"/>
        <p:cNvGrpSpPr/>
        <p:nvPr/>
      </p:nvGrpSpPr>
      <p:grpSpPr>
        <a:xfrm>
          <a:off x="0" y="0"/>
          <a:ext cx="0" cy="0"/>
          <a:chOff x="0" y="0"/>
          <a:chExt cx="0" cy="0"/>
        </a:xfrm>
      </p:grpSpPr>
      <p:sp>
        <p:nvSpPr>
          <p:cNvPr id="94" name="Google Shape;94;p2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5" name="Google Shape;95;p2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6" name="Google Shape;9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2"/>
        <p:cNvGrpSpPr/>
        <p:nvPr/>
      </p:nvGrpSpPr>
      <p:grpSpPr>
        <a:xfrm>
          <a:off x="0" y="0"/>
          <a:ext cx="0" cy="0"/>
          <a:chOff x="0" y="0"/>
          <a:chExt cx="0" cy="0"/>
        </a:xfrm>
      </p:grpSpPr>
      <p:sp>
        <p:nvSpPr>
          <p:cNvPr id="53" name="Google Shape;53;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4" name="Google Shape;54;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5" name="Google Shape;5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2.xml"/><Relationship Id="rId16"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3.jpg"/><Relationship Id="rId4" Type="http://schemas.openxmlformats.org/officeDocument/2006/relationships/image" Target="../media/image26.png"/><Relationship Id="rId9" Type="http://schemas.openxmlformats.org/officeDocument/2006/relationships/image" Target="../media/image32.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4.png"/><Relationship Id="rId4" Type="http://schemas.openxmlformats.org/officeDocument/2006/relationships/image" Target="../media/image26.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5.jpg"/><Relationship Id="rId4" Type="http://schemas.openxmlformats.org/officeDocument/2006/relationships/image" Target="../media/image26.png"/><Relationship Id="rId9"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6.jpg"/><Relationship Id="rId4" Type="http://schemas.openxmlformats.org/officeDocument/2006/relationships/image" Target="../media/image26.pn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notesSlide" Target="../notesSlides/notesSlide8.xml"/><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19" Type="http://schemas.openxmlformats.org/officeDocument/2006/relationships/image" Target="../media/image53.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s>
</file>

<file path=ppt/slides/_rels/slide9.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jp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0.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10.xml"/><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12.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s>
</file>

<file path=ppt/slides/_rels/slide11.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11.xml"/><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12.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s>
</file>

<file path=ppt/slides/_rels/slide12.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12.xml"/><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12.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13.xml"/><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12.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s>
</file>

<file path=ppt/slides/_rels/slide14.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18" Type="http://schemas.openxmlformats.org/officeDocument/2006/relationships/image" Target="../media/image98.png"/><Relationship Id="rId3" Type="http://schemas.openxmlformats.org/officeDocument/2006/relationships/image" Target="../media/image83.png"/><Relationship Id="rId21" Type="http://schemas.openxmlformats.org/officeDocument/2006/relationships/image" Target="../media/image101.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97.png"/><Relationship Id="rId2" Type="http://schemas.openxmlformats.org/officeDocument/2006/relationships/notesSlide" Target="../notesSlides/notesSlide14.xml"/><Relationship Id="rId16" Type="http://schemas.openxmlformats.org/officeDocument/2006/relationships/image" Target="../media/image96.png"/><Relationship Id="rId20" Type="http://schemas.openxmlformats.org/officeDocument/2006/relationships/image" Target="../media/image100.png"/><Relationship Id="rId1" Type="http://schemas.openxmlformats.org/officeDocument/2006/relationships/slideLayout" Target="../slideLayouts/slideLayout1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5" Type="http://schemas.openxmlformats.org/officeDocument/2006/relationships/image" Target="../media/image95.png"/><Relationship Id="rId10" Type="http://schemas.openxmlformats.org/officeDocument/2006/relationships/image" Target="../media/image90.png"/><Relationship Id="rId19" Type="http://schemas.openxmlformats.org/officeDocument/2006/relationships/image" Target="../media/image99.png"/><Relationship Id="rId4" Type="http://schemas.openxmlformats.org/officeDocument/2006/relationships/image" Target="../media/image84.png"/><Relationship Id="rId9" Type="http://schemas.openxmlformats.org/officeDocument/2006/relationships/image" Target="../media/image89.png"/><Relationship Id="rId14" Type="http://schemas.openxmlformats.org/officeDocument/2006/relationships/image" Target="../media/image94.png"/></Relationships>
</file>

<file path=ppt/slides/_rels/slide15.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3" Type="http://schemas.openxmlformats.org/officeDocument/2006/relationships/image" Target="../media/image102.png"/><Relationship Id="rId21" Type="http://schemas.openxmlformats.org/officeDocument/2006/relationships/image" Target="../media/image120.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 Type="http://schemas.openxmlformats.org/officeDocument/2006/relationships/notesSlide" Target="../notesSlides/notesSlide15.xml"/><Relationship Id="rId16" Type="http://schemas.openxmlformats.org/officeDocument/2006/relationships/image" Target="../media/image115.png"/><Relationship Id="rId20" Type="http://schemas.openxmlformats.org/officeDocument/2006/relationships/image" Target="../media/image119.png"/><Relationship Id="rId1" Type="http://schemas.openxmlformats.org/officeDocument/2006/relationships/slideLayout" Target="../slideLayouts/slideLayout12.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s>
</file>

<file path=ppt/slides/_rels/slide1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9.png"/><Relationship Id="rId3" Type="http://schemas.openxmlformats.org/officeDocument/2006/relationships/image" Target="../media/image102.png"/><Relationship Id="rId21" Type="http://schemas.openxmlformats.org/officeDocument/2006/relationships/image" Target="../media/image122.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7.png"/><Relationship Id="rId2" Type="http://schemas.openxmlformats.org/officeDocument/2006/relationships/notesSlide" Target="../notesSlides/notesSlide16.xml"/><Relationship Id="rId16" Type="http://schemas.openxmlformats.org/officeDocument/2006/relationships/image" Target="../media/image115.png"/><Relationship Id="rId20" Type="http://schemas.openxmlformats.org/officeDocument/2006/relationships/image" Target="../media/image121.png"/><Relationship Id="rId1" Type="http://schemas.openxmlformats.org/officeDocument/2006/relationships/slideLayout" Target="../slideLayouts/slideLayout12.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19" Type="http://schemas.openxmlformats.org/officeDocument/2006/relationships/image" Target="../media/image120.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3.png"/></Relationships>
</file>

<file path=ppt/slides/_rels/slide17.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4.png"/><Relationship Id="rId7" Type="http://schemas.openxmlformats.org/officeDocument/2006/relationships/image" Target="../media/image128.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27.png"/><Relationship Id="rId5" Type="http://schemas.openxmlformats.org/officeDocument/2006/relationships/image" Target="../media/image126.png"/><Relationship Id="rId10" Type="http://schemas.openxmlformats.org/officeDocument/2006/relationships/image" Target="../media/image131.png"/><Relationship Id="rId4" Type="http://schemas.openxmlformats.org/officeDocument/2006/relationships/image" Target="../media/image125.png"/><Relationship Id="rId9" Type="http://schemas.openxmlformats.org/officeDocument/2006/relationships/image" Target="../media/image1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26" Type="http://schemas.openxmlformats.org/officeDocument/2006/relationships/image" Target="../media/image154.png"/><Relationship Id="rId3" Type="http://schemas.openxmlformats.org/officeDocument/2006/relationships/image" Target="../media/image1.png"/><Relationship Id="rId21" Type="http://schemas.openxmlformats.org/officeDocument/2006/relationships/image" Target="../media/image149.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5" Type="http://schemas.openxmlformats.org/officeDocument/2006/relationships/image" Target="../media/image153.png"/><Relationship Id="rId2" Type="http://schemas.openxmlformats.org/officeDocument/2006/relationships/notesSlide" Target="../notesSlides/notesSlide20.xml"/><Relationship Id="rId16" Type="http://schemas.openxmlformats.org/officeDocument/2006/relationships/image" Target="../media/image144.png"/><Relationship Id="rId20" Type="http://schemas.openxmlformats.org/officeDocument/2006/relationships/image" Target="../media/image148.png"/><Relationship Id="rId29" Type="http://schemas.openxmlformats.org/officeDocument/2006/relationships/image" Target="../media/image157.png"/><Relationship Id="rId1" Type="http://schemas.openxmlformats.org/officeDocument/2006/relationships/slideLayout" Target="../slideLayouts/slideLayout12.xml"/><Relationship Id="rId6" Type="http://schemas.openxmlformats.org/officeDocument/2006/relationships/image" Target="../media/image134.png"/><Relationship Id="rId11" Type="http://schemas.openxmlformats.org/officeDocument/2006/relationships/image" Target="../media/image139.png"/><Relationship Id="rId24" Type="http://schemas.openxmlformats.org/officeDocument/2006/relationships/image" Target="../media/image152.png"/><Relationship Id="rId5" Type="http://schemas.openxmlformats.org/officeDocument/2006/relationships/image" Target="../media/image133.png"/><Relationship Id="rId15" Type="http://schemas.openxmlformats.org/officeDocument/2006/relationships/image" Target="../media/image143.png"/><Relationship Id="rId23" Type="http://schemas.openxmlformats.org/officeDocument/2006/relationships/image" Target="../media/image151.png"/><Relationship Id="rId28" Type="http://schemas.openxmlformats.org/officeDocument/2006/relationships/image" Target="../media/image156.png"/><Relationship Id="rId10" Type="http://schemas.openxmlformats.org/officeDocument/2006/relationships/image" Target="../media/image138.png"/><Relationship Id="rId19" Type="http://schemas.openxmlformats.org/officeDocument/2006/relationships/image" Target="../media/image147.png"/><Relationship Id="rId31" Type="http://schemas.openxmlformats.org/officeDocument/2006/relationships/image" Target="../media/image159.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50.png"/><Relationship Id="rId27" Type="http://schemas.openxmlformats.org/officeDocument/2006/relationships/image" Target="../media/image155.png"/><Relationship Id="rId30" Type="http://schemas.openxmlformats.org/officeDocument/2006/relationships/image" Target="../media/image1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27"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03" name="Google Shape;103;p27" descr="preencoded.png"/>
          <p:cNvPicPr preferRelativeResize="0"/>
          <p:nvPr/>
        </p:nvPicPr>
        <p:blipFill rotWithShape="1">
          <a:blip r:embed="rId4">
            <a:alphaModFix/>
          </a:blip>
          <a:srcRect/>
          <a:stretch/>
        </p:blipFill>
        <p:spPr>
          <a:xfrm>
            <a:off x="4069035" y="0"/>
            <a:ext cx="5074853" cy="5143500"/>
          </a:xfrm>
          <a:prstGeom prst="rect">
            <a:avLst/>
          </a:prstGeom>
          <a:noFill/>
          <a:ln>
            <a:noFill/>
          </a:ln>
        </p:spPr>
      </p:pic>
      <p:pic>
        <p:nvPicPr>
          <p:cNvPr id="104" name="Google Shape;104;p27" descr="preencoded.png"/>
          <p:cNvPicPr preferRelativeResize="0"/>
          <p:nvPr/>
        </p:nvPicPr>
        <p:blipFill rotWithShape="1">
          <a:blip r:embed="rId5">
            <a:alphaModFix/>
          </a:blip>
          <a:srcRect/>
          <a:stretch/>
        </p:blipFill>
        <p:spPr>
          <a:xfrm>
            <a:off x="502853" y="1141772"/>
            <a:ext cx="1746424" cy="262310"/>
          </a:xfrm>
          <a:prstGeom prst="rect">
            <a:avLst/>
          </a:prstGeom>
          <a:noFill/>
          <a:ln>
            <a:noFill/>
          </a:ln>
        </p:spPr>
      </p:pic>
      <p:pic>
        <p:nvPicPr>
          <p:cNvPr id="105" name="Google Shape;105;p27" descr="preencoded.png"/>
          <p:cNvPicPr preferRelativeResize="0"/>
          <p:nvPr/>
        </p:nvPicPr>
        <p:blipFill rotWithShape="1">
          <a:blip r:embed="rId6">
            <a:alphaModFix/>
          </a:blip>
          <a:srcRect/>
          <a:stretch/>
        </p:blipFill>
        <p:spPr>
          <a:xfrm>
            <a:off x="502382" y="2631027"/>
            <a:ext cx="979295" cy="61496"/>
          </a:xfrm>
          <a:prstGeom prst="rect">
            <a:avLst/>
          </a:prstGeom>
          <a:noFill/>
          <a:ln>
            <a:noFill/>
          </a:ln>
        </p:spPr>
      </p:pic>
      <p:pic>
        <p:nvPicPr>
          <p:cNvPr id="106" name="Google Shape;106;p27" descr="preencoded.png"/>
          <p:cNvPicPr preferRelativeResize="0"/>
          <p:nvPr/>
        </p:nvPicPr>
        <p:blipFill rotWithShape="1">
          <a:blip r:embed="rId7">
            <a:alphaModFix/>
          </a:blip>
          <a:srcRect/>
          <a:stretch/>
        </p:blipFill>
        <p:spPr>
          <a:xfrm>
            <a:off x="0" y="4346191"/>
            <a:ext cx="1051471" cy="797197"/>
          </a:xfrm>
          <a:prstGeom prst="rect">
            <a:avLst/>
          </a:prstGeom>
          <a:noFill/>
          <a:ln>
            <a:noFill/>
          </a:ln>
        </p:spPr>
      </p:pic>
      <p:pic>
        <p:nvPicPr>
          <p:cNvPr id="107" name="Google Shape;107;p27" descr="preencoded.png"/>
          <p:cNvPicPr preferRelativeResize="0"/>
          <p:nvPr/>
        </p:nvPicPr>
        <p:blipFill rotWithShape="1">
          <a:blip r:embed="rId8">
            <a:alphaModFix/>
          </a:blip>
          <a:srcRect/>
          <a:stretch/>
        </p:blipFill>
        <p:spPr>
          <a:xfrm>
            <a:off x="502848" y="366675"/>
            <a:ext cx="3886206" cy="12570"/>
          </a:xfrm>
          <a:prstGeom prst="rect">
            <a:avLst/>
          </a:prstGeom>
          <a:noFill/>
          <a:ln>
            <a:noFill/>
          </a:ln>
        </p:spPr>
      </p:pic>
      <p:pic>
        <p:nvPicPr>
          <p:cNvPr id="108" name="Google Shape;108;p27" descr="preencoded.png"/>
          <p:cNvPicPr preferRelativeResize="0"/>
          <p:nvPr/>
        </p:nvPicPr>
        <p:blipFill rotWithShape="1">
          <a:blip r:embed="rId9">
            <a:alphaModFix/>
          </a:blip>
          <a:srcRect/>
          <a:stretch/>
        </p:blipFill>
        <p:spPr>
          <a:xfrm>
            <a:off x="502848" y="4563852"/>
            <a:ext cx="3840442" cy="12506"/>
          </a:xfrm>
          <a:prstGeom prst="rect">
            <a:avLst/>
          </a:prstGeom>
          <a:noFill/>
          <a:ln>
            <a:noFill/>
          </a:ln>
        </p:spPr>
      </p:pic>
      <p:sp>
        <p:nvSpPr>
          <p:cNvPr id="109" name="Google Shape;109;p27"/>
          <p:cNvSpPr/>
          <p:nvPr/>
        </p:nvSpPr>
        <p:spPr>
          <a:xfrm>
            <a:off x="474143" y="1193230"/>
            <a:ext cx="1812600" cy="15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900"/>
              <a:buFont typeface="Noto Sans Arabic"/>
              <a:buNone/>
            </a:pPr>
            <a:r>
              <a:rPr lang="en" sz="900" b="1" i="0" u="none" strike="noStrike" cap="none">
                <a:solidFill>
                  <a:srgbClr val="FFFFFF"/>
                </a:solidFill>
                <a:latin typeface="Noto Sans Arabic"/>
                <a:ea typeface="Noto Sans Arabic"/>
                <a:cs typeface="Noto Sans Arabic"/>
                <a:sym typeface="Noto Sans Arabic"/>
              </a:rPr>
              <a:t>Google Ads Growth Proposal</a:t>
            </a:r>
            <a:endParaRPr sz="900" b="0" i="0" u="none" strike="noStrike" cap="none">
              <a:solidFill>
                <a:schemeClr val="dk1"/>
              </a:solidFill>
              <a:latin typeface="Calibri"/>
              <a:ea typeface="Calibri"/>
              <a:cs typeface="Calibri"/>
              <a:sym typeface="Calibri"/>
            </a:endParaRPr>
          </a:p>
        </p:txBody>
      </p:sp>
      <p:sp>
        <p:nvSpPr>
          <p:cNvPr id="110" name="Google Shape;110;p27"/>
          <p:cNvSpPr/>
          <p:nvPr/>
        </p:nvSpPr>
        <p:spPr>
          <a:xfrm>
            <a:off x="493700" y="1496727"/>
            <a:ext cx="4425665" cy="977243"/>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001F3F"/>
              </a:buClr>
              <a:buSzPts val="3200"/>
              <a:buFont typeface="Noto Sans Arabic"/>
              <a:buNone/>
            </a:pPr>
            <a:r>
              <a:rPr lang="en" sz="3200" b="1" i="0" u="none" strike="noStrike" cap="none">
                <a:solidFill>
                  <a:srgbClr val="001F3F"/>
                </a:solidFill>
                <a:latin typeface="Noto Sans Arabic"/>
                <a:ea typeface="Noto Sans Arabic"/>
                <a:cs typeface="Noto Sans Arabic"/>
                <a:sym typeface="Noto Sans Arabic"/>
              </a:rPr>
              <a:t>B2B Lead Generation</a:t>
            </a:r>
            <a:endParaRPr sz="3200"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001F3F"/>
              </a:buClr>
              <a:buSzPts val="3200"/>
              <a:buFont typeface="Noto Sans Arabic"/>
              <a:buNone/>
            </a:pPr>
            <a:r>
              <a:rPr lang="en" sz="3200" b="1" i="0" u="none" strike="noStrike" cap="none">
                <a:solidFill>
                  <a:srgbClr val="001F3F"/>
                </a:solidFill>
                <a:latin typeface="Noto Sans Arabic"/>
                <a:ea typeface="Noto Sans Arabic"/>
                <a:cs typeface="Noto Sans Arabic"/>
                <a:sym typeface="Noto Sans Arabic"/>
              </a:rPr>
              <a:t>Marketing Plan</a:t>
            </a:r>
            <a:endParaRPr sz="3200" b="0" i="0" u="none" strike="noStrike" cap="none">
              <a:solidFill>
                <a:schemeClr val="dk1"/>
              </a:solidFill>
              <a:latin typeface="Calibri"/>
              <a:ea typeface="Calibri"/>
              <a:cs typeface="Calibri"/>
              <a:sym typeface="Calibri"/>
            </a:endParaRPr>
          </a:p>
        </p:txBody>
      </p:sp>
      <p:sp>
        <p:nvSpPr>
          <p:cNvPr id="111" name="Google Shape;111;p27"/>
          <p:cNvSpPr/>
          <p:nvPr/>
        </p:nvSpPr>
        <p:spPr>
          <a:xfrm>
            <a:off x="475394" y="2885405"/>
            <a:ext cx="3794671" cy="344574"/>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444444"/>
              </a:buClr>
              <a:buSzPts val="1000"/>
              <a:buFont typeface="Noto Sans Arabic"/>
              <a:buNone/>
            </a:pPr>
            <a:r>
              <a:rPr lang="en" sz="1000" b="0" i="0" u="none" strike="noStrike" cap="none">
                <a:solidFill>
                  <a:srgbClr val="444444"/>
                </a:solidFill>
                <a:latin typeface="Noto Sans Arabic"/>
                <a:ea typeface="Noto Sans Arabic"/>
                <a:cs typeface="Noto Sans Arabic"/>
                <a:sym typeface="Noto Sans Arabic"/>
              </a:rPr>
              <a:t>Performance Marketing Strategy for </a:t>
            </a:r>
            <a:r>
              <a:rPr lang="en" sz="1000">
                <a:solidFill>
                  <a:srgbClr val="444444"/>
                </a:solidFill>
                <a:latin typeface="Noto Sans Arabic"/>
                <a:ea typeface="Noto Sans Arabic"/>
                <a:cs typeface="Noto Sans Arabic"/>
                <a:sym typeface="Noto Sans Arabic"/>
              </a:rPr>
              <a:t>B2B Products including PASMA, IPAF, Food Safety, Hospitality, Defensive Driving</a:t>
            </a:r>
            <a:endParaRPr sz="10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444444"/>
              </a:buClr>
              <a:buSzPts val="1000"/>
              <a:buFont typeface="Noto Sans Arabic"/>
              <a:buNone/>
            </a:pPr>
            <a:r>
              <a:rPr lang="en" sz="1000" b="0" i="0" u="none" strike="noStrike" cap="none">
                <a:solidFill>
                  <a:srgbClr val="444444"/>
                </a:solidFill>
                <a:latin typeface="Noto Sans Arabic"/>
                <a:ea typeface="Noto Sans Arabic"/>
                <a:cs typeface="Noto Sans Arabic"/>
                <a:sym typeface="Noto Sans Arabic"/>
              </a:rPr>
              <a:t>Leads in Saudi Arabia</a:t>
            </a:r>
            <a:endParaRPr sz="1000" b="0" i="0" u="none" strike="noStrike" cap="none">
              <a:solidFill>
                <a:schemeClr val="dk1"/>
              </a:solidFill>
              <a:latin typeface="Calibri"/>
              <a:ea typeface="Calibri"/>
              <a:cs typeface="Calibri"/>
              <a:sym typeface="Calibri"/>
            </a:endParaRPr>
          </a:p>
        </p:txBody>
      </p:sp>
      <p:sp>
        <p:nvSpPr>
          <p:cNvPr id="112" name="Google Shape;112;p27"/>
          <p:cNvSpPr/>
          <p:nvPr/>
        </p:nvSpPr>
        <p:spPr>
          <a:xfrm>
            <a:off x="484547" y="3548993"/>
            <a:ext cx="2996089" cy="14912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A651"/>
              </a:buClr>
              <a:buSzPts val="1000"/>
              <a:buFont typeface="Noto Sans Arabic"/>
              <a:buNone/>
            </a:pPr>
            <a:r>
              <a:rPr lang="en" sz="1000" b="1" i="0" u="none" strike="noStrike" cap="none">
                <a:solidFill>
                  <a:srgbClr val="00A651"/>
                </a:solidFill>
                <a:latin typeface="Noto Sans Arabic"/>
                <a:ea typeface="Noto Sans Arabic"/>
                <a:cs typeface="Noto Sans Arabic"/>
                <a:sym typeface="Noto Sans Arabic"/>
              </a:rPr>
              <a:t>PROPOSED INVESTMENT</a:t>
            </a:r>
            <a:endParaRPr sz="1000" b="0" i="0" u="none" strike="noStrike" cap="none">
              <a:solidFill>
                <a:schemeClr val="dk1"/>
              </a:solidFill>
              <a:latin typeface="Calibri"/>
              <a:ea typeface="Calibri"/>
              <a:cs typeface="Calibri"/>
              <a:sym typeface="Calibri"/>
            </a:endParaRPr>
          </a:p>
        </p:txBody>
      </p:sp>
      <p:sp>
        <p:nvSpPr>
          <p:cNvPr id="113" name="Google Shape;113;p27"/>
          <p:cNvSpPr/>
          <p:nvPr/>
        </p:nvSpPr>
        <p:spPr>
          <a:xfrm>
            <a:off x="484547" y="3723791"/>
            <a:ext cx="4714875" cy="32917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F3F"/>
              </a:buClr>
              <a:buSzPts val="2300"/>
              <a:buFont typeface="Noto Sans Arabic"/>
              <a:buNone/>
            </a:pPr>
            <a:r>
              <a:rPr lang="en" sz="2300" b="1" i="0" u="none" strike="noStrike" cap="none">
                <a:solidFill>
                  <a:srgbClr val="001F3F"/>
                </a:solidFill>
                <a:latin typeface="Noto Sans Arabic"/>
                <a:ea typeface="Noto Sans Arabic"/>
                <a:cs typeface="Noto Sans Arabic"/>
                <a:sym typeface="Noto Sans Arabic"/>
              </a:rPr>
              <a:t>SAR </a:t>
            </a:r>
            <a:r>
              <a:rPr lang="en" sz="2300" b="1">
                <a:solidFill>
                  <a:srgbClr val="001F3F"/>
                </a:solidFill>
                <a:latin typeface="Noto Sans Arabic"/>
                <a:ea typeface="Noto Sans Arabic"/>
                <a:cs typeface="Noto Sans Arabic"/>
                <a:sym typeface="Noto Sans Arabic"/>
              </a:rPr>
              <a:t>40000</a:t>
            </a:r>
            <a:endParaRPr sz="2300" b="0" i="0" u="none" strike="noStrike" cap="none">
              <a:solidFill>
                <a:schemeClr val="dk1"/>
              </a:solidFill>
              <a:latin typeface="Calibri"/>
              <a:ea typeface="Calibri"/>
              <a:cs typeface="Calibri"/>
              <a:sym typeface="Calibri"/>
            </a:endParaRPr>
          </a:p>
        </p:txBody>
      </p:sp>
      <p:sp>
        <p:nvSpPr>
          <p:cNvPr id="114" name="Google Shape;114;p27"/>
          <p:cNvSpPr/>
          <p:nvPr/>
        </p:nvSpPr>
        <p:spPr>
          <a:xfrm>
            <a:off x="493700" y="4078750"/>
            <a:ext cx="2615100" cy="485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900"/>
              <a:buFont typeface="Noto Sans Arabic"/>
              <a:buNone/>
            </a:pPr>
            <a:r>
              <a:rPr lang="en" sz="900" b="0" i="0" u="none" strike="noStrike" cap="none">
                <a:solidFill>
                  <a:srgbClr val="666666"/>
                </a:solidFill>
                <a:latin typeface="Noto Sans Arabic"/>
                <a:ea typeface="Noto Sans Arabic"/>
                <a:cs typeface="Noto Sans Arabic"/>
                <a:sym typeface="Noto Sans Arabic"/>
              </a:rPr>
              <a:t>Google Ads Budget · </a:t>
            </a:r>
            <a:r>
              <a:rPr lang="en" sz="900">
                <a:solidFill>
                  <a:srgbClr val="666666"/>
                </a:solidFill>
                <a:latin typeface="Noto Sans Arabic"/>
                <a:ea typeface="Noto Sans Arabic"/>
                <a:cs typeface="Noto Sans Arabic"/>
                <a:sym typeface="Noto Sans Arabic"/>
              </a:rPr>
              <a:t>80</a:t>
            </a:r>
            <a:r>
              <a:rPr lang="en" sz="900" b="0" i="0" u="none" strike="noStrike" cap="none">
                <a:solidFill>
                  <a:srgbClr val="666666"/>
                </a:solidFill>
                <a:latin typeface="Noto Sans Arabic"/>
                <a:ea typeface="Noto Sans Arabic"/>
                <a:cs typeface="Noto Sans Arabic"/>
                <a:sym typeface="Noto Sans Arabic"/>
              </a:rPr>
              <a:t>+ Projected B2B Leads</a:t>
            </a:r>
            <a:endParaRPr sz="900" b="0" i="0" u="none" strike="noStrike" cap="none">
              <a:solidFill>
                <a:schemeClr val="dk1"/>
              </a:solidFill>
              <a:latin typeface="Calibri"/>
              <a:ea typeface="Calibri"/>
              <a:cs typeface="Calibri"/>
              <a:sym typeface="Calibri"/>
            </a:endParaRPr>
          </a:p>
        </p:txBody>
      </p:sp>
      <p:sp>
        <p:nvSpPr>
          <p:cNvPr id="115" name="Google Shape;115;p27"/>
          <p:cNvSpPr/>
          <p:nvPr/>
        </p:nvSpPr>
        <p:spPr>
          <a:xfrm>
            <a:off x="2932844" y="4685630"/>
            <a:ext cx="1382985" cy="118207"/>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666666"/>
              </a:buClr>
              <a:buSzPts val="800"/>
              <a:buFont typeface="Noto Sans Arabic"/>
              <a:buNone/>
            </a:pPr>
            <a:r>
              <a:rPr lang="en" sz="800" b="0" i="0" u="none" strike="noStrike" cap="none">
                <a:solidFill>
                  <a:srgbClr val="666666"/>
                </a:solidFill>
                <a:latin typeface="Noto Sans Arabic"/>
                <a:ea typeface="Noto Sans Arabic"/>
                <a:cs typeface="Noto Sans Arabic"/>
                <a:sym typeface="Noto Sans Arabic"/>
              </a:rPr>
              <a:t>Etihad Pioneers · </a:t>
            </a:r>
            <a:r>
              <a:rPr lang="en" sz="800">
                <a:solidFill>
                  <a:srgbClr val="666666"/>
                </a:solidFill>
                <a:latin typeface="Noto Sans Arabic"/>
                <a:ea typeface="Noto Sans Arabic"/>
                <a:cs typeface="Noto Sans Arabic"/>
                <a:sym typeface="Noto Sans Arabic"/>
              </a:rPr>
              <a:t>Sept </a:t>
            </a:r>
            <a:r>
              <a:rPr lang="en" sz="800" b="0" i="0" u="none" strike="noStrike" cap="none">
                <a:solidFill>
                  <a:srgbClr val="666666"/>
                </a:solidFill>
                <a:latin typeface="Noto Sans Arabic"/>
                <a:ea typeface="Noto Sans Arabic"/>
                <a:cs typeface="Noto Sans Arabic"/>
                <a:sym typeface="Noto Sans Arabic"/>
              </a:rPr>
              <a:t>2026</a:t>
            </a:r>
            <a:endParaRPr sz="800" b="0" i="0" u="none" strike="noStrike" cap="none">
              <a:solidFill>
                <a:schemeClr val="dk1"/>
              </a:solidFill>
              <a:latin typeface="Calibri"/>
              <a:ea typeface="Calibri"/>
              <a:cs typeface="Calibri"/>
              <a:sym typeface="Calibri"/>
            </a:endParaRPr>
          </a:p>
        </p:txBody>
      </p:sp>
      <p:pic>
        <p:nvPicPr>
          <p:cNvPr id="116" name="Google Shape;116;p27" title="New Logo 2026-03.png"/>
          <p:cNvPicPr preferRelativeResize="0"/>
          <p:nvPr/>
        </p:nvPicPr>
        <p:blipFill rotWithShape="1">
          <a:blip r:embed="rId10">
            <a:alphaModFix/>
          </a:blip>
          <a:srcRect/>
          <a:stretch/>
        </p:blipFill>
        <p:spPr>
          <a:xfrm>
            <a:off x="321750" y="446997"/>
            <a:ext cx="2108611" cy="627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2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23" name="Google Shape;123;p28" descr="preencoded.png"/>
          <p:cNvPicPr preferRelativeResize="0"/>
          <p:nvPr/>
        </p:nvPicPr>
        <p:blipFill rotWithShape="1">
          <a:blip r:embed="rId4">
            <a:alphaModFix/>
          </a:blip>
          <a:srcRect/>
          <a:stretch/>
        </p:blipFill>
        <p:spPr>
          <a:xfrm>
            <a:off x="0" y="540022"/>
            <a:ext cx="443471" cy="2227064"/>
          </a:xfrm>
          <a:prstGeom prst="rect">
            <a:avLst/>
          </a:prstGeom>
          <a:noFill/>
          <a:ln>
            <a:noFill/>
          </a:ln>
        </p:spPr>
      </p:pic>
      <p:pic>
        <p:nvPicPr>
          <p:cNvPr id="124" name="Google Shape;124;p28" descr="preencoded.png"/>
          <p:cNvPicPr preferRelativeResize="0"/>
          <p:nvPr/>
        </p:nvPicPr>
        <p:blipFill rotWithShape="1">
          <a:blip r:embed="rId5">
            <a:alphaModFix/>
          </a:blip>
          <a:srcRect/>
          <a:stretch/>
        </p:blipFill>
        <p:spPr>
          <a:xfrm>
            <a:off x="758912" y="1038523"/>
            <a:ext cx="502853" cy="21431"/>
          </a:xfrm>
          <a:prstGeom prst="rect">
            <a:avLst/>
          </a:prstGeom>
          <a:noFill/>
          <a:ln>
            <a:noFill/>
          </a:ln>
        </p:spPr>
      </p:pic>
      <p:pic>
        <p:nvPicPr>
          <p:cNvPr id="125" name="Google Shape;125;p28" descr="preencoded.png"/>
          <p:cNvPicPr preferRelativeResize="0"/>
          <p:nvPr/>
        </p:nvPicPr>
        <p:blipFill rotWithShape="1">
          <a:blip r:embed="rId6">
            <a:alphaModFix/>
          </a:blip>
          <a:srcRect/>
          <a:stretch/>
        </p:blipFill>
        <p:spPr>
          <a:xfrm>
            <a:off x="749759" y="1645853"/>
            <a:ext cx="2432224" cy="1224149"/>
          </a:xfrm>
          <a:prstGeom prst="rect">
            <a:avLst/>
          </a:prstGeom>
          <a:noFill/>
          <a:ln>
            <a:noFill/>
          </a:ln>
        </p:spPr>
      </p:pic>
      <p:pic>
        <p:nvPicPr>
          <p:cNvPr id="126" name="Google Shape;126;p28" descr="preencoded.png"/>
          <p:cNvPicPr preferRelativeResize="0"/>
          <p:nvPr/>
        </p:nvPicPr>
        <p:blipFill rotWithShape="1">
          <a:blip r:embed="rId7">
            <a:alphaModFix/>
          </a:blip>
          <a:srcRect/>
          <a:stretch/>
        </p:blipFill>
        <p:spPr>
          <a:xfrm>
            <a:off x="3319165" y="1645853"/>
            <a:ext cx="2432224" cy="1234418"/>
          </a:xfrm>
          <a:prstGeom prst="rect">
            <a:avLst/>
          </a:prstGeom>
          <a:noFill/>
          <a:ln>
            <a:noFill/>
          </a:ln>
        </p:spPr>
      </p:pic>
      <p:pic>
        <p:nvPicPr>
          <p:cNvPr id="127" name="Google Shape;127;p28" descr="preencoded.png"/>
          <p:cNvPicPr preferRelativeResize="0"/>
          <p:nvPr/>
        </p:nvPicPr>
        <p:blipFill rotWithShape="1">
          <a:blip r:embed="rId8">
            <a:alphaModFix/>
          </a:blip>
          <a:srcRect/>
          <a:stretch/>
        </p:blipFill>
        <p:spPr>
          <a:xfrm>
            <a:off x="5888683" y="1707580"/>
            <a:ext cx="2432224" cy="1275494"/>
          </a:xfrm>
          <a:prstGeom prst="rect">
            <a:avLst/>
          </a:prstGeom>
          <a:noFill/>
          <a:ln>
            <a:noFill/>
          </a:ln>
        </p:spPr>
      </p:pic>
      <p:pic>
        <p:nvPicPr>
          <p:cNvPr id="128" name="Google Shape;128;p28" descr="preencoded.png"/>
          <p:cNvPicPr preferRelativeResize="0"/>
          <p:nvPr/>
        </p:nvPicPr>
        <p:blipFill rotWithShape="1">
          <a:blip r:embed="rId9">
            <a:alphaModFix/>
          </a:blip>
          <a:srcRect/>
          <a:stretch/>
        </p:blipFill>
        <p:spPr>
          <a:xfrm>
            <a:off x="749759" y="3111773"/>
            <a:ext cx="2432224" cy="1249822"/>
          </a:xfrm>
          <a:prstGeom prst="rect">
            <a:avLst/>
          </a:prstGeom>
          <a:noFill/>
          <a:ln>
            <a:noFill/>
          </a:ln>
        </p:spPr>
      </p:pic>
      <p:pic>
        <p:nvPicPr>
          <p:cNvPr id="129" name="Google Shape;129;p28" descr="preencoded.png"/>
          <p:cNvPicPr preferRelativeResize="0"/>
          <p:nvPr/>
        </p:nvPicPr>
        <p:blipFill rotWithShape="1">
          <a:blip r:embed="rId10">
            <a:alphaModFix/>
          </a:blip>
          <a:srcRect/>
          <a:stretch/>
        </p:blipFill>
        <p:spPr>
          <a:xfrm>
            <a:off x="3319165" y="3111773"/>
            <a:ext cx="2432224" cy="1280629"/>
          </a:xfrm>
          <a:prstGeom prst="rect">
            <a:avLst/>
          </a:prstGeom>
          <a:noFill/>
          <a:ln>
            <a:noFill/>
          </a:ln>
        </p:spPr>
      </p:pic>
      <p:pic>
        <p:nvPicPr>
          <p:cNvPr id="130" name="Google Shape;130;p28" descr="preencoded.png"/>
          <p:cNvPicPr preferRelativeResize="0"/>
          <p:nvPr/>
        </p:nvPicPr>
        <p:blipFill rotWithShape="1">
          <a:blip r:embed="rId11">
            <a:alphaModFix/>
          </a:blip>
          <a:srcRect/>
          <a:stretch/>
        </p:blipFill>
        <p:spPr>
          <a:xfrm>
            <a:off x="5888683" y="3111773"/>
            <a:ext cx="2432224" cy="1218902"/>
          </a:xfrm>
          <a:prstGeom prst="rect">
            <a:avLst/>
          </a:prstGeom>
          <a:noFill/>
          <a:ln>
            <a:noFill/>
          </a:ln>
        </p:spPr>
      </p:pic>
      <p:pic>
        <p:nvPicPr>
          <p:cNvPr id="131" name="Google Shape;131;p28" descr="preencoded.png"/>
          <p:cNvPicPr preferRelativeResize="0"/>
          <p:nvPr/>
        </p:nvPicPr>
        <p:blipFill rotWithShape="1">
          <a:blip r:embed="rId12">
            <a:alphaModFix/>
          </a:blip>
          <a:srcRect/>
          <a:stretch/>
        </p:blipFill>
        <p:spPr>
          <a:xfrm>
            <a:off x="530311" y="4718112"/>
            <a:ext cx="8083265" cy="7144"/>
          </a:xfrm>
          <a:prstGeom prst="rect">
            <a:avLst/>
          </a:prstGeom>
          <a:noFill/>
          <a:ln>
            <a:noFill/>
          </a:ln>
        </p:spPr>
      </p:pic>
      <p:pic>
        <p:nvPicPr>
          <p:cNvPr id="132" name="Google Shape;132;p28" descr="preencoded.png"/>
          <p:cNvPicPr preferRelativeResize="0"/>
          <p:nvPr/>
        </p:nvPicPr>
        <p:blipFill rotWithShape="1">
          <a:blip r:embed="rId13">
            <a:alphaModFix/>
          </a:blip>
          <a:srcRect/>
          <a:stretch/>
        </p:blipFill>
        <p:spPr>
          <a:xfrm>
            <a:off x="8247794" y="3831841"/>
            <a:ext cx="896094" cy="1311547"/>
          </a:xfrm>
          <a:prstGeom prst="rect">
            <a:avLst/>
          </a:prstGeom>
          <a:noFill/>
          <a:ln>
            <a:noFill/>
          </a:ln>
        </p:spPr>
      </p:pic>
      <p:pic>
        <p:nvPicPr>
          <p:cNvPr id="133" name="Google Shape;133;p28" descr="preencoded.png"/>
          <p:cNvPicPr preferRelativeResize="0"/>
          <p:nvPr/>
        </p:nvPicPr>
        <p:blipFill rotWithShape="1">
          <a:blip r:embed="rId14">
            <a:alphaModFix/>
          </a:blip>
          <a:srcRect/>
          <a:stretch/>
        </p:blipFill>
        <p:spPr>
          <a:xfrm>
            <a:off x="6053324" y="3296952"/>
            <a:ext cx="347365" cy="334305"/>
          </a:xfrm>
          <a:prstGeom prst="rect">
            <a:avLst/>
          </a:prstGeom>
          <a:noFill/>
          <a:ln>
            <a:noFill/>
          </a:ln>
        </p:spPr>
      </p:pic>
      <p:pic>
        <p:nvPicPr>
          <p:cNvPr id="134" name="Google Shape;134;p28" descr="preencoded.png"/>
          <p:cNvPicPr preferRelativeResize="0"/>
          <p:nvPr/>
        </p:nvPicPr>
        <p:blipFill rotWithShape="1">
          <a:blip r:embed="rId15">
            <a:alphaModFix/>
          </a:blip>
          <a:srcRect/>
          <a:stretch/>
        </p:blipFill>
        <p:spPr>
          <a:xfrm>
            <a:off x="3474653" y="3322625"/>
            <a:ext cx="356518" cy="308521"/>
          </a:xfrm>
          <a:prstGeom prst="rect">
            <a:avLst/>
          </a:prstGeom>
          <a:noFill/>
          <a:ln>
            <a:noFill/>
          </a:ln>
        </p:spPr>
      </p:pic>
      <p:pic>
        <p:nvPicPr>
          <p:cNvPr id="135" name="Google Shape;135;p28" descr="preencoded.png"/>
          <p:cNvPicPr preferRelativeResize="0"/>
          <p:nvPr/>
        </p:nvPicPr>
        <p:blipFill rotWithShape="1">
          <a:blip r:embed="rId16">
            <a:alphaModFix/>
          </a:blip>
          <a:srcRect/>
          <a:stretch/>
        </p:blipFill>
        <p:spPr>
          <a:xfrm>
            <a:off x="905247" y="3291818"/>
            <a:ext cx="365671" cy="339439"/>
          </a:xfrm>
          <a:prstGeom prst="rect">
            <a:avLst/>
          </a:prstGeom>
          <a:noFill/>
          <a:ln>
            <a:noFill/>
          </a:ln>
        </p:spPr>
      </p:pic>
      <p:pic>
        <p:nvPicPr>
          <p:cNvPr id="136" name="Google Shape;136;p28" descr="preencoded.png"/>
          <p:cNvPicPr preferRelativeResize="0"/>
          <p:nvPr/>
        </p:nvPicPr>
        <p:blipFill rotWithShape="1">
          <a:blip r:embed="rId17">
            <a:alphaModFix/>
          </a:blip>
          <a:srcRect/>
          <a:stretch/>
        </p:blipFill>
        <p:spPr>
          <a:xfrm>
            <a:off x="6035017" y="1841302"/>
            <a:ext cx="383977" cy="339440"/>
          </a:xfrm>
          <a:prstGeom prst="rect">
            <a:avLst/>
          </a:prstGeom>
          <a:noFill/>
          <a:ln>
            <a:noFill/>
          </a:ln>
        </p:spPr>
      </p:pic>
      <p:pic>
        <p:nvPicPr>
          <p:cNvPr id="137" name="Google Shape;137;p28" descr="preencoded.png"/>
          <p:cNvPicPr preferRelativeResize="0"/>
          <p:nvPr/>
        </p:nvPicPr>
        <p:blipFill rotWithShape="1">
          <a:blip r:embed="rId18">
            <a:alphaModFix/>
          </a:blip>
          <a:srcRect/>
          <a:stretch/>
        </p:blipFill>
        <p:spPr>
          <a:xfrm>
            <a:off x="3474653" y="1836167"/>
            <a:ext cx="365671" cy="344574"/>
          </a:xfrm>
          <a:prstGeom prst="rect">
            <a:avLst/>
          </a:prstGeom>
          <a:noFill/>
          <a:ln>
            <a:noFill/>
          </a:ln>
        </p:spPr>
      </p:pic>
      <p:pic>
        <p:nvPicPr>
          <p:cNvPr id="138" name="Google Shape;138;p28" descr="preencoded.png"/>
          <p:cNvPicPr preferRelativeResize="0"/>
          <p:nvPr/>
        </p:nvPicPr>
        <p:blipFill rotWithShape="1">
          <a:blip r:embed="rId19">
            <a:alphaModFix/>
          </a:blip>
          <a:srcRect/>
          <a:stretch/>
        </p:blipFill>
        <p:spPr>
          <a:xfrm>
            <a:off x="905247" y="1836167"/>
            <a:ext cx="365671" cy="349709"/>
          </a:xfrm>
          <a:prstGeom prst="rect">
            <a:avLst/>
          </a:prstGeom>
          <a:noFill/>
          <a:ln>
            <a:noFill/>
          </a:ln>
        </p:spPr>
      </p:pic>
      <p:sp>
        <p:nvSpPr>
          <p:cNvPr id="139" name="Google Shape;139;p28"/>
          <p:cNvSpPr/>
          <p:nvPr/>
        </p:nvSpPr>
        <p:spPr>
          <a:xfrm>
            <a:off x="731453" y="282848"/>
            <a:ext cx="1370886" cy="14912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D7D5F"/>
              </a:buClr>
              <a:buSzPts val="1100"/>
              <a:buFont typeface="Noto Sans Arabic"/>
              <a:buNone/>
            </a:pPr>
            <a:r>
              <a:rPr lang="en" sz="1100" b="1" i="0" u="none" strike="noStrike" cap="none">
                <a:solidFill>
                  <a:srgbClr val="2D7D5F"/>
                </a:solidFill>
                <a:latin typeface="Noto Sans Arabic"/>
                <a:ea typeface="Noto Sans Arabic"/>
                <a:cs typeface="Noto Sans Arabic"/>
                <a:sym typeface="Noto Sans Arabic"/>
              </a:rPr>
              <a:t>OVERVIEW</a:t>
            </a:r>
            <a:endParaRPr sz="1100" b="0" i="0" u="none" strike="noStrike" cap="none">
              <a:solidFill>
                <a:schemeClr val="dk1"/>
              </a:solidFill>
              <a:latin typeface="Calibri"/>
              <a:ea typeface="Calibri"/>
              <a:cs typeface="Calibri"/>
              <a:sym typeface="Calibri"/>
            </a:endParaRPr>
          </a:p>
        </p:txBody>
      </p:sp>
      <p:sp>
        <p:nvSpPr>
          <p:cNvPr id="140" name="Google Shape;140;p28"/>
          <p:cNvSpPr/>
          <p:nvPr/>
        </p:nvSpPr>
        <p:spPr>
          <a:xfrm>
            <a:off x="731453" y="581211"/>
            <a:ext cx="6868001" cy="38576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15E"/>
              </a:buClr>
              <a:buSzPts val="2600"/>
              <a:buFont typeface="Noto Sans Arabic"/>
              <a:buNone/>
            </a:pPr>
            <a:r>
              <a:rPr lang="en" sz="2000" b="1">
                <a:solidFill>
                  <a:srgbClr val="1A315E"/>
                </a:solidFill>
                <a:latin typeface="Noto Sans Arabic"/>
                <a:ea typeface="Noto Sans Arabic"/>
                <a:cs typeface="Noto Sans Arabic"/>
                <a:sym typeface="Noto Sans Arabic"/>
              </a:rPr>
              <a:t>Top B2B Training Providers in KSA &amp; Strategic Roadmap for Etihad Pioneers </a:t>
            </a:r>
            <a:endParaRPr sz="2000" b="0" i="0" u="none" strike="noStrike" cap="none">
              <a:solidFill>
                <a:schemeClr val="dk1"/>
              </a:solidFill>
              <a:latin typeface="Calibri"/>
              <a:ea typeface="Calibri"/>
              <a:cs typeface="Calibri"/>
              <a:sym typeface="Calibri"/>
            </a:endParaRPr>
          </a:p>
        </p:txBody>
      </p:sp>
      <p:sp>
        <p:nvSpPr>
          <p:cNvPr id="141" name="Google Shape;141;p28"/>
          <p:cNvSpPr/>
          <p:nvPr/>
        </p:nvSpPr>
        <p:spPr>
          <a:xfrm>
            <a:off x="722300" y="1213768"/>
            <a:ext cx="8421700"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1000"/>
              <a:buFont typeface="Open Sans"/>
              <a:buNone/>
            </a:pPr>
            <a:r>
              <a:rPr lang="en" sz="1000">
                <a:solidFill>
                  <a:srgbClr val="666666"/>
                </a:solidFill>
                <a:latin typeface="Open Sans"/>
                <a:ea typeface="Open Sans"/>
                <a:cs typeface="Open Sans"/>
                <a:sym typeface="Open Sans"/>
              </a:rPr>
              <a:t>Analysis covers Defensive Driving, IPAF (Powered Access), PASMA (Mobile Towers), Food Safety, and Hospitality B2B training in Saudi Arabia. </a:t>
            </a:r>
            <a:endParaRPr sz="1000" b="0" i="0" u="none" strike="noStrike" cap="none">
              <a:solidFill>
                <a:schemeClr val="dk1"/>
              </a:solidFill>
              <a:latin typeface="Calibri"/>
              <a:ea typeface="Calibri"/>
              <a:cs typeface="Calibri"/>
              <a:sym typeface="Calibri"/>
            </a:endParaRPr>
          </a:p>
        </p:txBody>
      </p:sp>
      <p:sp>
        <p:nvSpPr>
          <p:cNvPr id="142" name="Google Shape;142;p28"/>
          <p:cNvSpPr/>
          <p:nvPr/>
        </p:nvSpPr>
        <p:spPr>
          <a:xfrm>
            <a:off x="1371600" y="1897894"/>
            <a:ext cx="757238"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15E"/>
              </a:buClr>
              <a:buSzPts val="1100"/>
              <a:buFont typeface="Noto Sans Arabic"/>
              <a:buNone/>
            </a:pPr>
            <a:r>
              <a:rPr lang="en" sz="1100" b="1" i="0" u="none" strike="noStrike" cap="none">
                <a:solidFill>
                  <a:srgbClr val="1A315E"/>
                </a:solidFill>
                <a:latin typeface="Noto Sans Arabic"/>
                <a:ea typeface="Noto Sans Arabic"/>
                <a:cs typeface="Noto Sans Arabic"/>
                <a:sym typeface="Noto Sans Arabic"/>
              </a:rPr>
              <a:t>Goal</a:t>
            </a:r>
            <a:endParaRPr sz="1100" b="0" i="0" u="none" strike="noStrike" cap="none">
              <a:solidFill>
                <a:schemeClr val="dk1"/>
              </a:solidFill>
              <a:latin typeface="Calibri"/>
              <a:ea typeface="Calibri"/>
              <a:cs typeface="Calibri"/>
              <a:sym typeface="Calibri"/>
            </a:endParaRPr>
          </a:p>
        </p:txBody>
      </p:sp>
      <p:sp>
        <p:nvSpPr>
          <p:cNvPr id="143" name="Google Shape;143;p28"/>
          <p:cNvSpPr/>
          <p:nvPr/>
        </p:nvSpPr>
        <p:spPr>
          <a:xfrm>
            <a:off x="1362447" y="2206525"/>
            <a:ext cx="1526977" cy="473162"/>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Generate high-intent B2B</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corporate training leads across</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Saudi Arabia</a:t>
            </a:r>
            <a:endParaRPr sz="800" b="0" i="0" u="none" strike="noStrike" cap="none">
              <a:solidFill>
                <a:schemeClr val="dk1"/>
              </a:solidFill>
              <a:latin typeface="Calibri"/>
              <a:ea typeface="Calibri"/>
              <a:cs typeface="Calibri"/>
              <a:sym typeface="Calibri"/>
            </a:endParaRPr>
          </a:p>
        </p:txBody>
      </p:sp>
      <p:sp>
        <p:nvSpPr>
          <p:cNvPr id="144" name="Google Shape;144;p28"/>
          <p:cNvSpPr/>
          <p:nvPr/>
        </p:nvSpPr>
        <p:spPr>
          <a:xfrm>
            <a:off x="3931853" y="1897894"/>
            <a:ext cx="1271588"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15E"/>
              </a:buClr>
              <a:buSzPts val="1100"/>
              <a:buFont typeface="Noto Sans Arabic"/>
              <a:buNone/>
            </a:pPr>
            <a:r>
              <a:rPr lang="en" sz="1100" b="1" i="0" u="none" strike="noStrike" cap="none">
                <a:solidFill>
                  <a:srgbClr val="1A315E"/>
                </a:solidFill>
                <a:latin typeface="Noto Sans Arabic"/>
                <a:ea typeface="Noto Sans Arabic"/>
                <a:cs typeface="Noto Sans Arabic"/>
                <a:sym typeface="Noto Sans Arabic"/>
              </a:rPr>
              <a:t>Problem</a:t>
            </a:r>
            <a:endParaRPr sz="1100" b="0" i="0" u="none" strike="noStrike" cap="none">
              <a:solidFill>
                <a:schemeClr val="dk1"/>
              </a:solidFill>
              <a:latin typeface="Calibri"/>
              <a:ea typeface="Calibri"/>
              <a:cs typeface="Calibri"/>
              <a:sym typeface="Calibri"/>
            </a:endParaRPr>
          </a:p>
        </p:txBody>
      </p:sp>
      <p:sp>
        <p:nvSpPr>
          <p:cNvPr id="145" name="Google Shape;145;p28"/>
          <p:cNvSpPr/>
          <p:nvPr/>
        </p:nvSpPr>
        <p:spPr>
          <a:xfrm>
            <a:off x="3931853" y="2206526"/>
            <a:ext cx="1472171" cy="483431"/>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Budget leakage toward B2C</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individuals, job seekers, spam,</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and irrelevant inquiries</a:t>
            </a:r>
            <a:endParaRPr sz="800" b="0" i="0" u="none" strike="noStrike" cap="none">
              <a:solidFill>
                <a:schemeClr val="dk1"/>
              </a:solidFill>
              <a:latin typeface="Calibri"/>
              <a:ea typeface="Calibri"/>
              <a:cs typeface="Calibri"/>
              <a:sym typeface="Calibri"/>
            </a:endParaRPr>
          </a:p>
        </p:txBody>
      </p:sp>
      <p:sp>
        <p:nvSpPr>
          <p:cNvPr id="146" name="Google Shape;146;p28"/>
          <p:cNvSpPr/>
          <p:nvPr/>
        </p:nvSpPr>
        <p:spPr>
          <a:xfrm>
            <a:off x="6519565" y="1903028"/>
            <a:ext cx="1443037" cy="1799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15E"/>
              </a:buClr>
              <a:buSzPts val="1100"/>
              <a:buFont typeface="Noto Sans Arabic"/>
              <a:buNone/>
            </a:pPr>
            <a:r>
              <a:rPr lang="en" sz="1100" b="1" i="0" u="none" strike="noStrike" cap="none">
                <a:solidFill>
                  <a:srgbClr val="1A315E"/>
                </a:solidFill>
                <a:latin typeface="Noto Sans Arabic"/>
                <a:ea typeface="Noto Sans Arabic"/>
                <a:cs typeface="Noto Sans Arabic"/>
                <a:sym typeface="Noto Sans Arabic"/>
              </a:rPr>
              <a:t>Strategy</a:t>
            </a:r>
            <a:endParaRPr sz="1100" b="0" i="0" u="none" strike="noStrike" cap="none">
              <a:solidFill>
                <a:schemeClr val="dk1"/>
              </a:solidFill>
              <a:latin typeface="Calibri"/>
              <a:ea typeface="Calibri"/>
              <a:cs typeface="Calibri"/>
              <a:sym typeface="Calibri"/>
            </a:endParaRPr>
          </a:p>
        </p:txBody>
      </p:sp>
      <p:sp>
        <p:nvSpPr>
          <p:cNvPr id="147" name="Google Shape;147;p28"/>
          <p:cNvSpPr/>
          <p:nvPr/>
        </p:nvSpPr>
        <p:spPr>
          <a:xfrm>
            <a:off x="6510524" y="2206526"/>
            <a:ext cx="1554435" cy="642938"/>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Dual-layer model — Search Ads</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for active intent capture +</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Performance Max for B2B reach</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expansion</a:t>
            </a:r>
            <a:endParaRPr sz="800" b="0" i="0" u="none" strike="noStrike" cap="none">
              <a:solidFill>
                <a:schemeClr val="dk1"/>
              </a:solidFill>
              <a:latin typeface="Calibri"/>
              <a:ea typeface="Calibri"/>
              <a:cs typeface="Calibri"/>
              <a:sym typeface="Calibri"/>
            </a:endParaRPr>
          </a:p>
        </p:txBody>
      </p:sp>
      <p:sp>
        <p:nvSpPr>
          <p:cNvPr id="148" name="Google Shape;148;p28"/>
          <p:cNvSpPr/>
          <p:nvPr/>
        </p:nvSpPr>
        <p:spPr>
          <a:xfrm>
            <a:off x="1371600" y="3363813"/>
            <a:ext cx="1785937" cy="1542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15E"/>
              </a:buClr>
              <a:buSzPts val="1100"/>
              <a:buFont typeface="Noto Sans Arabic"/>
              <a:buNone/>
            </a:pPr>
            <a:r>
              <a:rPr lang="en" sz="1100" b="1" i="0" u="none" strike="noStrike" cap="none">
                <a:solidFill>
                  <a:srgbClr val="1A315E"/>
                </a:solidFill>
                <a:latin typeface="Noto Sans Arabic"/>
                <a:ea typeface="Noto Sans Arabic"/>
                <a:cs typeface="Noto Sans Arabic"/>
                <a:sym typeface="Noto Sans Arabic"/>
              </a:rPr>
              <a:t>Investment</a:t>
            </a:r>
            <a:endParaRPr sz="1100" b="0" i="0" u="none" strike="noStrike" cap="none">
              <a:solidFill>
                <a:schemeClr val="dk1"/>
              </a:solidFill>
              <a:latin typeface="Calibri"/>
              <a:ea typeface="Calibri"/>
              <a:cs typeface="Calibri"/>
              <a:sym typeface="Calibri"/>
            </a:endParaRPr>
          </a:p>
        </p:txBody>
      </p:sp>
      <p:sp>
        <p:nvSpPr>
          <p:cNvPr id="149" name="Google Shape;149;p28"/>
          <p:cNvSpPr/>
          <p:nvPr/>
        </p:nvSpPr>
        <p:spPr>
          <a:xfrm>
            <a:off x="1371600" y="3656930"/>
            <a:ext cx="3889772" cy="27257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D7D5F"/>
              </a:buClr>
              <a:buSzPts val="1900"/>
              <a:buFont typeface="Noto Sans Arabic"/>
              <a:buNone/>
            </a:pPr>
            <a:r>
              <a:rPr lang="en" sz="1900" b="1" i="0" u="none" strike="noStrike" cap="none">
                <a:solidFill>
                  <a:srgbClr val="2D7D5F"/>
                </a:solidFill>
                <a:latin typeface="Noto Sans Arabic"/>
                <a:ea typeface="Noto Sans Arabic"/>
                <a:cs typeface="Noto Sans Arabic"/>
                <a:sym typeface="Noto Sans Arabic"/>
              </a:rPr>
              <a:t>SAR </a:t>
            </a:r>
            <a:r>
              <a:rPr lang="en" sz="1900" b="1">
                <a:solidFill>
                  <a:srgbClr val="2D7D5F"/>
                </a:solidFill>
                <a:latin typeface="Noto Sans Arabic"/>
                <a:ea typeface="Noto Sans Arabic"/>
                <a:cs typeface="Noto Sans Arabic"/>
                <a:sym typeface="Noto Sans Arabic"/>
              </a:rPr>
              <a:t>40000</a:t>
            </a:r>
            <a:endParaRPr sz="1900" b="0" i="0" u="none" strike="noStrike" cap="none">
              <a:solidFill>
                <a:schemeClr val="dk1"/>
              </a:solidFill>
              <a:latin typeface="Calibri"/>
              <a:ea typeface="Calibri"/>
              <a:cs typeface="Calibri"/>
              <a:sym typeface="Calibri"/>
            </a:endParaRPr>
          </a:p>
        </p:txBody>
      </p:sp>
      <p:sp>
        <p:nvSpPr>
          <p:cNvPr id="150" name="Google Shape;150;p28"/>
          <p:cNvSpPr/>
          <p:nvPr/>
        </p:nvSpPr>
        <p:spPr>
          <a:xfrm>
            <a:off x="1371600" y="4037558"/>
            <a:ext cx="3760470" cy="14399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900"/>
              <a:buFont typeface="Open Sans"/>
              <a:buNone/>
            </a:pPr>
            <a:r>
              <a:rPr lang="en" sz="900" b="0" i="0" u="none" strike="noStrike" cap="none">
                <a:solidFill>
                  <a:srgbClr val="666666"/>
                </a:solidFill>
                <a:latin typeface="Open Sans"/>
                <a:ea typeface="Open Sans"/>
                <a:cs typeface="Open Sans"/>
                <a:sym typeface="Open Sans"/>
              </a:rPr>
              <a:t>Dedicated Google Ads budget</a:t>
            </a:r>
            <a:endParaRPr sz="900" b="0" i="0" u="none" strike="noStrike" cap="none">
              <a:solidFill>
                <a:schemeClr val="dk1"/>
              </a:solidFill>
              <a:latin typeface="Calibri"/>
              <a:ea typeface="Calibri"/>
              <a:cs typeface="Calibri"/>
              <a:sym typeface="Calibri"/>
            </a:endParaRPr>
          </a:p>
        </p:txBody>
      </p:sp>
      <p:sp>
        <p:nvSpPr>
          <p:cNvPr id="151" name="Google Shape;151;p28"/>
          <p:cNvSpPr/>
          <p:nvPr/>
        </p:nvSpPr>
        <p:spPr>
          <a:xfrm>
            <a:off x="3931853" y="3358679"/>
            <a:ext cx="2643188" cy="1799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15E"/>
              </a:buClr>
              <a:buSzPts val="1100"/>
              <a:buFont typeface="Noto Sans Arabic"/>
              <a:buNone/>
            </a:pPr>
            <a:r>
              <a:rPr lang="en" sz="1100" b="1" i="0" u="none" strike="noStrike" cap="none">
                <a:solidFill>
                  <a:srgbClr val="1A315E"/>
                </a:solidFill>
                <a:latin typeface="Noto Sans Arabic"/>
                <a:ea typeface="Noto Sans Arabic"/>
                <a:cs typeface="Noto Sans Arabic"/>
                <a:sym typeface="Noto Sans Arabic"/>
              </a:rPr>
              <a:t>Expected Output</a:t>
            </a:r>
            <a:endParaRPr sz="1100" b="0" i="0" u="none" strike="noStrike" cap="none">
              <a:solidFill>
                <a:schemeClr val="dk1"/>
              </a:solidFill>
              <a:latin typeface="Calibri"/>
              <a:ea typeface="Calibri"/>
              <a:cs typeface="Calibri"/>
              <a:sym typeface="Calibri"/>
            </a:endParaRPr>
          </a:p>
        </p:txBody>
      </p:sp>
      <p:sp>
        <p:nvSpPr>
          <p:cNvPr id="152" name="Google Shape;152;p28"/>
          <p:cNvSpPr/>
          <p:nvPr/>
        </p:nvSpPr>
        <p:spPr>
          <a:xfrm>
            <a:off x="3941007" y="3662065"/>
            <a:ext cx="1463018" cy="24679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D7D5F"/>
              </a:buClr>
              <a:buSzPts val="1900"/>
              <a:buFont typeface="Noto Sans Arabic"/>
              <a:buNone/>
            </a:pPr>
            <a:r>
              <a:rPr lang="en" sz="1900" b="1">
                <a:solidFill>
                  <a:srgbClr val="2D7D5F"/>
                </a:solidFill>
                <a:latin typeface="Noto Sans Arabic"/>
                <a:ea typeface="Noto Sans Arabic"/>
                <a:cs typeface="Noto Sans Arabic"/>
                <a:sym typeface="Noto Sans Arabic"/>
              </a:rPr>
              <a:t>150</a:t>
            </a:r>
            <a:r>
              <a:rPr lang="en" sz="1900" b="1" i="0" u="none" strike="noStrike" cap="none">
                <a:solidFill>
                  <a:srgbClr val="2D7D5F"/>
                </a:solidFill>
                <a:latin typeface="Noto Sans Arabic"/>
                <a:ea typeface="Noto Sans Arabic"/>
                <a:cs typeface="Noto Sans Arabic"/>
                <a:sym typeface="Noto Sans Arabic"/>
              </a:rPr>
              <a:t>+ Leads</a:t>
            </a:r>
            <a:endParaRPr sz="1900" b="0" i="0" u="none" strike="noStrike" cap="none">
              <a:solidFill>
                <a:schemeClr val="dk1"/>
              </a:solidFill>
              <a:latin typeface="Calibri"/>
              <a:ea typeface="Calibri"/>
              <a:cs typeface="Calibri"/>
              <a:sym typeface="Calibri"/>
            </a:endParaRPr>
          </a:p>
        </p:txBody>
      </p:sp>
      <p:sp>
        <p:nvSpPr>
          <p:cNvPr id="153" name="Google Shape;153;p28"/>
          <p:cNvSpPr/>
          <p:nvPr/>
        </p:nvSpPr>
        <p:spPr>
          <a:xfrm>
            <a:off x="3941006" y="4037558"/>
            <a:ext cx="4674870" cy="14399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900"/>
              <a:buFont typeface="Open Sans"/>
              <a:buNone/>
            </a:pPr>
            <a:r>
              <a:rPr lang="en" sz="900" b="0" i="0" u="none" strike="noStrike" cap="none">
                <a:solidFill>
                  <a:srgbClr val="666666"/>
                </a:solidFill>
                <a:latin typeface="Open Sans"/>
                <a:ea typeface="Open Sans"/>
                <a:cs typeface="Open Sans"/>
                <a:sym typeface="Open Sans"/>
              </a:rPr>
              <a:t>Projected qualified B2B inquiries</a:t>
            </a:r>
            <a:endParaRPr sz="900" b="0" i="0" u="none" strike="noStrike" cap="none">
              <a:solidFill>
                <a:schemeClr val="dk1"/>
              </a:solidFill>
              <a:latin typeface="Calibri"/>
              <a:ea typeface="Calibri"/>
              <a:cs typeface="Calibri"/>
              <a:sym typeface="Calibri"/>
            </a:endParaRPr>
          </a:p>
        </p:txBody>
      </p:sp>
      <p:sp>
        <p:nvSpPr>
          <p:cNvPr id="154" name="Google Shape;154;p28"/>
          <p:cNvSpPr/>
          <p:nvPr/>
        </p:nvSpPr>
        <p:spPr>
          <a:xfrm>
            <a:off x="6519565" y="3363813"/>
            <a:ext cx="2624435" cy="1542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315E"/>
              </a:buClr>
              <a:buSzPts val="1100"/>
              <a:buFont typeface="Noto Sans Arabic"/>
              <a:buNone/>
            </a:pPr>
            <a:r>
              <a:rPr lang="en" sz="1100" b="1" i="0" u="none" strike="noStrike" cap="none">
                <a:solidFill>
                  <a:srgbClr val="1A315E"/>
                </a:solidFill>
                <a:latin typeface="Noto Sans Arabic"/>
                <a:ea typeface="Noto Sans Arabic"/>
                <a:cs typeface="Noto Sans Arabic"/>
                <a:sym typeface="Noto Sans Arabic"/>
              </a:rPr>
              <a:t>Commercial Focus</a:t>
            </a:r>
            <a:endParaRPr sz="1100" b="0" i="0" u="none" strike="noStrike" cap="none">
              <a:solidFill>
                <a:schemeClr val="dk1"/>
              </a:solidFill>
              <a:latin typeface="Calibri"/>
              <a:ea typeface="Calibri"/>
              <a:cs typeface="Calibri"/>
              <a:sym typeface="Calibri"/>
            </a:endParaRPr>
          </a:p>
        </p:txBody>
      </p:sp>
      <p:sp>
        <p:nvSpPr>
          <p:cNvPr id="155" name="Google Shape;155;p28"/>
          <p:cNvSpPr/>
          <p:nvPr/>
        </p:nvSpPr>
        <p:spPr>
          <a:xfrm>
            <a:off x="6510523" y="3672446"/>
            <a:ext cx="1508671" cy="473161"/>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Bulk quote requests, corporate</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group training packages, and</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666666"/>
              </a:buClr>
              <a:buSzPts val="800"/>
              <a:buFont typeface="Open Sans"/>
              <a:buNone/>
            </a:pPr>
            <a:r>
              <a:rPr lang="en" sz="800" b="0" i="0" u="none" strike="noStrike" cap="none">
                <a:solidFill>
                  <a:srgbClr val="666666"/>
                </a:solidFill>
                <a:latin typeface="Open Sans"/>
                <a:ea typeface="Open Sans"/>
                <a:cs typeface="Open Sans"/>
                <a:sym typeface="Open Sans"/>
              </a:rPr>
              <a:t>enterprise decision-makers</a:t>
            </a:r>
            <a:endParaRPr sz="800" b="0" i="0" u="none" strike="noStrike" cap="none">
              <a:solidFill>
                <a:schemeClr val="dk1"/>
              </a:solidFill>
              <a:latin typeface="Calibri"/>
              <a:ea typeface="Calibri"/>
              <a:cs typeface="Calibri"/>
              <a:sym typeface="Calibri"/>
            </a:endParaRPr>
          </a:p>
        </p:txBody>
      </p:sp>
      <p:sp>
        <p:nvSpPr>
          <p:cNvPr id="156" name="Google Shape;156;p28"/>
          <p:cNvSpPr/>
          <p:nvPr/>
        </p:nvSpPr>
        <p:spPr>
          <a:xfrm>
            <a:off x="448047" y="4855406"/>
            <a:ext cx="558641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800"/>
              <a:buFont typeface="Noto Sans Arabic"/>
              <a:buNone/>
            </a:pPr>
            <a:r>
              <a:rPr lang="en" sz="800" b="0" i="0" u="none" strike="noStrike" cap="none">
                <a:solidFill>
                  <a:srgbClr val="999999"/>
                </a:solidFill>
                <a:latin typeface="Noto Sans Arabic"/>
                <a:ea typeface="Noto Sans Arabic"/>
                <a:cs typeface="Noto Sans Arabic"/>
                <a:sym typeface="Noto Sans Arabic"/>
              </a:rPr>
              <a:t>Etihad Pioneers</a:t>
            </a:r>
            <a:endParaRPr sz="800" b="0" i="0" u="none" strike="noStrike" cap="none">
              <a:solidFill>
                <a:schemeClr val="dk1"/>
              </a:solidFill>
              <a:latin typeface="Calibri"/>
              <a:ea typeface="Calibri"/>
              <a:cs typeface="Calibri"/>
              <a:sym typeface="Calibri"/>
            </a:endParaRPr>
          </a:p>
        </p:txBody>
      </p:sp>
      <p:sp>
        <p:nvSpPr>
          <p:cNvPr id="157" name="Google Shape;157;p28"/>
          <p:cNvSpPr/>
          <p:nvPr/>
        </p:nvSpPr>
        <p:spPr>
          <a:xfrm>
            <a:off x="6812235" y="4860541"/>
            <a:ext cx="2331765" cy="14912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900"/>
              <a:buFont typeface="Open Sans"/>
              <a:buNone/>
            </a:pPr>
            <a:r>
              <a:rPr lang="en" sz="900" b="0" i="0" u="none" strike="noStrike" cap="none">
                <a:solidFill>
                  <a:srgbClr val="999999"/>
                </a:solidFill>
                <a:latin typeface="Open Sans"/>
                <a:ea typeface="Open Sans"/>
                <a:cs typeface="Open Sans"/>
                <a:sym typeface="Open Sans"/>
              </a:rPr>
              <a:t>Google Ads Growth Proposal</a:t>
            </a:r>
            <a:endParaRPr sz="900" b="0" i="0" u="none" strike="noStrike" cap="none">
              <a:solidFill>
                <a:schemeClr val="dk1"/>
              </a:solidFill>
              <a:latin typeface="Calibri"/>
              <a:ea typeface="Calibri"/>
              <a:cs typeface="Calibri"/>
              <a:sym typeface="Calibri"/>
            </a:endParaRPr>
          </a:p>
        </p:txBody>
      </p:sp>
      <p:sp>
        <p:nvSpPr>
          <p:cNvPr id="158" name="Google Shape;158;p28"/>
          <p:cNvSpPr/>
          <p:nvPr/>
        </p:nvSpPr>
        <p:spPr>
          <a:xfrm>
            <a:off x="8339324" y="4870810"/>
            <a:ext cx="804676" cy="1130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900"/>
              <a:buFont typeface="Open Sans"/>
              <a:buNone/>
            </a:pPr>
            <a:r>
              <a:rPr lang="en" sz="900" b="0" i="0" u="none" strike="noStrike" cap="none">
                <a:solidFill>
                  <a:srgbClr val="999999"/>
                </a:solidFill>
                <a:latin typeface="Open Sans"/>
                <a:ea typeface="Open Sans"/>
                <a:cs typeface="Open Sans"/>
                <a:sym typeface="Open Sans"/>
              </a:rPr>
              <a:t>2026</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9" descr="preencoded.png"/>
          <p:cNvPicPr preferRelativeResize="0"/>
          <p:nvPr/>
        </p:nvPicPr>
        <p:blipFill rotWithShape="1">
          <a:blip r:embed="rId3">
            <a:alphaModFix/>
          </a:blip>
          <a:srcRect/>
          <a:stretch/>
        </p:blipFill>
        <p:spPr>
          <a:xfrm>
            <a:off x="383977" y="158502"/>
            <a:ext cx="383977" cy="42863"/>
          </a:xfrm>
          <a:prstGeom prst="rect">
            <a:avLst/>
          </a:prstGeom>
          <a:noFill/>
          <a:ln>
            <a:noFill/>
          </a:ln>
        </p:spPr>
      </p:pic>
      <p:pic>
        <p:nvPicPr>
          <p:cNvPr id="165" name="Google Shape;165;p29" descr="preencoded.png"/>
          <p:cNvPicPr preferRelativeResize="0"/>
          <p:nvPr/>
        </p:nvPicPr>
        <p:blipFill rotWithShape="1">
          <a:blip r:embed="rId4">
            <a:alphaModFix/>
          </a:blip>
          <a:srcRect/>
          <a:stretch/>
        </p:blipFill>
        <p:spPr>
          <a:xfrm>
            <a:off x="4522664" y="1080046"/>
            <a:ext cx="7144" cy="3188903"/>
          </a:xfrm>
          <a:prstGeom prst="rect">
            <a:avLst/>
          </a:prstGeom>
          <a:noFill/>
          <a:ln>
            <a:noFill/>
          </a:ln>
        </p:spPr>
      </p:pic>
      <p:pic>
        <p:nvPicPr>
          <p:cNvPr id="166" name="Google Shape;166;p29" descr="preencoded.png"/>
          <p:cNvPicPr preferRelativeResize="0"/>
          <p:nvPr/>
        </p:nvPicPr>
        <p:blipFill rotWithShape="1">
          <a:blip r:embed="rId5">
            <a:alphaModFix/>
          </a:blip>
          <a:srcRect/>
          <a:stretch/>
        </p:blipFill>
        <p:spPr>
          <a:xfrm>
            <a:off x="4610507" y="2628674"/>
            <a:ext cx="40411" cy="40412"/>
          </a:xfrm>
          <a:prstGeom prst="rect">
            <a:avLst/>
          </a:prstGeom>
          <a:noFill/>
          <a:ln>
            <a:noFill/>
          </a:ln>
        </p:spPr>
      </p:pic>
      <p:pic>
        <p:nvPicPr>
          <p:cNvPr id="167" name="Google Shape;167;p29" descr="preencoded.png"/>
          <p:cNvPicPr preferRelativeResize="0"/>
          <p:nvPr/>
        </p:nvPicPr>
        <p:blipFill rotWithShape="1">
          <a:blip r:embed="rId6">
            <a:alphaModFix/>
          </a:blip>
          <a:srcRect/>
          <a:stretch/>
        </p:blipFill>
        <p:spPr>
          <a:xfrm>
            <a:off x="329171" y="4505139"/>
            <a:ext cx="8357518" cy="474167"/>
          </a:xfrm>
          <a:prstGeom prst="rect">
            <a:avLst/>
          </a:prstGeom>
          <a:noFill/>
          <a:ln>
            <a:noFill/>
          </a:ln>
        </p:spPr>
      </p:pic>
      <p:pic>
        <p:nvPicPr>
          <p:cNvPr id="168" name="Google Shape;168;p29" descr="preencoded.png"/>
          <p:cNvPicPr preferRelativeResize="0"/>
          <p:nvPr/>
        </p:nvPicPr>
        <p:blipFill rotWithShape="1">
          <a:blip r:embed="rId7">
            <a:alphaModFix/>
          </a:blip>
          <a:srcRect/>
          <a:stretch/>
        </p:blipFill>
        <p:spPr>
          <a:xfrm>
            <a:off x="0" y="4346191"/>
            <a:ext cx="502853" cy="797197"/>
          </a:xfrm>
          <a:prstGeom prst="rect">
            <a:avLst/>
          </a:prstGeom>
          <a:noFill/>
          <a:ln>
            <a:noFill/>
          </a:ln>
        </p:spPr>
      </p:pic>
      <p:pic>
        <p:nvPicPr>
          <p:cNvPr id="169" name="Google Shape;169;p29" descr="preencoded.png"/>
          <p:cNvPicPr preferRelativeResize="0"/>
          <p:nvPr/>
        </p:nvPicPr>
        <p:blipFill rotWithShape="1">
          <a:blip r:embed="rId8">
            <a:alphaModFix/>
          </a:blip>
          <a:srcRect/>
          <a:stretch/>
        </p:blipFill>
        <p:spPr>
          <a:xfrm>
            <a:off x="8549617" y="4346191"/>
            <a:ext cx="594271" cy="797197"/>
          </a:xfrm>
          <a:prstGeom prst="rect">
            <a:avLst/>
          </a:prstGeom>
          <a:noFill/>
          <a:ln>
            <a:noFill/>
          </a:ln>
        </p:spPr>
      </p:pic>
      <p:sp>
        <p:nvSpPr>
          <p:cNvPr id="170" name="Google Shape;170;p29"/>
          <p:cNvSpPr/>
          <p:nvPr/>
        </p:nvSpPr>
        <p:spPr>
          <a:xfrm>
            <a:off x="338324" y="293117"/>
            <a:ext cx="8805677" cy="3394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2400"/>
              <a:buFont typeface="Noto Sans Arabic"/>
              <a:buNone/>
            </a:pPr>
            <a:r>
              <a:rPr lang="en" sz="2400" b="1">
                <a:solidFill>
                  <a:srgbClr val="001B3D"/>
                </a:solidFill>
                <a:latin typeface="Noto Sans Arabic"/>
                <a:ea typeface="Noto Sans Arabic"/>
                <a:cs typeface="Noto Sans Arabic"/>
                <a:sym typeface="Noto Sans Arabic"/>
              </a:rPr>
              <a:t>Standard Arabia</a:t>
            </a:r>
            <a:endParaRPr sz="2400" b="0" i="0" u="none" strike="noStrike" cap="none">
              <a:solidFill>
                <a:schemeClr val="dk1"/>
              </a:solidFill>
              <a:latin typeface="Calibri"/>
              <a:ea typeface="Calibri"/>
              <a:cs typeface="Calibri"/>
              <a:sym typeface="Calibri"/>
            </a:endParaRPr>
          </a:p>
        </p:txBody>
      </p:sp>
      <p:sp>
        <p:nvSpPr>
          <p:cNvPr id="171" name="Google Shape;171;p29"/>
          <p:cNvSpPr/>
          <p:nvPr/>
        </p:nvSpPr>
        <p:spPr>
          <a:xfrm>
            <a:off x="338325" y="648078"/>
            <a:ext cx="8805600" cy="36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26B59"/>
              </a:buClr>
              <a:buSzPts val="1100"/>
              <a:buFont typeface="Noto Sans Arabic"/>
              <a:buNone/>
            </a:pPr>
            <a:r>
              <a:rPr lang="en" sz="1100">
                <a:solidFill>
                  <a:srgbClr val="126B59"/>
                </a:solidFill>
                <a:latin typeface="Noto Sans Arabic"/>
                <a:ea typeface="Noto Sans Arabic"/>
                <a:cs typeface="Noto Sans Arabic"/>
                <a:sym typeface="Noto Sans Arabic"/>
              </a:rPr>
              <a:t>Multi-accredited local institutes dominate operational safety (PASMA/IPAF/Driving), while specialized academies cover Food Safety </a:t>
            </a:r>
            <a:endParaRPr sz="1100">
              <a:solidFill>
                <a:srgbClr val="126B59"/>
              </a:solidFill>
              <a:latin typeface="Noto Sans Arabic"/>
              <a:ea typeface="Noto Sans Arabic"/>
              <a:cs typeface="Noto Sans Arabic"/>
              <a:sym typeface="Noto Sans Arabic"/>
            </a:endParaRPr>
          </a:p>
          <a:p>
            <a:pPr marL="0" marR="0" lvl="0" indent="0" algn="l" rtl="0">
              <a:lnSpc>
                <a:spcPct val="100000"/>
              </a:lnSpc>
              <a:spcBef>
                <a:spcPts val="0"/>
              </a:spcBef>
              <a:spcAft>
                <a:spcPts val="0"/>
              </a:spcAft>
              <a:buClr>
                <a:srgbClr val="126B59"/>
              </a:buClr>
              <a:buSzPts val="1100"/>
              <a:buFont typeface="Noto Sans Arabic"/>
              <a:buNone/>
            </a:pPr>
            <a:r>
              <a:rPr lang="en" sz="1100">
                <a:solidFill>
                  <a:srgbClr val="126B59"/>
                </a:solidFill>
                <a:latin typeface="Noto Sans Arabic"/>
                <a:ea typeface="Noto Sans Arabic"/>
                <a:cs typeface="Noto Sans Arabic"/>
                <a:sym typeface="Noto Sans Arabic"/>
              </a:rPr>
              <a:t>and Hospitality. </a:t>
            </a:r>
            <a:endParaRPr sz="1100" b="0" i="0" u="none" strike="noStrike" cap="none">
              <a:solidFill>
                <a:schemeClr val="dk1"/>
              </a:solidFill>
              <a:latin typeface="Calibri"/>
              <a:ea typeface="Calibri"/>
              <a:cs typeface="Calibri"/>
              <a:sym typeface="Calibri"/>
            </a:endParaRPr>
          </a:p>
        </p:txBody>
      </p:sp>
      <p:sp>
        <p:nvSpPr>
          <p:cNvPr id="172" name="Google Shape;172;p29"/>
          <p:cNvSpPr/>
          <p:nvPr/>
        </p:nvSpPr>
        <p:spPr>
          <a:xfrm>
            <a:off x="1334988" y="4562177"/>
            <a:ext cx="6638441" cy="35997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000"/>
              <a:buFont typeface="Noto Sans Arabic"/>
              <a:buNone/>
            </a:pPr>
            <a:r>
              <a:rPr lang="en" sz="1100" b="1">
                <a:solidFill>
                  <a:schemeClr val="lt1"/>
                </a:solidFill>
              </a:rPr>
              <a:t>B2B Offerings in KSA:</a:t>
            </a:r>
            <a:r>
              <a:rPr lang="en" sz="1100">
                <a:solidFill>
                  <a:schemeClr val="lt1"/>
                </a:solidFill>
              </a:rPr>
              <a:t> IPAF (3a, 3b, PAV), PASMA (Towers), Defensive Driving, Highfield Food Safety (Level 1–3), ISO 22000. </a:t>
            </a:r>
            <a:endParaRPr sz="1000" b="0" i="0" u="none" strike="noStrike" cap="none">
              <a:solidFill>
                <a:schemeClr val="lt1"/>
              </a:solidFill>
              <a:latin typeface="Calibri"/>
              <a:ea typeface="Calibri"/>
              <a:cs typeface="Calibri"/>
              <a:sym typeface="Calibri"/>
            </a:endParaRPr>
          </a:p>
        </p:txBody>
      </p:sp>
      <p:pic>
        <p:nvPicPr>
          <p:cNvPr id="173" name="Google Shape;173;p29" title="images (4).png"/>
          <p:cNvPicPr preferRelativeResize="0"/>
          <p:nvPr/>
        </p:nvPicPr>
        <p:blipFill>
          <a:blip r:embed="rId9">
            <a:alphaModFix/>
          </a:blip>
          <a:stretch>
            <a:fillRect/>
          </a:stretch>
        </p:blipFill>
        <p:spPr>
          <a:xfrm>
            <a:off x="138675" y="1580650"/>
            <a:ext cx="1251975" cy="1257575"/>
          </a:xfrm>
          <a:prstGeom prst="rect">
            <a:avLst/>
          </a:prstGeom>
          <a:noFill/>
          <a:ln>
            <a:noFill/>
          </a:ln>
        </p:spPr>
      </p:pic>
      <p:pic>
        <p:nvPicPr>
          <p:cNvPr id="174" name="Google Shape;174;p29" descr="preencoded.png"/>
          <p:cNvPicPr preferRelativeResize="0"/>
          <p:nvPr/>
        </p:nvPicPr>
        <p:blipFill rotWithShape="1">
          <a:blip r:embed="rId10">
            <a:alphaModFix/>
          </a:blip>
          <a:srcRect/>
          <a:stretch/>
        </p:blipFill>
        <p:spPr>
          <a:xfrm>
            <a:off x="1733550" y="1226200"/>
            <a:ext cx="6572250" cy="2841550"/>
          </a:xfrm>
          <a:prstGeom prst="rect">
            <a:avLst/>
          </a:prstGeom>
          <a:noFill/>
          <a:ln>
            <a:noFill/>
          </a:ln>
        </p:spPr>
      </p:pic>
      <p:sp>
        <p:nvSpPr>
          <p:cNvPr id="175" name="Google Shape;175;p29"/>
          <p:cNvSpPr txBox="1"/>
          <p:nvPr/>
        </p:nvSpPr>
        <p:spPr>
          <a:xfrm>
            <a:off x="1908075" y="1226200"/>
            <a:ext cx="6426300" cy="26853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rgbClr val="F9A825"/>
                </a:solidFill>
              </a:rPr>
              <a:t>Competitor Profile: Standard Arabia Inspection &amp; Training</a:t>
            </a:r>
            <a:endParaRPr sz="1100">
              <a:solidFill>
                <a:srgbClr val="F9A825"/>
              </a:solidFill>
            </a:endParaRPr>
          </a:p>
          <a:p>
            <a:pPr marL="457200" lvl="0" indent="-298450" algn="l" rtl="0">
              <a:lnSpc>
                <a:spcPct val="115000"/>
              </a:lnSpc>
              <a:spcBef>
                <a:spcPts val="1200"/>
              </a:spcBef>
              <a:spcAft>
                <a:spcPts val="0"/>
              </a:spcAft>
              <a:buClr>
                <a:srgbClr val="FFFFFF"/>
              </a:buClr>
              <a:buSzPts val="1100"/>
              <a:buChar char="●"/>
            </a:pPr>
            <a:r>
              <a:rPr lang="en" sz="1100" b="1">
                <a:solidFill>
                  <a:srgbClr val="FFFFFF"/>
                </a:solidFill>
              </a:rPr>
              <a:t>Provider Name:</a:t>
            </a:r>
            <a:r>
              <a:rPr lang="en" sz="1100">
                <a:solidFill>
                  <a:srgbClr val="FFFFFF"/>
                </a:solidFill>
              </a:rPr>
              <a:t> Standard Arabia Training Center</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 sz="1100" b="1">
                <a:solidFill>
                  <a:srgbClr val="FFFFFF"/>
                </a:solidFill>
              </a:rPr>
              <a:t>Website:</a:t>
            </a:r>
            <a:r>
              <a:rPr lang="en" sz="1100">
                <a:solidFill>
                  <a:srgbClr val="FFFFFF"/>
                </a:solidFill>
              </a:rPr>
              <a:t> standardarabia.com</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 sz="1100" b="1">
                <a:solidFill>
                  <a:srgbClr val="FFFFFF"/>
                </a:solidFill>
              </a:rPr>
              <a:t>B2B Offerings in KSA:</a:t>
            </a:r>
            <a:r>
              <a:rPr lang="en" sz="1100">
                <a:solidFill>
                  <a:srgbClr val="FFFFFF"/>
                </a:solidFill>
              </a:rPr>
              <a:t> IPAF (3a, 3b, PAV), PASMA (Mobile Towers), Defensive Driving, Highfield Food Safety (Level 1–3), ISO 22000.</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 sz="1100" b="1">
                <a:solidFill>
                  <a:srgbClr val="FFFFFF"/>
                </a:solidFill>
              </a:rPr>
              <a:t>Social Media Followers:</a:t>
            </a:r>
            <a:endParaRPr sz="1100" b="1">
              <a:solidFill>
                <a:srgbClr val="FFFFFF"/>
              </a:solidFill>
            </a:endParaRPr>
          </a:p>
          <a:p>
            <a:pPr marL="914400" lvl="1" indent="-298450" algn="l" rtl="0">
              <a:lnSpc>
                <a:spcPct val="115000"/>
              </a:lnSpc>
              <a:spcBef>
                <a:spcPts val="0"/>
              </a:spcBef>
              <a:spcAft>
                <a:spcPts val="0"/>
              </a:spcAft>
              <a:buClr>
                <a:srgbClr val="FFFFFF"/>
              </a:buClr>
              <a:buSzPts val="1100"/>
              <a:buChar char="○"/>
            </a:pPr>
            <a:r>
              <a:rPr lang="en" sz="1100">
                <a:solidFill>
                  <a:srgbClr val="FFFFFF"/>
                </a:solidFill>
              </a:rPr>
              <a:t>LinkedIn: ~6000</a:t>
            </a:r>
            <a:endParaRPr sz="1100">
              <a:solidFill>
                <a:srgbClr val="FFFFFF"/>
              </a:solidFill>
            </a:endParaRPr>
          </a:p>
          <a:p>
            <a:pPr marL="914400" lvl="1" indent="-298450" algn="l" rtl="0">
              <a:lnSpc>
                <a:spcPct val="115000"/>
              </a:lnSpc>
              <a:spcBef>
                <a:spcPts val="0"/>
              </a:spcBef>
              <a:spcAft>
                <a:spcPts val="0"/>
              </a:spcAft>
              <a:buClr>
                <a:srgbClr val="FFFFFF"/>
              </a:buClr>
              <a:buSzPts val="1100"/>
              <a:buChar char="○"/>
            </a:pPr>
            <a:r>
              <a:rPr lang="en" sz="1100">
                <a:solidFill>
                  <a:srgbClr val="FFFFFF"/>
                </a:solidFill>
              </a:rPr>
              <a:t>Facebook: ~8200</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 sz="1100" b="1">
                <a:solidFill>
                  <a:srgbClr val="FFFFFF"/>
                </a:solidFill>
              </a:rPr>
              <a:t>Estimated Monthly Ad Spend:</a:t>
            </a:r>
            <a:r>
              <a:rPr lang="en" sz="1100">
                <a:solidFill>
                  <a:srgbClr val="FFFFFF"/>
                </a:solidFill>
              </a:rPr>
              <a:t> SAR 18,000 – SAR 28,000 </a:t>
            </a:r>
            <a:r>
              <a:rPr lang="en" sz="1000">
                <a:solidFill>
                  <a:schemeClr val="lt1"/>
                </a:solidFill>
              </a:rPr>
              <a:t>(Based on SEMRSUH DATA)</a:t>
            </a:r>
            <a:endParaRPr sz="1100">
              <a:solidFill>
                <a:srgbClr val="FFFFFF"/>
              </a:solidFill>
            </a:endParaRPr>
          </a:p>
          <a:p>
            <a:pPr marL="457200" lvl="0" indent="-298450" algn="l" rtl="0">
              <a:lnSpc>
                <a:spcPct val="115000"/>
              </a:lnSpc>
              <a:spcBef>
                <a:spcPts val="0"/>
              </a:spcBef>
              <a:spcAft>
                <a:spcPts val="0"/>
              </a:spcAft>
              <a:buClr>
                <a:srgbClr val="FFFFFF"/>
              </a:buClr>
              <a:buSzPts val="1100"/>
              <a:buChar char="●"/>
            </a:pPr>
            <a:r>
              <a:rPr lang="en" sz="1100" b="1">
                <a:solidFill>
                  <a:srgbClr val="FFFFFF"/>
                </a:solidFill>
              </a:rPr>
              <a:t>Active Acquisition Channels:</a:t>
            </a:r>
            <a:r>
              <a:rPr lang="en" sz="1100">
                <a:solidFill>
                  <a:srgbClr val="FFFFFF"/>
                </a:solidFill>
              </a:rPr>
              <a:t> Google Search PPC (</a:t>
            </a:r>
            <a:r>
              <a:rPr lang="en" sz="1100" i="1">
                <a:solidFill>
                  <a:srgbClr val="FFFFFF"/>
                </a:solidFill>
              </a:rPr>
              <a:t>"IPAF training Jubail"</a:t>
            </a:r>
            <a:r>
              <a:rPr lang="en" sz="1100">
                <a:solidFill>
                  <a:srgbClr val="FFFFFF"/>
                </a:solidFill>
              </a:rPr>
              <a:t>, </a:t>
            </a:r>
            <a:r>
              <a:rPr lang="en" sz="1100" i="1">
                <a:solidFill>
                  <a:srgbClr val="FFFFFF"/>
                </a:solidFill>
              </a:rPr>
              <a:t>"PASMA training KSA"</a:t>
            </a:r>
            <a:r>
              <a:rPr lang="en" sz="1100">
                <a:solidFill>
                  <a:srgbClr val="FFFFFF"/>
                </a:solidFill>
              </a:rPr>
              <a:t>), LinkedIn B2B Outreach to HSE/Rigging Managers, TVTC &amp; Major EPC Contractor Directories.</a:t>
            </a:r>
            <a:endParaRPr sz="11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30" descr="preencoded.png"/>
          <p:cNvPicPr preferRelativeResize="0"/>
          <p:nvPr/>
        </p:nvPicPr>
        <p:blipFill rotWithShape="1">
          <a:blip r:embed="rId3">
            <a:alphaModFix/>
          </a:blip>
          <a:srcRect/>
          <a:stretch/>
        </p:blipFill>
        <p:spPr>
          <a:xfrm>
            <a:off x="383977" y="158502"/>
            <a:ext cx="383977" cy="42863"/>
          </a:xfrm>
          <a:prstGeom prst="rect">
            <a:avLst/>
          </a:prstGeom>
          <a:noFill/>
          <a:ln>
            <a:noFill/>
          </a:ln>
        </p:spPr>
      </p:pic>
      <p:pic>
        <p:nvPicPr>
          <p:cNvPr id="182" name="Google Shape;182;p30" descr="preencoded.png"/>
          <p:cNvPicPr preferRelativeResize="0"/>
          <p:nvPr/>
        </p:nvPicPr>
        <p:blipFill rotWithShape="1">
          <a:blip r:embed="rId4">
            <a:alphaModFix/>
          </a:blip>
          <a:srcRect/>
          <a:stretch/>
        </p:blipFill>
        <p:spPr>
          <a:xfrm>
            <a:off x="4522664" y="1080046"/>
            <a:ext cx="7144" cy="3188902"/>
          </a:xfrm>
          <a:prstGeom prst="rect">
            <a:avLst/>
          </a:prstGeom>
          <a:noFill/>
          <a:ln>
            <a:noFill/>
          </a:ln>
        </p:spPr>
      </p:pic>
      <p:pic>
        <p:nvPicPr>
          <p:cNvPr id="183" name="Google Shape;183;p30" descr="preencoded.png"/>
          <p:cNvPicPr preferRelativeResize="0"/>
          <p:nvPr/>
        </p:nvPicPr>
        <p:blipFill rotWithShape="1">
          <a:blip r:embed="rId5">
            <a:alphaModFix/>
          </a:blip>
          <a:srcRect/>
          <a:stretch/>
        </p:blipFill>
        <p:spPr>
          <a:xfrm>
            <a:off x="4610507" y="2628674"/>
            <a:ext cx="40411" cy="40412"/>
          </a:xfrm>
          <a:prstGeom prst="rect">
            <a:avLst/>
          </a:prstGeom>
          <a:noFill/>
          <a:ln>
            <a:noFill/>
          </a:ln>
        </p:spPr>
      </p:pic>
      <p:pic>
        <p:nvPicPr>
          <p:cNvPr id="184" name="Google Shape;184;p30" descr="preencoded.png"/>
          <p:cNvPicPr preferRelativeResize="0"/>
          <p:nvPr/>
        </p:nvPicPr>
        <p:blipFill rotWithShape="1">
          <a:blip r:embed="rId6">
            <a:alphaModFix/>
          </a:blip>
          <a:srcRect/>
          <a:stretch/>
        </p:blipFill>
        <p:spPr>
          <a:xfrm>
            <a:off x="329175" y="4346200"/>
            <a:ext cx="8357500" cy="633100"/>
          </a:xfrm>
          <a:prstGeom prst="rect">
            <a:avLst/>
          </a:prstGeom>
          <a:noFill/>
          <a:ln>
            <a:noFill/>
          </a:ln>
        </p:spPr>
      </p:pic>
      <p:pic>
        <p:nvPicPr>
          <p:cNvPr id="185" name="Google Shape;185;p30" descr="preencoded.png"/>
          <p:cNvPicPr preferRelativeResize="0"/>
          <p:nvPr/>
        </p:nvPicPr>
        <p:blipFill rotWithShape="1">
          <a:blip r:embed="rId7">
            <a:alphaModFix/>
          </a:blip>
          <a:srcRect/>
          <a:stretch/>
        </p:blipFill>
        <p:spPr>
          <a:xfrm>
            <a:off x="0" y="4346191"/>
            <a:ext cx="502853" cy="797197"/>
          </a:xfrm>
          <a:prstGeom prst="rect">
            <a:avLst/>
          </a:prstGeom>
          <a:noFill/>
          <a:ln>
            <a:noFill/>
          </a:ln>
        </p:spPr>
      </p:pic>
      <p:pic>
        <p:nvPicPr>
          <p:cNvPr id="186" name="Google Shape;186;p30" descr="preencoded.png"/>
          <p:cNvPicPr preferRelativeResize="0"/>
          <p:nvPr/>
        </p:nvPicPr>
        <p:blipFill rotWithShape="1">
          <a:blip r:embed="rId8">
            <a:alphaModFix/>
          </a:blip>
          <a:srcRect/>
          <a:stretch/>
        </p:blipFill>
        <p:spPr>
          <a:xfrm>
            <a:off x="8549617" y="4346191"/>
            <a:ext cx="594271" cy="797197"/>
          </a:xfrm>
          <a:prstGeom prst="rect">
            <a:avLst/>
          </a:prstGeom>
          <a:noFill/>
          <a:ln>
            <a:noFill/>
          </a:ln>
        </p:spPr>
      </p:pic>
      <p:sp>
        <p:nvSpPr>
          <p:cNvPr id="187" name="Google Shape;187;p30"/>
          <p:cNvSpPr/>
          <p:nvPr/>
        </p:nvSpPr>
        <p:spPr>
          <a:xfrm>
            <a:off x="338324" y="293117"/>
            <a:ext cx="8805600" cy="339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2400"/>
              <a:buFont typeface="Noto Sans Arabic"/>
              <a:buNone/>
            </a:pPr>
            <a:r>
              <a:rPr lang="en" sz="2400" b="1">
                <a:solidFill>
                  <a:srgbClr val="001B3D"/>
                </a:solidFill>
                <a:latin typeface="Noto Sans Arabic"/>
                <a:ea typeface="Noto Sans Arabic"/>
                <a:cs typeface="Noto Sans Arabic"/>
                <a:sym typeface="Noto Sans Arabic"/>
              </a:rPr>
              <a:t>Dayim Training Hub</a:t>
            </a:r>
            <a:endParaRPr sz="2400" b="0" i="0" u="none" strike="noStrike" cap="none">
              <a:solidFill>
                <a:schemeClr val="dk1"/>
              </a:solidFill>
              <a:latin typeface="Calibri"/>
              <a:ea typeface="Calibri"/>
              <a:cs typeface="Calibri"/>
              <a:sym typeface="Calibri"/>
            </a:endParaRPr>
          </a:p>
        </p:txBody>
      </p:sp>
      <p:sp>
        <p:nvSpPr>
          <p:cNvPr id="188" name="Google Shape;188;p30"/>
          <p:cNvSpPr/>
          <p:nvPr/>
        </p:nvSpPr>
        <p:spPr>
          <a:xfrm>
            <a:off x="338325" y="648078"/>
            <a:ext cx="8805600" cy="36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26B59"/>
              </a:buClr>
              <a:buSzPts val="1100"/>
              <a:buFont typeface="Noto Sans Arabic"/>
              <a:buNone/>
            </a:pPr>
            <a:r>
              <a:rPr lang="en" sz="1100">
                <a:solidFill>
                  <a:srgbClr val="126B59"/>
                </a:solidFill>
                <a:latin typeface="Noto Sans Arabic"/>
                <a:ea typeface="Noto Sans Arabic"/>
                <a:cs typeface="Noto Sans Arabic"/>
                <a:sym typeface="Noto Sans Arabic"/>
              </a:rPr>
              <a:t>Official IPAF Training Center (3a, 3b, PAV), Working at Height, Defensive Driving / Off-Road Desert Driving, Equipment Safety. </a:t>
            </a:r>
            <a:endParaRPr sz="1100" b="0" i="0" u="none" strike="noStrike" cap="none">
              <a:solidFill>
                <a:schemeClr val="dk1"/>
              </a:solidFill>
              <a:latin typeface="Calibri"/>
              <a:ea typeface="Calibri"/>
              <a:cs typeface="Calibri"/>
              <a:sym typeface="Calibri"/>
            </a:endParaRPr>
          </a:p>
        </p:txBody>
      </p:sp>
      <p:sp>
        <p:nvSpPr>
          <p:cNvPr id="189" name="Google Shape;189;p30"/>
          <p:cNvSpPr/>
          <p:nvPr/>
        </p:nvSpPr>
        <p:spPr>
          <a:xfrm>
            <a:off x="1334988" y="4562177"/>
            <a:ext cx="6638400" cy="3600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000"/>
              <a:buFont typeface="Noto Sans Arabic"/>
              <a:buNone/>
            </a:pPr>
            <a:r>
              <a:rPr lang="en" sz="1100" b="1">
                <a:solidFill>
                  <a:schemeClr val="lt1"/>
                </a:solidFill>
              </a:rPr>
              <a:t>B2B Offerings in KSA:</a:t>
            </a:r>
            <a:r>
              <a:rPr lang="en" sz="1100">
                <a:solidFill>
                  <a:schemeClr val="lt1"/>
                </a:solidFill>
              </a:rPr>
              <a:t> Official IPAF Training Center (3a, 3b, PAV), Working at Height, Defensive Driving / Off-Road Desert Driving, Equipment Safety. </a:t>
            </a:r>
            <a:endParaRPr sz="1000" b="0" i="0" u="none" strike="noStrike" cap="none">
              <a:solidFill>
                <a:schemeClr val="lt1"/>
              </a:solidFill>
              <a:latin typeface="Calibri"/>
              <a:ea typeface="Calibri"/>
              <a:cs typeface="Calibri"/>
              <a:sym typeface="Calibri"/>
            </a:endParaRPr>
          </a:p>
        </p:txBody>
      </p:sp>
      <p:pic>
        <p:nvPicPr>
          <p:cNvPr id="190" name="Google Shape;190;p30" descr="preencoded.png"/>
          <p:cNvPicPr preferRelativeResize="0"/>
          <p:nvPr/>
        </p:nvPicPr>
        <p:blipFill rotWithShape="1">
          <a:blip r:embed="rId9">
            <a:alphaModFix/>
          </a:blip>
          <a:srcRect/>
          <a:stretch/>
        </p:blipFill>
        <p:spPr>
          <a:xfrm>
            <a:off x="1733550" y="1226200"/>
            <a:ext cx="6572250" cy="3042750"/>
          </a:xfrm>
          <a:prstGeom prst="rect">
            <a:avLst/>
          </a:prstGeom>
          <a:noFill/>
          <a:ln>
            <a:noFill/>
          </a:ln>
        </p:spPr>
      </p:pic>
      <p:sp>
        <p:nvSpPr>
          <p:cNvPr id="191" name="Google Shape;191;p30"/>
          <p:cNvSpPr txBox="1"/>
          <p:nvPr/>
        </p:nvSpPr>
        <p:spPr>
          <a:xfrm>
            <a:off x="1908075" y="1226200"/>
            <a:ext cx="6426300" cy="30954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rgbClr val="F9A825"/>
                </a:solidFill>
              </a:rPr>
              <a:t>Competitor Profile: Dayim Training Hub </a:t>
            </a:r>
            <a:endParaRPr sz="1100">
              <a:solidFill>
                <a:srgbClr val="F9A825"/>
              </a:solidFill>
            </a:endParaRPr>
          </a:p>
          <a:p>
            <a:pPr marL="0" lvl="0" indent="0" algn="l" rtl="0">
              <a:lnSpc>
                <a:spcPct val="115000"/>
              </a:lnSpc>
              <a:spcBef>
                <a:spcPts val="1200"/>
              </a:spcBef>
              <a:spcAft>
                <a:spcPts val="0"/>
              </a:spcAft>
              <a:buNone/>
            </a:pPr>
            <a:r>
              <a:rPr lang="en" sz="1000" b="1">
                <a:solidFill>
                  <a:schemeClr val="lt1"/>
                </a:solidFill>
              </a:rPr>
              <a:t>Website:</a:t>
            </a:r>
            <a:r>
              <a:rPr lang="en" sz="1000">
                <a:solidFill>
                  <a:schemeClr val="lt1"/>
                </a:solidFill>
              </a:rPr>
              <a:t> dayimrentals.com</a:t>
            </a:r>
            <a:endParaRPr sz="1000">
              <a:solidFill>
                <a:schemeClr val="lt1"/>
              </a:solidFill>
            </a:endParaRPr>
          </a:p>
          <a:p>
            <a:pPr marL="457200" lvl="0" indent="-228600" algn="l" rtl="0">
              <a:lnSpc>
                <a:spcPct val="115000"/>
              </a:lnSpc>
              <a:spcBef>
                <a:spcPts val="1200"/>
              </a:spcBef>
              <a:spcAft>
                <a:spcPts val="0"/>
              </a:spcAft>
              <a:buNone/>
            </a:pPr>
            <a:r>
              <a:rPr lang="en" sz="1000" b="1">
                <a:solidFill>
                  <a:schemeClr val="lt1"/>
                </a:solidFill>
              </a:rPr>
              <a:t>B2B Offerings in KSA:</a:t>
            </a:r>
            <a:r>
              <a:rPr lang="en" sz="1000">
                <a:solidFill>
                  <a:schemeClr val="lt1"/>
                </a:solidFill>
              </a:rPr>
              <a:t> Official IPAF Training Center (3a, 3b, PAV), Working at Height, Defensive Driving / Off-Road Desert Driving, Equipment Safety.</a:t>
            </a:r>
            <a:endParaRPr sz="1000">
              <a:solidFill>
                <a:schemeClr val="lt1"/>
              </a:solidFill>
            </a:endParaRPr>
          </a:p>
          <a:p>
            <a:pPr marL="457200" lvl="0" indent="-228600" algn="l" rtl="0">
              <a:lnSpc>
                <a:spcPct val="115000"/>
              </a:lnSpc>
              <a:spcBef>
                <a:spcPts val="1200"/>
              </a:spcBef>
              <a:spcAft>
                <a:spcPts val="0"/>
              </a:spcAft>
              <a:buNone/>
            </a:pPr>
            <a:r>
              <a:rPr lang="en" sz="1000" b="1">
                <a:solidFill>
                  <a:schemeClr val="lt1"/>
                </a:solidFill>
              </a:rPr>
              <a:t>Social Media Followers Split:</a:t>
            </a:r>
            <a:endParaRPr sz="1000" b="1">
              <a:solidFill>
                <a:schemeClr val="lt1"/>
              </a:solidFill>
            </a:endParaRPr>
          </a:p>
          <a:p>
            <a:pPr marL="457200" lvl="0" indent="-292100" algn="l" rtl="0">
              <a:lnSpc>
                <a:spcPct val="115000"/>
              </a:lnSpc>
              <a:spcBef>
                <a:spcPts val="1200"/>
              </a:spcBef>
              <a:spcAft>
                <a:spcPts val="0"/>
              </a:spcAft>
              <a:buClr>
                <a:schemeClr val="lt1"/>
              </a:buClr>
              <a:buSzPts val="1000"/>
              <a:buChar char="●"/>
            </a:pPr>
            <a:r>
              <a:rPr lang="en" sz="1000" b="1">
                <a:solidFill>
                  <a:schemeClr val="lt1"/>
                </a:solidFill>
              </a:rPr>
              <a:t>LinkedIn:</a:t>
            </a:r>
            <a:r>
              <a:rPr lang="en" sz="1000">
                <a:solidFill>
                  <a:schemeClr val="lt1"/>
                </a:solidFill>
              </a:rPr>
              <a:t> ~25,000 followers</a:t>
            </a:r>
            <a:endParaRPr sz="1000">
              <a:solidFill>
                <a:schemeClr val="lt1"/>
              </a:solidFill>
            </a:endParaRPr>
          </a:p>
          <a:p>
            <a:pPr marL="0" lvl="0" indent="0" algn="l" rtl="0">
              <a:lnSpc>
                <a:spcPct val="115000"/>
              </a:lnSpc>
              <a:spcBef>
                <a:spcPts val="1200"/>
              </a:spcBef>
              <a:spcAft>
                <a:spcPts val="0"/>
              </a:spcAft>
              <a:buNone/>
            </a:pPr>
            <a:r>
              <a:rPr lang="en" sz="1000" b="1">
                <a:solidFill>
                  <a:schemeClr val="lt1"/>
                </a:solidFill>
              </a:rPr>
              <a:t>Estimated Monthly Ad Spend:</a:t>
            </a:r>
            <a:r>
              <a:rPr lang="en" sz="1000">
                <a:solidFill>
                  <a:schemeClr val="lt1"/>
                </a:solidFill>
              </a:rPr>
              <a:t> SAR 20,000 – SAR 35,000 (Based on SEMRSUH DATA)</a:t>
            </a:r>
            <a:endParaRPr sz="1000">
              <a:solidFill>
                <a:schemeClr val="lt1"/>
              </a:solidFill>
            </a:endParaRPr>
          </a:p>
          <a:p>
            <a:pPr marL="457200" lvl="0" indent="-228600" algn="l" rtl="0">
              <a:lnSpc>
                <a:spcPct val="115000"/>
              </a:lnSpc>
              <a:spcBef>
                <a:spcPts val="1200"/>
              </a:spcBef>
              <a:spcAft>
                <a:spcPts val="0"/>
              </a:spcAft>
              <a:buNone/>
            </a:pPr>
            <a:r>
              <a:rPr lang="en" sz="1000" b="1">
                <a:solidFill>
                  <a:schemeClr val="lt1"/>
                </a:solidFill>
              </a:rPr>
              <a:t>Active Marketing Channels:</a:t>
            </a:r>
            <a:r>
              <a:rPr lang="en" sz="1000">
                <a:solidFill>
                  <a:schemeClr val="lt1"/>
                </a:solidFill>
              </a:rPr>
              <a:t> Equipment Rental + IPAF Certification bundling, Google Search PPC, Account-Based Marketing (ABM) targeting Aramco and Giga-Project main contractors</a:t>
            </a:r>
            <a:r>
              <a:rPr lang="en" sz="1100">
                <a:solidFill>
                  <a:schemeClr val="lt1"/>
                </a:solidFill>
              </a:rPr>
              <a:t>.</a:t>
            </a:r>
            <a:endParaRPr sz="1100">
              <a:solidFill>
                <a:schemeClr val="lt1"/>
              </a:solidFill>
            </a:endParaRPr>
          </a:p>
          <a:p>
            <a:pPr marL="457200" lvl="0" indent="-298450" algn="l" rtl="0">
              <a:lnSpc>
                <a:spcPct val="115000"/>
              </a:lnSpc>
              <a:spcBef>
                <a:spcPts val="1200"/>
              </a:spcBef>
              <a:spcAft>
                <a:spcPts val="0"/>
              </a:spcAft>
              <a:buClr>
                <a:srgbClr val="FFFFFF"/>
              </a:buClr>
              <a:buSzPts val="1100"/>
              <a:buChar char="●"/>
            </a:pPr>
            <a:endParaRPr sz="1100" b="1">
              <a:solidFill>
                <a:srgbClr val="FFFFFF"/>
              </a:solidFill>
            </a:endParaRPr>
          </a:p>
        </p:txBody>
      </p:sp>
      <p:pic>
        <p:nvPicPr>
          <p:cNvPr id="192" name="Google Shape;192;p30" title="1678780266115.jfif"/>
          <p:cNvPicPr preferRelativeResize="0"/>
          <p:nvPr/>
        </p:nvPicPr>
        <p:blipFill>
          <a:blip r:embed="rId10">
            <a:alphaModFix/>
          </a:blip>
          <a:stretch>
            <a:fillRect/>
          </a:stretch>
        </p:blipFill>
        <p:spPr>
          <a:xfrm>
            <a:off x="123825" y="1657938"/>
            <a:ext cx="1390650" cy="1390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31" descr="preencoded.png"/>
          <p:cNvPicPr preferRelativeResize="0"/>
          <p:nvPr/>
        </p:nvPicPr>
        <p:blipFill rotWithShape="1">
          <a:blip r:embed="rId3">
            <a:alphaModFix/>
          </a:blip>
          <a:srcRect/>
          <a:stretch/>
        </p:blipFill>
        <p:spPr>
          <a:xfrm>
            <a:off x="383977" y="158502"/>
            <a:ext cx="383977" cy="42863"/>
          </a:xfrm>
          <a:prstGeom prst="rect">
            <a:avLst/>
          </a:prstGeom>
          <a:noFill/>
          <a:ln>
            <a:noFill/>
          </a:ln>
        </p:spPr>
      </p:pic>
      <p:pic>
        <p:nvPicPr>
          <p:cNvPr id="199" name="Google Shape;199;p31" descr="preencoded.png"/>
          <p:cNvPicPr preferRelativeResize="0"/>
          <p:nvPr/>
        </p:nvPicPr>
        <p:blipFill rotWithShape="1">
          <a:blip r:embed="rId4">
            <a:alphaModFix/>
          </a:blip>
          <a:srcRect/>
          <a:stretch/>
        </p:blipFill>
        <p:spPr>
          <a:xfrm>
            <a:off x="4522664" y="1080046"/>
            <a:ext cx="7144" cy="3188902"/>
          </a:xfrm>
          <a:prstGeom prst="rect">
            <a:avLst/>
          </a:prstGeom>
          <a:noFill/>
          <a:ln>
            <a:noFill/>
          </a:ln>
        </p:spPr>
      </p:pic>
      <p:pic>
        <p:nvPicPr>
          <p:cNvPr id="200" name="Google Shape;200;p31" descr="preencoded.png"/>
          <p:cNvPicPr preferRelativeResize="0"/>
          <p:nvPr/>
        </p:nvPicPr>
        <p:blipFill rotWithShape="1">
          <a:blip r:embed="rId5">
            <a:alphaModFix/>
          </a:blip>
          <a:srcRect/>
          <a:stretch/>
        </p:blipFill>
        <p:spPr>
          <a:xfrm>
            <a:off x="4610507" y="2628674"/>
            <a:ext cx="40411" cy="40412"/>
          </a:xfrm>
          <a:prstGeom prst="rect">
            <a:avLst/>
          </a:prstGeom>
          <a:noFill/>
          <a:ln>
            <a:noFill/>
          </a:ln>
        </p:spPr>
      </p:pic>
      <p:pic>
        <p:nvPicPr>
          <p:cNvPr id="201" name="Google Shape;201;p31" descr="preencoded.png"/>
          <p:cNvPicPr preferRelativeResize="0"/>
          <p:nvPr/>
        </p:nvPicPr>
        <p:blipFill rotWithShape="1">
          <a:blip r:embed="rId6">
            <a:alphaModFix/>
          </a:blip>
          <a:srcRect/>
          <a:stretch/>
        </p:blipFill>
        <p:spPr>
          <a:xfrm>
            <a:off x="329175" y="4346200"/>
            <a:ext cx="8357500" cy="633100"/>
          </a:xfrm>
          <a:prstGeom prst="rect">
            <a:avLst/>
          </a:prstGeom>
          <a:noFill/>
          <a:ln>
            <a:noFill/>
          </a:ln>
        </p:spPr>
      </p:pic>
      <p:pic>
        <p:nvPicPr>
          <p:cNvPr id="202" name="Google Shape;202;p31" descr="preencoded.png"/>
          <p:cNvPicPr preferRelativeResize="0"/>
          <p:nvPr/>
        </p:nvPicPr>
        <p:blipFill rotWithShape="1">
          <a:blip r:embed="rId7">
            <a:alphaModFix/>
          </a:blip>
          <a:srcRect/>
          <a:stretch/>
        </p:blipFill>
        <p:spPr>
          <a:xfrm>
            <a:off x="0" y="4346191"/>
            <a:ext cx="502853" cy="797197"/>
          </a:xfrm>
          <a:prstGeom prst="rect">
            <a:avLst/>
          </a:prstGeom>
          <a:noFill/>
          <a:ln>
            <a:noFill/>
          </a:ln>
        </p:spPr>
      </p:pic>
      <p:pic>
        <p:nvPicPr>
          <p:cNvPr id="203" name="Google Shape;203;p31" descr="preencoded.png"/>
          <p:cNvPicPr preferRelativeResize="0"/>
          <p:nvPr/>
        </p:nvPicPr>
        <p:blipFill rotWithShape="1">
          <a:blip r:embed="rId8">
            <a:alphaModFix/>
          </a:blip>
          <a:srcRect/>
          <a:stretch/>
        </p:blipFill>
        <p:spPr>
          <a:xfrm>
            <a:off x="8549617" y="4346191"/>
            <a:ext cx="594271" cy="797197"/>
          </a:xfrm>
          <a:prstGeom prst="rect">
            <a:avLst/>
          </a:prstGeom>
          <a:noFill/>
          <a:ln>
            <a:noFill/>
          </a:ln>
        </p:spPr>
      </p:pic>
      <p:sp>
        <p:nvSpPr>
          <p:cNvPr id="204" name="Google Shape;204;p31"/>
          <p:cNvSpPr/>
          <p:nvPr/>
        </p:nvSpPr>
        <p:spPr>
          <a:xfrm>
            <a:off x="338324" y="293117"/>
            <a:ext cx="8805600" cy="339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2400"/>
              <a:buFont typeface="Noto Sans Arabic"/>
              <a:buNone/>
            </a:pPr>
            <a:r>
              <a:rPr lang="en" sz="2400" b="1">
                <a:solidFill>
                  <a:srgbClr val="001B3D"/>
                </a:solidFill>
                <a:latin typeface="Noto Sans Arabic"/>
                <a:ea typeface="Noto Sans Arabic"/>
                <a:cs typeface="Noto Sans Arabic"/>
                <a:sym typeface="Noto Sans Arabic"/>
              </a:rPr>
              <a:t>Technical Arabia Inspection Company Ltd. </a:t>
            </a:r>
            <a:endParaRPr sz="2400" b="0" i="0" u="none" strike="noStrike" cap="none">
              <a:solidFill>
                <a:schemeClr val="dk1"/>
              </a:solidFill>
              <a:latin typeface="Calibri"/>
              <a:ea typeface="Calibri"/>
              <a:cs typeface="Calibri"/>
              <a:sym typeface="Calibri"/>
            </a:endParaRPr>
          </a:p>
        </p:txBody>
      </p:sp>
      <p:sp>
        <p:nvSpPr>
          <p:cNvPr id="205" name="Google Shape;205;p31"/>
          <p:cNvSpPr/>
          <p:nvPr/>
        </p:nvSpPr>
        <p:spPr>
          <a:xfrm>
            <a:off x="1252788" y="4482752"/>
            <a:ext cx="6638400" cy="3600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000"/>
              <a:buFont typeface="Noto Sans Arabic"/>
              <a:buNone/>
            </a:pPr>
            <a:r>
              <a:rPr lang="en" sz="1100" b="1">
                <a:solidFill>
                  <a:schemeClr val="lt1"/>
                </a:solidFill>
              </a:rPr>
              <a:t>Active Marketing Channels:</a:t>
            </a:r>
            <a:r>
              <a:rPr lang="en" sz="1100">
                <a:solidFill>
                  <a:schemeClr val="lt1"/>
                </a:solidFill>
              </a:rPr>
              <a:t> Google Search PPC (</a:t>
            </a:r>
            <a:r>
              <a:rPr lang="en" sz="1100" i="1">
                <a:solidFill>
                  <a:schemeClr val="lt1"/>
                </a:solidFill>
              </a:rPr>
              <a:t>"IPAF training Riyadh"</a:t>
            </a:r>
            <a:r>
              <a:rPr lang="en" sz="1100">
                <a:solidFill>
                  <a:schemeClr val="lt1"/>
                </a:solidFill>
              </a:rPr>
              <a:t>, </a:t>
            </a:r>
            <a:r>
              <a:rPr lang="en" sz="1100" i="1">
                <a:solidFill>
                  <a:schemeClr val="lt1"/>
                </a:solidFill>
              </a:rPr>
              <a:t>"PASMA training Jubail"</a:t>
            </a:r>
            <a:r>
              <a:rPr lang="en" sz="1100">
                <a:solidFill>
                  <a:schemeClr val="lt1"/>
                </a:solidFill>
              </a:rPr>
              <a:t>), Local SEO, Procurement Portal listings targeting Petrochemical and EPC contractors. </a:t>
            </a:r>
            <a:endParaRPr sz="1000" b="0" i="0" u="none" strike="noStrike" cap="none">
              <a:solidFill>
                <a:schemeClr val="lt1"/>
              </a:solidFill>
              <a:latin typeface="Calibri"/>
              <a:ea typeface="Calibri"/>
              <a:cs typeface="Calibri"/>
              <a:sym typeface="Calibri"/>
            </a:endParaRPr>
          </a:p>
        </p:txBody>
      </p:sp>
      <p:pic>
        <p:nvPicPr>
          <p:cNvPr id="206" name="Google Shape;206;p31" descr="preencoded.png"/>
          <p:cNvPicPr preferRelativeResize="0"/>
          <p:nvPr/>
        </p:nvPicPr>
        <p:blipFill rotWithShape="1">
          <a:blip r:embed="rId9">
            <a:alphaModFix/>
          </a:blip>
          <a:srcRect/>
          <a:stretch/>
        </p:blipFill>
        <p:spPr>
          <a:xfrm>
            <a:off x="1733550" y="933788"/>
            <a:ext cx="6572250" cy="3335163"/>
          </a:xfrm>
          <a:prstGeom prst="rect">
            <a:avLst/>
          </a:prstGeom>
          <a:noFill/>
          <a:ln>
            <a:noFill/>
          </a:ln>
        </p:spPr>
      </p:pic>
      <p:sp>
        <p:nvSpPr>
          <p:cNvPr id="207" name="Google Shape;207;p31"/>
          <p:cNvSpPr txBox="1"/>
          <p:nvPr/>
        </p:nvSpPr>
        <p:spPr>
          <a:xfrm>
            <a:off x="1797588" y="1080050"/>
            <a:ext cx="6557962" cy="3102062"/>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None/>
            </a:pPr>
            <a:r>
              <a:rPr lang="en" sz="1300" b="1">
                <a:solidFill>
                  <a:srgbClr val="F9A825"/>
                </a:solidFill>
              </a:rPr>
              <a:t>Competitor Profile : Technical Arabia Inspection Company Ltd.</a:t>
            </a:r>
            <a:endParaRPr sz="1300" b="1">
              <a:solidFill>
                <a:srgbClr val="F9A825"/>
              </a:solidFill>
            </a:endParaRPr>
          </a:p>
          <a:p>
            <a:pPr marL="457200" lvl="0" indent="-228600" algn="l" rtl="0">
              <a:lnSpc>
                <a:spcPct val="115000"/>
              </a:lnSpc>
              <a:spcBef>
                <a:spcPts val="1200"/>
              </a:spcBef>
              <a:spcAft>
                <a:spcPts val="0"/>
              </a:spcAft>
              <a:buNone/>
            </a:pPr>
            <a:r>
              <a:rPr lang="en" sz="1100" b="1">
                <a:solidFill>
                  <a:schemeClr val="lt1"/>
                </a:solidFill>
              </a:rPr>
              <a:t>Website:</a:t>
            </a:r>
            <a:r>
              <a:rPr lang="en" sz="1100">
                <a:solidFill>
                  <a:schemeClr val="lt1"/>
                </a:solidFill>
              </a:rPr>
              <a:t> technicalarabia.com</a:t>
            </a:r>
            <a:endParaRPr sz="1100">
              <a:solidFill>
                <a:schemeClr val="lt1"/>
              </a:solidFill>
            </a:endParaRPr>
          </a:p>
          <a:p>
            <a:pPr marL="457200" lvl="0" indent="-228600" algn="l" rtl="0">
              <a:lnSpc>
                <a:spcPct val="115000"/>
              </a:lnSpc>
              <a:spcBef>
                <a:spcPts val="1200"/>
              </a:spcBef>
              <a:spcAft>
                <a:spcPts val="0"/>
              </a:spcAft>
              <a:buNone/>
            </a:pPr>
            <a:r>
              <a:rPr lang="en" sz="1100" b="1">
                <a:solidFill>
                  <a:schemeClr val="lt1"/>
                </a:solidFill>
              </a:rPr>
              <a:t>B2B Offerings in KSA:</a:t>
            </a:r>
            <a:r>
              <a:rPr lang="en" sz="1100">
                <a:solidFill>
                  <a:schemeClr val="lt1"/>
                </a:solidFill>
              </a:rPr>
              <a:t> IPAF (MEWPs), PASMA (Access Towers), Defensive Driving, Highfield Food Safety, TVTC &amp; OSHA Operator Safety Programs.</a:t>
            </a:r>
            <a:endParaRPr sz="1100">
              <a:solidFill>
                <a:schemeClr val="lt1"/>
              </a:solidFill>
            </a:endParaRPr>
          </a:p>
          <a:p>
            <a:pPr marL="457200" lvl="0" indent="-228600" algn="l" rtl="0">
              <a:lnSpc>
                <a:spcPct val="115000"/>
              </a:lnSpc>
              <a:spcBef>
                <a:spcPts val="1200"/>
              </a:spcBef>
              <a:spcAft>
                <a:spcPts val="0"/>
              </a:spcAft>
              <a:buNone/>
            </a:pPr>
            <a:r>
              <a:rPr lang="en" sz="1100" b="1">
                <a:solidFill>
                  <a:schemeClr val="lt1"/>
                </a:solidFill>
              </a:rPr>
              <a:t>Locations:</a:t>
            </a:r>
            <a:r>
              <a:rPr lang="en" sz="1100">
                <a:solidFill>
                  <a:schemeClr val="lt1"/>
                </a:solidFill>
              </a:rPr>
              <a:t> Riyadh, Jubail, Jazan.</a:t>
            </a:r>
            <a:endParaRPr sz="1100">
              <a:solidFill>
                <a:schemeClr val="lt1"/>
              </a:solidFill>
            </a:endParaRPr>
          </a:p>
          <a:p>
            <a:pPr marL="457200" lvl="0" indent="-228600" algn="l" rtl="0">
              <a:lnSpc>
                <a:spcPct val="115000"/>
              </a:lnSpc>
              <a:spcBef>
                <a:spcPts val="1200"/>
              </a:spcBef>
              <a:spcAft>
                <a:spcPts val="0"/>
              </a:spcAft>
              <a:buNone/>
            </a:pPr>
            <a:r>
              <a:rPr lang="en" sz="1100" b="1">
                <a:solidFill>
                  <a:schemeClr val="lt1"/>
                </a:solidFill>
              </a:rPr>
              <a:t>Social Media Followers Split:</a:t>
            </a:r>
            <a:endParaRPr sz="1100" b="1">
              <a:solidFill>
                <a:schemeClr val="lt1"/>
              </a:solidFill>
            </a:endParaRPr>
          </a:p>
          <a:p>
            <a:pPr marL="457200" lvl="0" indent="-298450" algn="l" rtl="0">
              <a:lnSpc>
                <a:spcPct val="115000"/>
              </a:lnSpc>
              <a:spcBef>
                <a:spcPts val="1200"/>
              </a:spcBef>
              <a:spcAft>
                <a:spcPts val="0"/>
              </a:spcAft>
              <a:buClr>
                <a:schemeClr val="lt1"/>
              </a:buClr>
              <a:buSzPts val="1100"/>
              <a:buChar char="●"/>
            </a:pPr>
            <a:r>
              <a:rPr lang="en" sz="1100" b="1">
                <a:solidFill>
                  <a:schemeClr val="lt1"/>
                </a:solidFill>
              </a:rPr>
              <a:t>LinkedIn:</a:t>
            </a:r>
            <a:r>
              <a:rPr lang="en" sz="1100">
                <a:solidFill>
                  <a:schemeClr val="lt1"/>
                </a:solidFill>
              </a:rPr>
              <a:t> ~NA</a:t>
            </a:r>
            <a:endParaRPr sz="1100">
              <a:solidFill>
                <a:schemeClr val="lt1"/>
              </a:solidFill>
            </a:endParaRPr>
          </a:p>
          <a:p>
            <a:pPr marL="457200" lvl="0" indent="-298450" algn="l" rtl="0">
              <a:lnSpc>
                <a:spcPct val="115000"/>
              </a:lnSpc>
              <a:spcBef>
                <a:spcPts val="0"/>
              </a:spcBef>
              <a:spcAft>
                <a:spcPts val="0"/>
              </a:spcAft>
              <a:buClr>
                <a:schemeClr val="lt1"/>
              </a:buClr>
              <a:buSzPts val="1100"/>
              <a:buChar char="●"/>
            </a:pPr>
            <a:r>
              <a:rPr lang="en" sz="1100" b="1">
                <a:solidFill>
                  <a:schemeClr val="lt1"/>
                </a:solidFill>
              </a:rPr>
              <a:t>Facebook:</a:t>
            </a:r>
            <a:r>
              <a:rPr lang="en" sz="1100">
                <a:solidFill>
                  <a:schemeClr val="lt1"/>
                </a:solidFill>
              </a:rPr>
              <a:t> ~NA</a:t>
            </a:r>
            <a:endParaRPr sz="1100">
              <a:solidFill>
                <a:schemeClr val="lt1"/>
              </a:solidFill>
            </a:endParaRPr>
          </a:p>
          <a:p>
            <a:pPr marL="0" lvl="0" indent="0" algn="l" rtl="0">
              <a:lnSpc>
                <a:spcPct val="115000"/>
              </a:lnSpc>
              <a:spcBef>
                <a:spcPts val="1200"/>
              </a:spcBef>
              <a:spcAft>
                <a:spcPts val="0"/>
              </a:spcAft>
              <a:buNone/>
            </a:pPr>
            <a:r>
              <a:rPr lang="en" sz="1100" b="1">
                <a:solidFill>
                  <a:schemeClr val="lt1"/>
                </a:solidFill>
              </a:rPr>
              <a:t>Estimated Monthly Ad Spend:</a:t>
            </a:r>
            <a:r>
              <a:rPr lang="en" sz="1100">
                <a:solidFill>
                  <a:schemeClr val="lt1"/>
                </a:solidFill>
              </a:rPr>
              <a:t> SAR 14,000 – SAR 24,000 </a:t>
            </a:r>
            <a:r>
              <a:rPr lang="en" sz="1000">
                <a:solidFill>
                  <a:schemeClr val="lt1"/>
                </a:solidFill>
              </a:rPr>
              <a:t> (Based on SEMRSUH DATA)</a:t>
            </a:r>
            <a:endParaRPr sz="1200" b="1">
              <a:solidFill>
                <a:schemeClr val="lt1"/>
              </a:solidFill>
            </a:endParaRPr>
          </a:p>
        </p:txBody>
      </p:sp>
      <p:pic>
        <p:nvPicPr>
          <p:cNvPr id="208" name="Google Shape;208;p31" title="cropped-cropped-IMG-20260319-WA0001-removebg-preview.png"/>
          <p:cNvPicPr preferRelativeResize="0"/>
          <p:nvPr/>
        </p:nvPicPr>
        <p:blipFill>
          <a:blip r:embed="rId10">
            <a:alphaModFix/>
          </a:blip>
          <a:stretch>
            <a:fillRect/>
          </a:stretch>
        </p:blipFill>
        <p:spPr>
          <a:xfrm>
            <a:off x="338325" y="1545725"/>
            <a:ext cx="1228000" cy="962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2" descr="preencoded.png"/>
          <p:cNvPicPr preferRelativeResize="0"/>
          <p:nvPr/>
        </p:nvPicPr>
        <p:blipFill rotWithShape="1">
          <a:blip r:embed="rId3">
            <a:alphaModFix/>
          </a:blip>
          <a:srcRect/>
          <a:stretch/>
        </p:blipFill>
        <p:spPr>
          <a:xfrm>
            <a:off x="383977" y="158502"/>
            <a:ext cx="383977" cy="42863"/>
          </a:xfrm>
          <a:prstGeom prst="rect">
            <a:avLst/>
          </a:prstGeom>
          <a:noFill/>
          <a:ln>
            <a:noFill/>
          </a:ln>
        </p:spPr>
      </p:pic>
      <p:pic>
        <p:nvPicPr>
          <p:cNvPr id="215" name="Google Shape;215;p32" descr="preencoded.png"/>
          <p:cNvPicPr preferRelativeResize="0"/>
          <p:nvPr/>
        </p:nvPicPr>
        <p:blipFill rotWithShape="1">
          <a:blip r:embed="rId4">
            <a:alphaModFix/>
          </a:blip>
          <a:srcRect/>
          <a:stretch/>
        </p:blipFill>
        <p:spPr>
          <a:xfrm>
            <a:off x="4522664" y="1080046"/>
            <a:ext cx="7144" cy="3188902"/>
          </a:xfrm>
          <a:prstGeom prst="rect">
            <a:avLst/>
          </a:prstGeom>
          <a:noFill/>
          <a:ln>
            <a:noFill/>
          </a:ln>
        </p:spPr>
      </p:pic>
      <p:pic>
        <p:nvPicPr>
          <p:cNvPr id="216" name="Google Shape;216;p32" descr="preencoded.png"/>
          <p:cNvPicPr preferRelativeResize="0"/>
          <p:nvPr/>
        </p:nvPicPr>
        <p:blipFill rotWithShape="1">
          <a:blip r:embed="rId5">
            <a:alphaModFix/>
          </a:blip>
          <a:srcRect/>
          <a:stretch/>
        </p:blipFill>
        <p:spPr>
          <a:xfrm>
            <a:off x="4610507" y="2628674"/>
            <a:ext cx="40411" cy="40412"/>
          </a:xfrm>
          <a:prstGeom prst="rect">
            <a:avLst/>
          </a:prstGeom>
          <a:noFill/>
          <a:ln>
            <a:noFill/>
          </a:ln>
        </p:spPr>
      </p:pic>
      <p:pic>
        <p:nvPicPr>
          <p:cNvPr id="217" name="Google Shape;217;p32" descr="preencoded.png"/>
          <p:cNvPicPr preferRelativeResize="0"/>
          <p:nvPr/>
        </p:nvPicPr>
        <p:blipFill rotWithShape="1">
          <a:blip r:embed="rId6">
            <a:alphaModFix/>
          </a:blip>
          <a:srcRect/>
          <a:stretch/>
        </p:blipFill>
        <p:spPr>
          <a:xfrm>
            <a:off x="329175" y="4346200"/>
            <a:ext cx="8357500" cy="633100"/>
          </a:xfrm>
          <a:prstGeom prst="rect">
            <a:avLst/>
          </a:prstGeom>
          <a:noFill/>
          <a:ln>
            <a:noFill/>
          </a:ln>
        </p:spPr>
      </p:pic>
      <p:pic>
        <p:nvPicPr>
          <p:cNvPr id="218" name="Google Shape;218;p32" descr="preencoded.png"/>
          <p:cNvPicPr preferRelativeResize="0"/>
          <p:nvPr/>
        </p:nvPicPr>
        <p:blipFill rotWithShape="1">
          <a:blip r:embed="rId7">
            <a:alphaModFix/>
          </a:blip>
          <a:srcRect/>
          <a:stretch/>
        </p:blipFill>
        <p:spPr>
          <a:xfrm>
            <a:off x="0" y="4346191"/>
            <a:ext cx="502853" cy="797197"/>
          </a:xfrm>
          <a:prstGeom prst="rect">
            <a:avLst/>
          </a:prstGeom>
          <a:noFill/>
          <a:ln>
            <a:noFill/>
          </a:ln>
        </p:spPr>
      </p:pic>
      <p:pic>
        <p:nvPicPr>
          <p:cNvPr id="219" name="Google Shape;219;p32" descr="preencoded.png"/>
          <p:cNvPicPr preferRelativeResize="0"/>
          <p:nvPr/>
        </p:nvPicPr>
        <p:blipFill rotWithShape="1">
          <a:blip r:embed="rId8">
            <a:alphaModFix/>
          </a:blip>
          <a:srcRect/>
          <a:stretch/>
        </p:blipFill>
        <p:spPr>
          <a:xfrm>
            <a:off x="8549617" y="4346191"/>
            <a:ext cx="594271" cy="797197"/>
          </a:xfrm>
          <a:prstGeom prst="rect">
            <a:avLst/>
          </a:prstGeom>
          <a:noFill/>
          <a:ln>
            <a:noFill/>
          </a:ln>
        </p:spPr>
      </p:pic>
      <p:sp>
        <p:nvSpPr>
          <p:cNvPr id="220" name="Google Shape;220;p32"/>
          <p:cNvSpPr/>
          <p:nvPr/>
        </p:nvSpPr>
        <p:spPr>
          <a:xfrm>
            <a:off x="338324" y="293117"/>
            <a:ext cx="8805600" cy="339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2400"/>
              <a:buFont typeface="Noto Sans Arabic"/>
              <a:buNone/>
            </a:pPr>
            <a:r>
              <a:rPr lang="en" sz="2400" b="1">
                <a:solidFill>
                  <a:srgbClr val="001B3D"/>
                </a:solidFill>
                <a:latin typeface="Noto Sans Arabic"/>
                <a:ea typeface="Noto Sans Arabic"/>
                <a:cs typeface="Noto Sans Arabic"/>
                <a:sym typeface="Noto Sans Arabic"/>
              </a:rPr>
              <a:t>Technical Arabia Inspection Company Ltd. </a:t>
            </a:r>
            <a:endParaRPr sz="2400" b="0" i="0" u="none" strike="noStrike" cap="none">
              <a:solidFill>
                <a:schemeClr val="dk1"/>
              </a:solidFill>
              <a:latin typeface="Calibri"/>
              <a:ea typeface="Calibri"/>
              <a:cs typeface="Calibri"/>
              <a:sym typeface="Calibri"/>
            </a:endParaRPr>
          </a:p>
        </p:txBody>
      </p:sp>
      <p:sp>
        <p:nvSpPr>
          <p:cNvPr id="221" name="Google Shape;221;p32"/>
          <p:cNvSpPr/>
          <p:nvPr/>
        </p:nvSpPr>
        <p:spPr>
          <a:xfrm>
            <a:off x="1252788" y="4482752"/>
            <a:ext cx="6638400" cy="3600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000"/>
              <a:buFont typeface="Noto Sans Arabic"/>
              <a:buNone/>
            </a:pPr>
            <a:r>
              <a:rPr lang="en" sz="1100" b="1">
                <a:solidFill>
                  <a:schemeClr val="lt1"/>
                </a:solidFill>
              </a:rPr>
              <a:t>Active Marketing Channels:</a:t>
            </a:r>
            <a:r>
              <a:rPr lang="en" sz="1100">
                <a:solidFill>
                  <a:schemeClr val="lt1"/>
                </a:solidFill>
              </a:rPr>
              <a:t> Search Engine Marketing (SEM), Google Local Business Ads across Riyadh, Dammam, and Jeddah, Corporate B2B Email Newsletters. </a:t>
            </a:r>
            <a:endParaRPr sz="1000" b="0" i="0" strike="noStrike" cap="none">
              <a:solidFill>
                <a:schemeClr val="lt1"/>
              </a:solidFill>
              <a:latin typeface="Calibri"/>
              <a:ea typeface="Calibri"/>
              <a:cs typeface="Calibri"/>
              <a:sym typeface="Calibri"/>
            </a:endParaRPr>
          </a:p>
        </p:txBody>
      </p:sp>
      <p:pic>
        <p:nvPicPr>
          <p:cNvPr id="222" name="Google Shape;222;p32" descr="preencoded.png"/>
          <p:cNvPicPr preferRelativeResize="0"/>
          <p:nvPr/>
        </p:nvPicPr>
        <p:blipFill rotWithShape="1">
          <a:blip r:embed="rId9">
            <a:alphaModFix/>
          </a:blip>
          <a:srcRect/>
          <a:stretch/>
        </p:blipFill>
        <p:spPr>
          <a:xfrm>
            <a:off x="1733550" y="933788"/>
            <a:ext cx="6572250" cy="3335163"/>
          </a:xfrm>
          <a:prstGeom prst="rect">
            <a:avLst/>
          </a:prstGeom>
          <a:noFill/>
          <a:ln>
            <a:noFill/>
          </a:ln>
        </p:spPr>
      </p:pic>
      <p:sp>
        <p:nvSpPr>
          <p:cNvPr id="223" name="Google Shape;223;p32"/>
          <p:cNvSpPr txBox="1"/>
          <p:nvPr/>
        </p:nvSpPr>
        <p:spPr>
          <a:xfrm>
            <a:off x="1929250" y="1080050"/>
            <a:ext cx="6426300" cy="29577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None/>
            </a:pPr>
            <a:r>
              <a:rPr lang="en" sz="1300" b="1">
                <a:solidFill>
                  <a:srgbClr val="F9A825"/>
                </a:solidFill>
              </a:rPr>
              <a:t>Competitor Profile: Arbrit Safety Training KSA </a:t>
            </a:r>
            <a:endParaRPr sz="1300" b="1">
              <a:solidFill>
                <a:srgbClr val="F9A825"/>
              </a:solidFill>
            </a:endParaRPr>
          </a:p>
          <a:p>
            <a:pPr marL="0" lvl="0" indent="0" algn="l" rtl="0">
              <a:lnSpc>
                <a:spcPct val="115000"/>
              </a:lnSpc>
              <a:spcBef>
                <a:spcPts val="1200"/>
              </a:spcBef>
              <a:spcAft>
                <a:spcPts val="0"/>
              </a:spcAft>
              <a:buClr>
                <a:schemeClr val="dk1"/>
              </a:buClr>
              <a:buSzPts val="1100"/>
              <a:buFont typeface="Arial"/>
              <a:buNone/>
            </a:pPr>
            <a:r>
              <a:rPr lang="en" sz="1200" b="1">
                <a:solidFill>
                  <a:schemeClr val="lt1"/>
                </a:solidFill>
              </a:rPr>
              <a:t>Provider Name:</a:t>
            </a:r>
            <a:r>
              <a:rPr lang="en" sz="1200">
                <a:solidFill>
                  <a:schemeClr val="lt1"/>
                </a:solidFill>
              </a:rPr>
              <a:t> Arbrit Safety Training KSA</a:t>
            </a:r>
            <a:endParaRPr sz="12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lt1"/>
                </a:solidFill>
              </a:rPr>
              <a:t>Website:</a:t>
            </a:r>
            <a:r>
              <a:rPr lang="en" sz="1200">
                <a:solidFill>
                  <a:schemeClr val="lt1"/>
                </a:solidFill>
              </a:rPr>
              <a:t> arbritsafety.sa</a:t>
            </a:r>
            <a:endParaRPr sz="12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lt1"/>
                </a:solidFill>
              </a:rPr>
              <a:t>B2B Offerings in KSA:</a:t>
            </a:r>
            <a:r>
              <a:rPr lang="en" sz="1200">
                <a:solidFill>
                  <a:schemeClr val="lt1"/>
                </a:solidFill>
              </a:rPr>
              <a:t> ROSPA Accredited Defensive Driving (Level 2), Food Safety &amp; Hygiene (GMP, HACCP), Working at Height, Heavy Equipment Safety.</a:t>
            </a:r>
            <a:endParaRPr sz="12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lt1"/>
                </a:solidFill>
              </a:rPr>
              <a:t>Social Media Followers Split:</a:t>
            </a:r>
            <a:endParaRPr sz="1200" b="1">
              <a:solidFill>
                <a:schemeClr val="lt1"/>
              </a:solidFill>
            </a:endParaRPr>
          </a:p>
          <a:p>
            <a:pPr marL="457200" lvl="0" indent="-304800" algn="l" rtl="0">
              <a:lnSpc>
                <a:spcPct val="115000"/>
              </a:lnSpc>
              <a:spcBef>
                <a:spcPts val="1200"/>
              </a:spcBef>
              <a:spcAft>
                <a:spcPts val="0"/>
              </a:spcAft>
              <a:buClr>
                <a:schemeClr val="lt1"/>
              </a:buClr>
              <a:buSzPts val="1200"/>
              <a:buChar char="●"/>
            </a:pPr>
            <a:r>
              <a:rPr lang="en" sz="1200" b="1">
                <a:solidFill>
                  <a:schemeClr val="lt1"/>
                </a:solidFill>
              </a:rPr>
              <a:t>LinkedIn:</a:t>
            </a:r>
            <a:r>
              <a:rPr lang="en" sz="1200">
                <a:solidFill>
                  <a:schemeClr val="lt1"/>
                </a:solidFill>
              </a:rPr>
              <a:t> ~92 followers</a:t>
            </a:r>
            <a:endParaRPr sz="1200">
              <a:solidFill>
                <a:schemeClr val="lt1"/>
              </a:solidFill>
            </a:endParaRPr>
          </a:p>
          <a:p>
            <a:pPr marL="457200" lvl="0" indent="-304800" algn="l" rtl="0">
              <a:lnSpc>
                <a:spcPct val="115000"/>
              </a:lnSpc>
              <a:spcBef>
                <a:spcPts val="0"/>
              </a:spcBef>
              <a:spcAft>
                <a:spcPts val="0"/>
              </a:spcAft>
              <a:buClr>
                <a:schemeClr val="lt1"/>
              </a:buClr>
              <a:buSzPts val="1200"/>
              <a:buChar char="●"/>
            </a:pPr>
            <a:r>
              <a:rPr lang="en" sz="1200" b="1">
                <a:solidFill>
                  <a:schemeClr val="lt1"/>
                </a:solidFill>
              </a:rPr>
              <a:t>Facebook / Instagram:</a:t>
            </a:r>
            <a:r>
              <a:rPr lang="en" sz="1200">
                <a:solidFill>
                  <a:schemeClr val="lt1"/>
                </a:solidFill>
              </a:rPr>
              <a:t> ~110 followers</a:t>
            </a:r>
            <a:endParaRPr sz="1200">
              <a:solidFill>
                <a:schemeClr val="lt1"/>
              </a:solidFill>
            </a:endParaRPr>
          </a:p>
          <a:p>
            <a:pPr marL="0" lvl="0" indent="0" algn="l" rtl="0">
              <a:lnSpc>
                <a:spcPct val="115000"/>
              </a:lnSpc>
              <a:spcBef>
                <a:spcPts val="1200"/>
              </a:spcBef>
              <a:spcAft>
                <a:spcPts val="0"/>
              </a:spcAft>
              <a:buNone/>
            </a:pPr>
            <a:r>
              <a:rPr lang="en" sz="1200" b="1">
                <a:solidFill>
                  <a:schemeClr val="lt1"/>
                </a:solidFill>
              </a:rPr>
              <a:t>Estimated Monthly Ad Spend:</a:t>
            </a:r>
            <a:r>
              <a:rPr lang="en" sz="1200">
                <a:solidFill>
                  <a:schemeClr val="lt1"/>
                </a:solidFill>
              </a:rPr>
              <a:t> SAR 15,000 – SAR 25,000 </a:t>
            </a:r>
            <a:r>
              <a:rPr lang="en" sz="1000">
                <a:solidFill>
                  <a:schemeClr val="lt1"/>
                </a:solidFill>
              </a:rPr>
              <a:t>(Based on SEMRSUH DATA)</a:t>
            </a:r>
            <a:endParaRPr sz="1200" b="1">
              <a:solidFill>
                <a:schemeClr val="lt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lt1"/>
              </a:solidFill>
            </a:endParaRPr>
          </a:p>
          <a:p>
            <a:pPr marL="0" lvl="0" indent="0" algn="l" rtl="0">
              <a:lnSpc>
                <a:spcPct val="115000"/>
              </a:lnSpc>
              <a:spcBef>
                <a:spcPts val="0"/>
              </a:spcBef>
              <a:spcAft>
                <a:spcPts val="0"/>
              </a:spcAft>
              <a:buNone/>
            </a:pPr>
            <a:endParaRPr sz="1100" b="1">
              <a:solidFill>
                <a:schemeClr val="lt1"/>
              </a:solidFill>
            </a:endParaRPr>
          </a:p>
        </p:txBody>
      </p:sp>
      <p:pic>
        <p:nvPicPr>
          <p:cNvPr id="224" name="Google Shape;224;p32" title="images (27).jfif"/>
          <p:cNvPicPr preferRelativeResize="0"/>
          <p:nvPr/>
        </p:nvPicPr>
        <p:blipFill>
          <a:blip r:embed="rId10">
            <a:alphaModFix/>
          </a:blip>
          <a:stretch>
            <a:fillRect/>
          </a:stretch>
        </p:blipFill>
        <p:spPr>
          <a:xfrm>
            <a:off x="84675" y="1703246"/>
            <a:ext cx="1566326" cy="633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p33" descr="preencoded.png"/>
          <p:cNvPicPr preferRelativeResize="0"/>
          <p:nvPr/>
        </p:nvPicPr>
        <p:blipFill rotWithShape="1">
          <a:blip r:embed="rId3">
            <a:alphaModFix/>
          </a:blip>
          <a:srcRect/>
          <a:stretch/>
        </p:blipFill>
        <p:spPr>
          <a:xfrm>
            <a:off x="383977" y="158502"/>
            <a:ext cx="383977" cy="42863"/>
          </a:xfrm>
          <a:prstGeom prst="rect">
            <a:avLst/>
          </a:prstGeom>
          <a:noFill/>
          <a:ln>
            <a:noFill/>
          </a:ln>
        </p:spPr>
      </p:pic>
      <p:pic>
        <p:nvPicPr>
          <p:cNvPr id="231" name="Google Shape;231;p33" descr="preencoded.png"/>
          <p:cNvPicPr preferRelativeResize="0"/>
          <p:nvPr/>
        </p:nvPicPr>
        <p:blipFill rotWithShape="1">
          <a:blip r:embed="rId4">
            <a:alphaModFix/>
          </a:blip>
          <a:srcRect/>
          <a:stretch/>
        </p:blipFill>
        <p:spPr>
          <a:xfrm>
            <a:off x="4522664" y="1080046"/>
            <a:ext cx="7144" cy="3188902"/>
          </a:xfrm>
          <a:prstGeom prst="rect">
            <a:avLst/>
          </a:prstGeom>
          <a:noFill/>
          <a:ln>
            <a:noFill/>
          </a:ln>
        </p:spPr>
      </p:pic>
      <p:pic>
        <p:nvPicPr>
          <p:cNvPr id="232" name="Google Shape;232;p33" descr="preencoded.png"/>
          <p:cNvPicPr preferRelativeResize="0"/>
          <p:nvPr/>
        </p:nvPicPr>
        <p:blipFill rotWithShape="1">
          <a:blip r:embed="rId5">
            <a:alphaModFix/>
          </a:blip>
          <a:srcRect/>
          <a:stretch/>
        </p:blipFill>
        <p:spPr>
          <a:xfrm>
            <a:off x="4610507" y="2628674"/>
            <a:ext cx="40411" cy="40412"/>
          </a:xfrm>
          <a:prstGeom prst="rect">
            <a:avLst/>
          </a:prstGeom>
          <a:noFill/>
          <a:ln>
            <a:noFill/>
          </a:ln>
        </p:spPr>
      </p:pic>
      <p:pic>
        <p:nvPicPr>
          <p:cNvPr id="233" name="Google Shape;233;p33" descr="preencoded.png"/>
          <p:cNvPicPr preferRelativeResize="0"/>
          <p:nvPr/>
        </p:nvPicPr>
        <p:blipFill rotWithShape="1">
          <a:blip r:embed="rId6">
            <a:alphaModFix/>
          </a:blip>
          <a:srcRect/>
          <a:stretch/>
        </p:blipFill>
        <p:spPr>
          <a:xfrm>
            <a:off x="329175" y="4346200"/>
            <a:ext cx="8357500" cy="633100"/>
          </a:xfrm>
          <a:prstGeom prst="rect">
            <a:avLst/>
          </a:prstGeom>
          <a:noFill/>
          <a:ln>
            <a:noFill/>
          </a:ln>
        </p:spPr>
      </p:pic>
      <p:pic>
        <p:nvPicPr>
          <p:cNvPr id="234" name="Google Shape;234;p33" descr="preencoded.png"/>
          <p:cNvPicPr preferRelativeResize="0"/>
          <p:nvPr/>
        </p:nvPicPr>
        <p:blipFill rotWithShape="1">
          <a:blip r:embed="rId7">
            <a:alphaModFix/>
          </a:blip>
          <a:srcRect/>
          <a:stretch/>
        </p:blipFill>
        <p:spPr>
          <a:xfrm>
            <a:off x="0" y="4346191"/>
            <a:ext cx="502853" cy="797197"/>
          </a:xfrm>
          <a:prstGeom prst="rect">
            <a:avLst/>
          </a:prstGeom>
          <a:noFill/>
          <a:ln>
            <a:noFill/>
          </a:ln>
        </p:spPr>
      </p:pic>
      <p:pic>
        <p:nvPicPr>
          <p:cNvPr id="235" name="Google Shape;235;p33" descr="preencoded.png"/>
          <p:cNvPicPr preferRelativeResize="0"/>
          <p:nvPr/>
        </p:nvPicPr>
        <p:blipFill rotWithShape="1">
          <a:blip r:embed="rId8">
            <a:alphaModFix/>
          </a:blip>
          <a:srcRect/>
          <a:stretch/>
        </p:blipFill>
        <p:spPr>
          <a:xfrm>
            <a:off x="8549617" y="4346191"/>
            <a:ext cx="594271" cy="797197"/>
          </a:xfrm>
          <a:prstGeom prst="rect">
            <a:avLst/>
          </a:prstGeom>
          <a:noFill/>
          <a:ln>
            <a:noFill/>
          </a:ln>
        </p:spPr>
      </p:pic>
      <p:sp>
        <p:nvSpPr>
          <p:cNvPr id="236" name="Google Shape;236;p33"/>
          <p:cNvSpPr/>
          <p:nvPr/>
        </p:nvSpPr>
        <p:spPr>
          <a:xfrm>
            <a:off x="338324" y="293117"/>
            <a:ext cx="8805600" cy="339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2400"/>
              <a:buFont typeface="Noto Sans Arabic"/>
              <a:buNone/>
            </a:pPr>
            <a:r>
              <a:rPr lang="en" sz="2400" b="1">
                <a:solidFill>
                  <a:srgbClr val="001B3D"/>
                </a:solidFill>
                <a:latin typeface="Noto Sans Arabic"/>
                <a:ea typeface="Noto Sans Arabic"/>
                <a:cs typeface="Noto Sans Arabic"/>
                <a:sym typeface="Noto Sans Arabic"/>
              </a:rPr>
              <a:t>Technical Arabia Inspection Company Ltd. </a:t>
            </a:r>
            <a:endParaRPr sz="2400" b="0" i="0" u="none" strike="noStrike" cap="none">
              <a:solidFill>
                <a:schemeClr val="dk1"/>
              </a:solidFill>
              <a:latin typeface="Calibri"/>
              <a:ea typeface="Calibri"/>
              <a:cs typeface="Calibri"/>
              <a:sym typeface="Calibri"/>
            </a:endParaRPr>
          </a:p>
        </p:txBody>
      </p:sp>
      <p:sp>
        <p:nvSpPr>
          <p:cNvPr id="237" name="Google Shape;237;p33"/>
          <p:cNvSpPr/>
          <p:nvPr/>
        </p:nvSpPr>
        <p:spPr>
          <a:xfrm>
            <a:off x="1252788" y="4482752"/>
            <a:ext cx="6638400" cy="3600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000"/>
              <a:buFont typeface="Noto Sans Arabic"/>
              <a:buNone/>
            </a:pPr>
            <a:r>
              <a:rPr lang="en" sz="1100" b="1">
                <a:solidFill>
                  <a:schemeClr val="lt1"/>
                </a:solidFill>
              </a:rPr>
              <a:t>Meta Ads (Instagram targeting F&amp;B / Hotel Operations Managers), WhatsApp Business Direct Marketing, TVTC-approved Corporate Catalog Distribution. </a:t>
            </a:r>
            <a:endParaRPr sz="1000" b="0" i="0" strike="noStrike" cap="none">
              <a:solidFill>
                <a:schemeClr val="lt1"/>
              </a:solidFill>
              <a:latin typeface="Calibri"/>
              <a:ea typeface="Calibri"/>
              <a:cs typeface="Calibri"/>
              <a:sym typeface="Calibri"/>
            </a:endParaRPr>
          </a:p>
        </p:txBody>
      </p:sp>
      <p:pic>
        <p:nvPicPr>
          <p:cNvPr id="238" name="Google Shape;238;p33" descr="preencoded.png"/>
          <p:cNvPicPr preferRelativeResize="0"/>
          <p:nvPr/>
        </p:nvPicPr>
        <p:blipFill rotWithShape="1">
          <a:blip r:embed="rId9">
            <a:alphaModFix/>
          </a:blip>
          <a:srcRect/>
          <a:stretch/>
        </p:blipFill>
        <p:spPr>
          <a:xfrm>
            <a:off x="1733550" y="933788"/>
            <a:ext cx="6572250" cy="3335163"/>
          </a:xfrm>
          <a:prstGeom prst="rect">
            <a:avLst/>
          </a:prstGeom>
          <a:noFill/>
          <a:ln>
            <a:noFill/>
          </a:ln>
        </p:spPr>
      </p:pic>
      <p:sp>
        <p:nvSpPr>
          <p:cNvPr id="239" name="Google Shape;239;p33"/>
          <p:cNvSpPr txBox="1"/>
          <p:nvPr/>
        </p:nvSpPr>
        <p:spPr>
          <a:xfrm>
            <a:off x="1929250" y="1080050"/>
            <a:ext cx="6426300" cy="29553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None/>
            </a:pPr>
            <a:r>
              <a:rPr lang="en" sz="1300" b="1">
                <a:solidFill>
                  <a:srgbClr val="F9A825"/>
                </a:solidFill>
              </a:rPr>
              <a:t>Competitor Profile: Future Leaders Training Center (FLTC) </a:t>
            </a:r>
            <a:endParaRPr sz="1300" b="1">
              <a:solidFill>
                <a:srgbClr val="F9A825"/>
              </a:solidFill>
            </a:endParaRPr>
          </a:p>
          <a:p>
            <a:pPr marL="0" lvl="0" indent="0" algn="l" rtl="0">
              <a:lnSpc>
                <a:spcPct val="115000"/>
              </a:lnSpc>
              <a:spcBef>
                <a:spcPts val="1200"/>
              </a:spcBef>
              <a:spcAft>
                <a:spcPts val="0"/>
              </a:spcAft>
              <a:buClr>
                <a:schemeClr val="dk1"/>
              </a:buClr>
              <a:buSzPts val="1100"/>
              <a:buFont typeface="Arial"/>
              <a:buNone/>
            </a:pPr>
            <a:r>
              <a:rPr lang="en" sz="1200" b="1">
                <a:solidFill>
                  <a:schemeClr val="lt1"/>
                </a:solidFill>
              </a:rPr>
              <a:t>Provider Name:</a:t>
            </a:r>
            <a:r>
              <a:rPr lang="en" sz="1200">
                <a:solidFill>
                  <a:schemeClr val="lt1"/>
                </a:solidFill>
              </a:rPr>
              <a:t> Future Leaders Training Center (FLTC)</a:t>
            </a:r>
            <a:endParaRPr sz="12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lt1"/>
                </a:solidFill>
              </a:rPr>
              <a:t>Website:</a:t>
            </a:r>
            <a:r>
              <a:rPr lang="en" sz="1200">
                <a:solidFill>
                  <a:schemeClr val="lt1"/>
                </a:solidFill>
              </a:rPr>
              <a:t> fltc.com.sa</a:t>
            </a:r>
            <a:endParaRPr sz="12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lt1"/>
                </a:solidFill>
              </a:rPr>
              <a:t>B2B Offerings in KSA:</a:t>
            </a:r>
            <a:r>
              <a:rPr lang="en" sz="1200">
                <a:solidFill>
                  <a:schemeClr val="lt1"/>
                </a:solidFill>
              </a:rPr>
              <a:t> Food Safety &amp; HACCP (Level 1–3), Defensive Driving, Industrial Safety, Soft Skills / Hospitality Operations.</a:t>
            </a:r>
            <a:endParaRPr sz="1200">
              <a:solidFill>
                <a:schemeClr val="lt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lt1"/>
                </a:solidFill>
              </a:rPr>
              <a:t>Social Media Followers Split:</a:t>
            </a:r>
            <a:endParaRPr sz="1200" b="1">
              <a:solidFill>
                <a:schemeClr val="lt1"/>
              </a:solidFill>
            </a:endParaRPr>
          </a:p>
          <a:p>
            <a:pPr marL="457200" lvl="0" indent="-304800" algn="l" rtl="0">
              <a:lnSpc>
                <a:spcPct val="115000"/>
              </a:lnSpc>
              <a:spcBef>
                <a:spcPts val="1200"/>
              </a:spcBef>
              <a:spcAft>
                <a:spcPts val="0"/>
              </a:spcAft>
              <a:buClr>
                <a:schemeClr val="lt1"/>
              </a:buClr>
              <a:buSzPts val="1200"/>
              <a:buChar char="●"/>
            </a:pPr>
            <a:r>
              <a:rPr lang="en" sz="1200" b="1">
                <a:solidFill>
                  <a:schemeClr val="lt1"/>
                </a:solidFill>
              </a:rPr>
              <a:t>LinkedIn:</a:t>
            </a:r>
            <a:r>
              <a:rPr lang="en" sz="1200">
                <a:solidFill>
                  <a:schemeClr val="lt1"/>
                </a:solidFill>
              </a:rPr>
              <a:t> ~9,200 followers</a:t>
            </a:r>
            <a:endParaRPr sz="1200">
              <a:solidFill>
                <a:schemeClr val="lt1"/>
              </a:solidFill>
            </a:endParaRPr>
          </a:p>
          <a:p>
            <a:pPr marL="457200" lvl="0" indent="-304800" algn="l" rtl="0">
              <a:lnSpc>
                <a:spcPct val="115000"/>
              </a:lnSpc>
              <a:spcBef>
                <a:spcPts val="0"/>
              </a:spcBef>
              <a:spcAft>
                <a:spcPts val="0"/>
              </a:spcAft>
              <a:buClr>
                <a:schemeClr val="lt1"/>
              </a:buClr>
              <a:buSzPts val="1200"/>
              <a:buChar char="●"/>
            </a:pPr>
            <a:r>
              <a:rPr lang="en" sz="1200" b="1">
                <a:solidFill>
                  <a:schemeClr val="lt1"/>
                </a:solidFill>
              </a:rPr>
              <a:t>Instagram / Facebook:</a:t>
            </a:r>
            <a:r>
              <a:rPr lang="en" sz="1200">
                <a:solidFill>
                  <a:schemeClr val="lt1"/>
                </a:solidFill>
              </a:rPr>
              <a:t> ~14,000 followers</a:t>
            </a:r>
            <a:endParaRPr sz="1200">
              <a:solidFill>
                <a:schemeClr val="lt1"/>
              </a:solidFill>
            </a:endParaRPr>
          </a:p>
          <a:p>
            <a:pPr marL="0" lvl="0" indent="0" algn="l" rtl="0">
              <a:lnSpc>
                <a:spcPct val="115000"/>
              </a:lnSpc>
              <a:spcBef>
                <a:spcPts val="1200"/>
              </a:spcBef>
              <a:spcAft>
                <a:spcPts val="0"/>
              </a:spcAft>
              <a:buNone/>
            </a:pPr>
            <a:r>
              <a:rPr lang="en" sz="1200" b="1">
                <a:solidFill>
                  <a:schemeClr val="lt1"/>
                </a:solidFill>
              </a:rPr>
              <a:t>Estimated Monthly Ad Spend:</a:t>
            </a:r>
            <a:r>
              <a:rPr lang="en" sz="1200">
                <a:solidFill>
                  <a:schemeClr val="lt1"/>
                </a:solidFill>
              </a:rPr>
              <a:t> SAR 12,000 – SAR 22,000   (Based on SEMRSUH DATA)</a:t>
            </a:r>
            <a:endParaRPr sz="1200" b="1">
              <a:solidFill>
                <a:schemeClr val="lt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0"/>
              </a:spcBef>
              <a:spcAft>
                <a:spcPts val="0"/>
              </a:spcAft>
              <a:buNone/>
            </a:pPr>
            <a:endParaRPr sz="1200" b="1">
              <a:solidFill>
                <a:schemeClr val="lt1"/>
              </a:solidFill>
            </a:endParaRPr>
          </a:p>
        </p:txBody>
      </p:sp>
      <p:pic>
        <p:nvPicPr>
          <p:cNvPr id="240" name="Google Shape;240;p33" title="1778528484278.jfif"/>
          <p:cNvPicPr preferRelativeResize="0"/>
          <p:nvPr/>
        </p:nvPicPr>
        <p:blipFill>
          <a:blip r:embed="rId10">
            <a:alphaModFix/>
          </a:blip>
          <a:stretch>
            <a:fillRect/>
          </a:stretch>
        </p:blipFill>
        <p:spPr>
          <a:xfrm>
            <a:off x="217100" y="1471100"/>
            <a:ext cx="1402150" cy="140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34"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247" name="Google Shape;247;p34" descr="preencoded.png"/>
          <p:cNvPicPr preferRelativeResize="0"/>
          <p:nvPr/>
        </p:nvPicPr>
        <p:blipFill rotWithShape="1">
          <a:blip r:embed="rId4">
            <a:alphaModFix/>
          </a:blip>
          <a:srcRect/>
          <a:stretch/>
        </p:blipFill>
        <p:spPr>
          <a:xfrm>
            <a:off x="0" y="0"/>
            <a:ext cx="594271" cy="2391705"/>
          </a:xfrm>
          <a:prstGeom prst="rect">
            <a:avLst/>
          </a:prstGeom>
          <a:noFill/>
          <a:ln>
            <a:noFill/>
          </a:ln>
        </p:spPr>
      </p:pic>
      <p:pic>
        <p:nvPicPr>
          <p:cNvPr id="248" name="Google Shape;248;p34" descr="preencoded.png"/>
          <p:cNvPicPr preferRelativeResize="0"/>
          <p:nvPr/>
        </p:nvPicPr>
        <p:blipFill rotWithShape="1">
          <a:blip r:embed="rId5">
            <a:alphaModFix/>
          </a:blip>
          <a:srcRect/>
          <a:stretch/>
        </p:blipFill>
        <p:spPr>
          <a:xfrm>
            <a:off x="7498035" y="3435809"/>
            <a:ext cx="1645853" cy="1707580"/>
          </a:xfrm>
          <a:prstGeom prst="rect">
            <a:avLst/>
          </a:prstGeom>
          <a:noFill/>
          <a:ln>
            <a:noFill/>
          </a:ln>
        </p:spPr>
      </p:pic>
      <p:pic>
        <p:nvPicPr>
          <p:cNvPr id="249" name="Google Shape;249;p34" descr="preencoded.png"/>
          <p:cNvPicPr preferRelativeResize="0"/>
          <p:nvPr/>
        </p:nvPicPr>
        <p:blipFill rotWithShape="1">
          <a:blip r:embed="rId6">
            <a:alphaModFix/>
          </a:blip>
          <a:srcRect/>
          <a:stretch/>
        </p:blipFill>
        <p:spPr>
          <a:xfrm>
            <a:off x="703994" y="758801"/>
            <a:ext cx="1627547" cy="35719"/>
          </a:xfrm>
          <a:prstGeom prst="rect">
            <a:avLst/>
          </a:prstGeom>
          <a:noFill/>
          <a:ln>
            <a:noFill/>
          </a:ln>
        </p:spPr>
      </p:pic>
      <p:pic>
        <p:nvPicPr>
          <p:cNvPr id="250" name="Google Shape;250;p34" descr="preencoded.png"/>
          <p:cNvPicPr preferRelativeResize="0"/>
          <p:nvPr/>
        </p:nvPicPr>
        <p:blipFill rotWithShape="1">
          <a:blip r:embed="rId7">
            <a:alphaModFix/>
          </a:blip>
          <a:srcRect/>
          <a:stretch/>
        </p:blipFill>
        <p:spPr>
          <a:xfrm>
            <a:off x="1549859" y="1246571"/>
            <a:ext cx="2935188" cy="1594619"/>
          </a:xfrm>
          <a:prstGeom prst="rect">
            <a:avLst/>
          </a:prstGeom>
          <a:noFill/>
          <a:ln>
            <a:noFill/>
          </a:ln>
        </p:spPr>
      </p:pic>
      <p:pic>
        <p:nvPicPr>
          <p:cNvPr id="251" name="Google Shape;251;p34" descr="preencoded.png"/>
          <p:cNvPicPr preferRelativeResize="0"/>
          <p:nvPr/>
        </p:nvPicPr>
        <p:blipFill rotWithShape="1">
          <a:blip r:embed="rId8">
            <a:alphaModFix/>
          </a:blip>
          <a:srcRect/>
          <a:stretch/>
        </p:blipFill>
        <p:spPr>
          <a:xfrm>
            <a:off x="1490365" y="1028700"/>
            <a:ext cx="2935188" cy="82265"/>
          </a:xfrm>
          <a:prstGeom prst="rect">
            <a:avLst/>
          </a:prstGeom>
          <a:noFill/>
          <a:ln>
            <a:noFill/>
          </a:ln>
        </p:spPr>
      </p:pic>
      <p:pic>
        <p:nvPicPr>
          <p:cNvPr id="252" name="Google Shape;252;p34" descr="preencoded.png"/>
          <p:cNvPicPr preferRelativeResize="0"/>
          <p:nvPr/>
        </p:nvPicPr>
        <p:blipFill rotWithShape="1">
          <a:blip r:embed="rId9">
            <a:alphaModFix/>
          </a:blip>
          <a:srcRect/>
          <a:stretch/>
        </p:blipFill>
        <p:spPr>
          <a:xfrm>
            <a:off x="1490365" y="2718494"/>
            <a:ext cx="2935188" cy="226256"/>
          </a:xfrm>
          <a:prstGeom prst="rect">
            <a:avLst/>
          </a:prstGeom>
          <a:noFill/>
          <a:ln>
            <a:noFill/>
          </a:ln>
        </p:spPr>
      </p:pic>
      <p:pic>
        <p:nvPicPr>
          <p:cNvPr id="253" name="Google Shape;253;p34" descr="preencoded.png"/>
          <p:cNvPicPr preferRelativeResize="0"/>
          <p:nvPr/>
        </p:nvPicPr>
        <p:blipFill rotWithShape="1">
          <a:blip r:embed="rId10">
            <a:alphaModFix/>
          </a:blip>
          <a:srcRect/>
          <a:stretch/>
        </p:blipFill>
        <p:spPr>
          <a:xfrm>
            <a:off x="2816312" y="1931938"/>
            <a:ext cx="274253" cy="14288"/>
          </a:xfrm>
          <a:prstGeom prst="rect">
            <a:avLst/>
          </a:prstGeom>
          <a:noFill/>
          <a:ln>
            <a:noFill/>
          </a:ln>
        </p:spPr>
      </p:pic>
      <p:pic>
        <p:nvPicPr>
          <p:cNvPr id="254" name="Google Shape;254;p34" descr="preencoded.png"/>
          <p:cNvPicPr preferRelativeResize="0"/>
          <p:nvPr/>
        </p:nvPicPr>
        <p:blipFill rotWithShape="1">
          <a:blip r:embed="rId11">
            <a:alphaModFix/>
          </a:blip>
          <a:srcRect/>
          <a:stretch/>
        </p:blipFill>
        <p:spPr>
          <a:xfrm>
            <a:off x="4645111" y="1146907"/>
            <a:ext cx="2935188" cy="1805360"/>
          </a:xfrm>
          <a:prstGeom prst="rect">
            <a:avLst/>
          </a:prstGeom>
          <a:noFill/>
          <a:ln>
            <a:noFill/>
          </a:ln>
        </p:spPr>
      </p:pic>
      <p:pic>
        <p:nvPicPr>
          <p:cNvPr id="255" name="Google Shape;255;p34" descr="preencoded.png"/>
          <p:cNvPicPr preferRelativeResize="0"/>
          <p:nvPr/>
        </p:nvPicPr>
        <p:blipFill rotWithShape="1">
          <a:blip r:embed="rId12">
            <a:alphaModFix/>
          </a:blip>
          <a:srcRect/>
          <a:stretch/>
        </p:blipFill>
        <p:spPr>
          <a:xfrm>
            <a:off x="4645111" y="1028700"/>
            <a:ext cx="2935188" cy="82265"/>
          </a:xfrm>
          <a:prstGeom prst="rect">
            <a:avLst/>
          </a:prstGeom>
          <a:noFill/>
          <a:ln>
            <a:noFill/>
          </a:ln>
        </p:spPr>
      </p:pic>
      <p:pic>
        <p:nvPicPr>
          <p:cNvPr id="256" name="Google Shape;256;p34" descr="preencoded.png"/>
          <p:cNvPicPr preferRelativeResize="0"/>
          <p:nvPr/>
        </p:nvPicPr>
        <p:blipFill rotWithShape="1">
          <a:blip r:embed="rId13">
            <a:alphaModFix/>
          </a:blip>
          <a:srcRect/>
          <a:stretch/>
        </p:blipFill>
        <p:spPr>
          <a:xfrm>
            <a:off x="4645111" y="2726358"/>
            <a:ext cx="2935188" cy="226256"/>
          </a:xfrm>
          <a:prstGeom prst="rect">
            <a:avLst/>
          </a:prstGeom>
          <a:noFill/>
          <a:ln>
            <a:noFill/>
          </a:ln>
        </p:spPr>
      </p:pic>
      <p:pic>
        <p:nvPicPr>
          <p:cNvPr id="257" name="Google Shape;257;p34" descr="preencoded.png"/>
          <p:cNvPicPr preferRelativeResize="0"/>
          <p:nvPr/>
        </p:nvPicPr>
        <p:blipFill rotWithShape="1">
          <a:blip r:embed="rId10">
            <a:alphaModFix/>
          </a:blip>
          <a:srcRect/>
          <a:stretch/>
        </p:blipFill>
        <p:spPr>
          <a:xfrm>
            <a:off x="5970947" y="1931938"/>
            <a:ext cx="274253" cy="14288"/>
          </a:xfrm>
          <a:prstGeom prst="rect">
            <a:avLst/>
          </a:prstGeom>
          <a:noFill/>
          <a:ln>
            <a:noFill/>
          </a:ln>
        </p:spPr>
      </p:pic>
      <p:pic>
        <p:nvPicPr>
          <p:cNvPr id="258" name="Google Shape;258;p34" descr="preencoded.png"/>
          <p:cNvPicPr preferRelativeResize="0"/>
          <p:nvPr/>
        </p:nvPicPr>
        <p:blipFill rotWithShape="1">
          <a:blip r:embed="rId14">
            <a:alphaModFix/>
          </a:blip>
          <a:srcRect/>
          <a:stretch/>
        </p:blipFill>
        <p:spPr>
          <a:xfrm>
            <a:off x="1490365" y="3172941"/>
            <a:ext cx="2935188" cy="1806364"/>
          </a:xfrm>
          <a:prstGeom prst="rect">
            <a:avLst/>
          </a:prstGeom>
          <a:noFill/>
          <a:ln>
            <a:noFill/>
          </a:ln>
        </p:spPr>
      </p:pic>
      <p:pic>
        <p:nvPicPr>
          <p:cNvPr id="259" name="Google Shape;259;p34" descr="preencoded.png"/>
          <p:cNvPicPr preferRelativeResize="0"/>
          <p:nvPr/>
        </p:nvPicPr>
        <p:blipFill rotWithShape="1">
          <a:blip r:embed="rId15">
            <a:alphaModFix/>
          </a:blip>
          <a:srcRect/>
          <a:stretch/>
        </p:blipFill>
        <p:spPr>
          <a:xfrm>
            <a:off x="1490365" y="3050047"/>
            <a:ext cx="2935188" cy="82265"/>
          </a:xfrm>
          <a:prstGeom prst="rect">
            <a:avLst/>
          </a:prstGeom>
          <a:noFill/>
          <a:ln>
            <a:noFill/>
          </a:ln>
        </p:spPr>
      </p:pic>
      <p:pic>
        <p:nvPicPr>
          <p:cNvPr id="260" name="Google Shape;260;p34" descr="preencoded.png"/>
          <p:cNvPicPr preferRelativeResize="0"/>
          <p:nvPr/>
        </p:nvPicPr>
        <p:blipFill rotWithShape="1">
          <a:blip r:embed="rId9">
            <a:alphaModFix/>
          </a:blip>
          <a:srcRect/>
          <a:stretch/>
        </p:blipFill>
        <p:spPr>
          <a:xfrm>
            <a:off x="1490365" y="4760258"/>
            <a:ext cx="2935188" cy="226256"/>
          </a:xfrm>
          <a:prstGeom prst="rect">
            <a:avLst/>
          </a:prstGeom>
          <a:noFill/>
          <a:ln>
            <a:noFill/>
          </a:ln>
        </p:spPr>
      </p:pic>
      <p:pic>
        <p:nvPicPr>
          <p:cNvPr id="261" name="Google Shape;261;p34" descr="preencoded.png"/>
          <p:cNvPicPr preferRelativeResize="0"/>
          <p:nvPr/>
        </p:nvPicPr>
        <p:blipFill rotWithShape="1">
          <a:blip r:embed="rId10">
            <a:alphaModFix/>
          </a:blip>
          <a:srcRect/>
          <a:stretch/>
        </p:blipFill>
        <p:spPr>
          <a:xfrm>
            <a:off x="2816312" y="3953285"/>
            <a:ext cx="274253" cy="14288"/>
          </a:xfrm>
          <a:prstGeom prst="rect">
            <a:avLst/>
          </a:prstGeom>
          <a:noFill/>
          <a:ln>
            <a:noFill/>
          </a:ln>
        </p:spPr>
      </p:pic>
      <p:pic>
        <p:nvPicPr>
          <p:cNvPr id="262" name="Google Shape;262;p34" descr="preencoded.png"/>
          <p:cNvPicPr preferRelativeResize="0"/>
          <p:nvPr/>
        </p:nvPicPr>
        <p:blipFill rotWithShape="1">
          <a:blip r:embed="rId16">
            <a:alphaModFix/>
          </a:blip>
          <a:srcRect/>
          <a:stretch/>
        </p:blipFill>
        <p:spPr>
          <a:xfrm>
            <a:off x="4645111" y="3229533"/>
            <a:ext cx="2935188" cy="1749772"/>
          </a:xfrm>
          <a:prstGeom prst="rect">
            <a:avLst/>
          </a:prstGeom>
          <a:noFill/>
          <a:ln>
            <a:noFill/>
          </a:ln>
        </p:spPr>
      </p:pic>
      <p:pic>
        <p:nvPicPr>
          <p:cNvPr id="263" name="Google Shape;263;p34" descr="preencoded.png"/>
          <p:cNvPicPr preferRelativeResize="0"/>
          <p:nvPr/>
        </p:nvPicPr>
        <p:blipFill rotWithShape="1">
          <a:blip r:embed="rId17">
            <a:alphaModFix/>
          </a:blip>
          <a:srcRect/>
          <a:stretch/>
        </p:blipFill>
        <p:spPr>
          <a:xfrm>
            <a:off x="4645111" y="3050047"/>
            <a:ext cx="2935188" cy="82265"/>
          </a:xfrm>
          <a:prstGeom prst="rect">
            <a:avLst/>
          </a:prstGeom>
          <a:noFill/>
          <a:ln>
            <a:noFill/>
          </a:ln>
        </p:spPr>
      </p:pic>
      <p:pic>
        <p:nvPicPr>
          <p:cNvPr id="264" name="Google Shape;264;p34" descr="preencoded.png"/>
          <p:cNvPicPr preferRelativeResize="0"/>
          <p:nvPr/>
        </p:nvPicPr>
        <p:blipFill rotWithShape="1">
          <a:blip r:embed="rId18">
            <a:alphaModFix/>
          </a:blip>
          <a:srcRect/>
          <a:stretch/>
        </p:blipFill>
        <p:spPr>
          <a:xfrm>
            <a:off x="4645111" y="4769661"/>
            <a:ext cx="2935188" cy="216433"/>
          </a:xfrm>
          <a:prstGeom prst="rect">
            <a:avLst/>
          </a:prstGeom>
          <a:noFill/>
          <a:ln>
            <a:noFill/>
          </a:ln>
        </p:spPr>
      </p:pic>
      <p:pic>
        <p:nvPicPr>
          <p:cNvPr id="265" name="Google Shape;265;p34" descr="preencoded.png"/>
          <p:cNvPicPr preferRelativeResize="0"/>
          <p:nvPr/>
        </p:nvPicPr>
        <p:blipFill rotWithShape="1">
          <a:blip r:embed="rId10">
            <a:alphaModFix/>
          </a:blip>
          <a:srcRect/>
          <a:stretch/>
        </p:blipFill>
        <p:spPr>
          <a:xfrm>
            <a:off x="5970947" y="3953285"/>
            <a:ext cx="274253" cy="14288"/>
          </a:xfrm>
          <a:prstGeom prst="rect">
            <a:avLst/>
          </a:prstGeom>
          <a:noFill/>
          <a:ln>
            <a:noFill/>
          </a:ln>
        </p:spPr>
      </p:pic>
      <p:pic>
        <p:nvPicPr>
          <p:cNvPr id="266" name="Google Shape;266;p34" descr="preencoded.png"/>
          <p:cNvPicPr preferRelativeResize="0"/>
          <p:nvPr/>
        </p:nvPicPr>
        <p:blipFill rotWithShape="1">
          <a:blip r:embed="rId19">
            <a:alphaModFix/>
          </a:blip>
          <a:srcRect/>
          <a:stretch/>
        </p:blipFill>
        <p:spPr>
          <a:xfrm>
            <a:off x="5632624" y="3286683"/>
            <a:ext cx="896094" cy="396032"/>
          </a:xfrm>
          <a:prstGeom prst="rect">
            <a:avLst/>
          </a:prstGeom>
          <a:noFill/>
          <a:ln>
            <a:noFill/>
          </a:ln>
        </p:spPr>
      </p:pic>
      <p:pic>
        <p:nvPicPr>
          <p:cNvPr id="267" name="Google Shape;267;p34" descr="preencoded.png"/>
          <p:cNvPicPr preferRelativeResize="0"/>
          <p:nvPr/>
        </p:nvPicPr>
        <p:blipFill rotWithShape="1">
          <a:blip r:embed="rId20">
            <a:alphaModFix/>
          </a:blip>
          <a:srcRect/>
          <a:stretch/>
        </p:blipFill>
        <p:spPr>
          <a:xfrm>
            <a:off x="5879530" y="1208633"/>
            <a:ext cx="448047" cy="442243"/>
          </a:xfrm>
          <a:prstGeom prst="rect">
            <a:avLst/>
          </a:prstGeom>
          <a:noFill/>
          <a:ln>
            <a:noFill/>
          </a:ln>
        </p:spPr>
      </p:pic>
      <p:pic>
        <p:nvPicPr>
          <p:cNvPr id="268" name="Google Shape;268;p34" descr="preencoded.png"/>
          <p:cNvPicPr preferRelativeResize="0"/>
          <p:nvPr/>
        </p:nvPicPr>
        <p:blipFill rotWithShape="1">
          <a:blip r:embed="rId21">
            <a:alphaModFix/>
          </a:blip>
          <a:srcRect/>
          <a:stretch/>
        </p:blipFill>
        <p:spPr>
          <a:xfrm>
            <a:off x="2715741" y="3230091"/>
            <a:ext cx="512006" cy="452624"/>
          </a:xfrm>
          <a:prstGeom prst="rect">
            <a:avLst/>
          </a:prstGeom>
          <a:noFill/>
          <a:ln>
            <a:noFill/>
          </a:ln>
        </p:spPr>
      </p:pic>
      <p:pic>
        <p:nvPicPr>
          <p:cNvPr id="269" name="Google Shape;269;p34" descr="preencoded.png"/>
          <p:cNvPicPr preferRelativeResize="0"/>
          <p:nvPr/>
        </p:nvPicPr>
        <p:blipFill rotWithShape="1">
          <a:blip r:embed="rId22">
            <a:alphaModFix/>
          </a:blip>
          <a:srcRect/>
          <a:stretch/>
        </p:blipFill>
        <p:spPr>
          <a:xfrm>
            <a:off x="2798006" y="1208633"/>
            <a:ext cx="320017" cy="447377"/>
          </a:xfrm>
          <a:prstGeom prst="rect">
            <a:avLst/>
          </a:prstGeom>
          <a:noFill/>
          <a:ln>
            <a:noFill/>
          </a:ln>
        </p:spPr>
      </p:pic>
      <p:sp>
        <p:nvSpPr>
          <p:cNvPr id="270" name="Google Shape;270;p34"/>
          <p:cNvSpPr/>
          <p:nvPr/>
        </p:nvSpPr>
        <p:spPr>
          <a:xfrm>
            <a:off x="685800" y="179933"/>
            <a:ext cx="2663190"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65B"/>
              </a:buClr>
              <a:buSzPts val="900"/>
              <a:buFont typeface="Noto Sans Arabic"/>
              <a:buNone/>
            </a:pPr>
            <a:r>
              <a:rPr lang="en" sz="900" b="1" i="0" u="none" strike="noStrike" cap="none">
                <a:solidFill>
                  <a:srgbClr val="00565B"/>
                </a:solidFill>
                <a:latin typeface="Noto Sans Arabic"/>
                <a:ea typeface="Noto Sans Arabic"/>
                <a:cs typeface="Noto Sans Arabic"/>
                <a:sym typeface="Noto Sans Arabic"/>
              </a:rPr>
              <a:t>MARKET INTELLIGENCE</a:t>
            </a:r>
            <a:endParaRPr sz="900" b="0" i="0" u="none" strike="noStrike" cap="none">
              <a:solidFill>
                <a:schemeClr val="dk1"/>
              </a:solidFill>
              <a:latin typeface="Calibri"/>
              <a:ea typeface="Calibri"/>
              <a:cs typeface="Calibri"/>
              <a:sym typeface="Calibri"/>
            </a:endParaRPr>
          </a:p>
        </p:txBody>
      </p:sp>
      <p:sp>
        <p:nvSpPr>
          <p:cNvPr id="271" name="Google Shape;271;p34"/>
          <p:cNvSpPr/>
          <p:nvPr/>
        </p:nvSpPr>
        <p:spPr>
          <a:xfrm>
            <a:off x="685800" y="354844"/>
            <a:ext cx="8458200" cy="37538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2400"/>
              <a:buFont typeface="Noto Sans Arabic"/>
              <a:buNone/>
            </a:pPr>
            <a:r>
              <a:rPr lang="en" sz="2400" b="1" i="0" u="none" strike="noStrike" cap="none" dirty="0">
                <a:solidFill>
                  <a:srgbClr val="001B3D"/>
                </a:solidFill>
                <a:latin typeface="Noto Sans Arabic"/>
                <a:ea typeface="Noto Sans Arabic"/>
                <a:cs typeface="Noto Sans Arabic"/>
                <a:sym typeface="Noto Sans Arabic"/>
              </a:rPr>
              <a:t>Target Market Segmentation</a:t>
            </a:r>
            <a:endParaRPr sz="2400" b="0" i="0" u="none" strike="noStrike" cap="none" dirty="0">
              <a:solidFill>
                <a:schemeClr val="dk1"/>
              </a:solidFill>
              <a:latin typeface="Calibri"/>
              <a:ea typeface="Calibri"/>
              <a:cs typeface="Calibri"/>
              <a:sym typeface="Calibri"/>
            </a:endParaRPr>
          </a:p>
        </p:txBody>
      </p:sp>
      <p:sp>
        <p:nvSpPr>
          <p:cNvPr id="272" name="Google Shape;272;p34"/>
          <p:cNvSpPr/>
          <p:nvPr/>
        </p:nvSpPr>
        <p:spPr>
          <a:xfrm>
            <a:off x="2560253" y="1681907"/>
            <a:ext cx="1533764"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1100"/>
              <a:buFont typeface="Noto Sans Arabic"/>
              <a:buNone/>
            </a:pPr>
            <a:r>
              <a:rPr lang="en" sz="1100" b="1" i="0" u="none" strike="noStrike" cap="none">
                <a:solidFill>
                  <a:srgbClr val="001B3D"/>
                </a:solidFill>
                <a:latin typeface="Noto Sans Arabic"/>
                <a:ea typeface="Noto Sans Arabic"/>
                <a:cs typeface="Noto Sans Arabic"/>
                <a:sym typeface="Noto Sans Arabic"/>
              </a:rPr>
              <a:t>Geography</a:t>
            </a:r>
            <a:endParaRPr sz="1100" b="0" i="0" u="none" strike="noStrike" cap="none">
              <a:solidFill>
                <a:schemeClr val="dk1"/>
              </a:solidFill>
              <a:latin typeface="Calibri"/>
              <a:ea typeface="Calibri"/>
              <a:cs typeface="Calibri"/>
              <a:sym typeface="Calibri"/>
            </a:endParaRPr>
          </a:p>
        </p:txBody>
      </p:sp>
      <p:sp>
        <p:nvSpPr>
          <p:cNvPr id="273" name="Google Shape;273;p34"/>
          <p:cNvSpPr/>
          <p:nvPr/>
        </p:nvSpPr>
        <p:spPr>
          <a:xfrm>
            <a:off x="1207529" y="1977033"/>
            <a:ext cx="3537585" cy="1388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Noto Sans Arabic"/>
              <a:buNone/>
            </a:pPr>
            <a:r>
              <a:rPr lang="en-US" sz="800" b="1" dirty="0"/>
              <a:t>Riyadh Region: Primary corporate &amp; mega-project hub (Giga-projects,</a:t>
            </a:r>
          </a:p>
          <a:p>
            <a:pPr marL="0" marR="0" lvl="0" indent="0" algn="l" rtl="0">
              <a:lnSpc>
                <a:spcPct val="100000"/>
              </a:lnSpc>
              <a:spcBef>
                <a:spcPts val="0"/>
              </a:spcBef>
              <a:spcAft>
                <a:spcPts val="0"/>
              </a:spcAft>
              <a:buClr>
                <a:srgbClr val="333333"/>
              </a:buClr>
              <a:buSzPts val="800"/>
              <a:buFont typeface="Noto Sans Arabic"/>
              <a:buNone/>
            </a:pPr>
            <a:r>
              <a:rPr lang="en-US" sz="800" b="1" dirty="0"/>
              <a:t> Hotels, Corporate HQs)</a:t>
            </a:r>
            <a:endParaRPr sz="800" b="1" i="0" u="none" strike="noStrike" cap="none" dirty="0">
              <a:solidFill>
                <a:schemeClr val="dk1"/>
              </a:solidFill>
              <a:latin typeface="Calibri"/>
              <a:ea typeface="Calibri"/>
              <a:cs typeface="Calibri"/>
              <a:sym typeface="Calibri"/>
            </a:endParaRPr>
          </a:p>
        </p:txBody>
      </p:sp>
      <p:sp>
        <p:nvSpPr>
          <p:cNvPr id="274" name="Google Shape;274;p34"/>
          <p:cNvSpPr/>
          <p:nvPr/>
        </p:nvSpPr>
        <p:spPr>
          <a:xfrm>
            <a:off x="1220152" y="2307036"/>
            <a:ext cx="4257675"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Noto Sans Arabic"/>
              <a:buNone/>
            </a:pPr>
            <a:r>
              <a:rPr lang="en-US" sz="800" b="1" dirty="0"/>
              <a:t>Eastern Province:</a:t>
            </a:r>
            <a:r>
              <a:rPr lang="en-US" sz="800" dirty="0"/>
              <a:t> Dammam, Jubail, Khobar, Ras Tanura </a:t>
            </a:r>
          </a:p>
          <a:p>
            <a:pPr marL="0" marR="0" lvl="0" indent="0" algn="l" rtl="0">
              <a:lnSpc>
                <a:spcPct val="100000"/>
              </a:lnSpc>
              <a:spcBef>
                <a:spcPts val="0"/>
              </a:spcBef>
              <a:spcAft>
                <a:spcPts val="0"/>
              </a:spcAft>
              <a:buClr>
                <a:srgbClr val="333333"/>
              </a:buClr>
              <a:buSzPts val="800"/>
              <a:buFont typeface="Noto Sans Arabic"/>
              <a:buNone/>
            </a:pPr>
            <a:r>
              <a:rPr lang="en-US" sz="800" dirty="0"/>
              <a:t>(Petrochemicals, EPC Contractors, Industrial Plants)</a:t>
            </a:r>
            <a:endParaRPr sz="600" b="0" i="0" u="none" strike="noStrike" cap="none" dirty="0">
              <a:solidFill>
                <a:schemeClr val="dk1"/>
              </a:solidFill>
              <a:latin typeface="Calibri"/>
              <a:ea typeface="Calibri"/>
              <a:cs typeface="Calibri"/>
              <a:sym typeface="Calibri"/>
            </a:endParaRPr>
          </a:p>
        </p:txBody>
      </p:sp>
      <p:sp>
        <p:nvSpPr>
          <p:cNvPr id="277" name="Google Shape;277;p34"/>
          <p:cNvSpPr/>
          <p:nvPr/>
        </p:nvSpPr>
        <p:spPr>
          <a:xfrm>
            <a:off x="2368265" y="2785629"/>
            <a:ext cx="2097300" cy="12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65B"/>
              </a:buClr>
              <a:buSzPts val="800"/>
              <a:buFont typeface="Noto Sans Arabic"/>
              <a:buNone/>
            </a:pPr>
            <a:r>
              <a:rPr lang="en" sz="800" b="1" i="0" u="none" strike="noStrike" cap="none">
                <a:solidFill>
                  <a:srgbClr val="00565B"/>
                </a:solidFill>
                <a:latin typeface="Noto Sans Arabic"/>
                <a:ea typeface="Noto Sans Arabic"/>
                <a:cs typeface="Noto Sans Arabic"/>
                <a:sym typeface="Noto Sans Arabic"/>
              </a:rPr>
              <a:t>KSA-WIDE COVERAGE</a:t>
            </a:r>
            <a:endParaRPr sz="800" b="0" i="0" u="none" strike="noStrike" cap="none">
              <a:solidFill>
                <a:schemeClr val="dk1"/>
              </a:solidFill>
              <a:latin typeface="Calibri"/>
              <a:ea typeface="Calibri"/>
              <a:cs typeface="Calibri"/>
              <a:sym typeface="Calibri"/>
            </a:endParaRPr>
          </a:p>
        </p:txBody>
      </p:sp>
      <p:sp>
        <p:nvSpPr>
          <p:cNvPr id="278" name="Google Shape;278;p34"/>
          <p:cNvSpPr/>
          <p:nvPr/>
        </p:nvSpPr>
        <p:spPr>
          <a:xfrm>
            <a:off x="2514600" y="3708388"/>
            <a:ext cx="1859518" cy="13885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1100"/>
              <a:buFont typeface="Noto Sans Arabic"/>
              <a:buNone/>
            </a:pPr>
            <a:r>
              <a:rPr lang="en" sz="1100" b="1" i="0" u="none" strike="noStrike" cap="none">
                <a:solidFill>
                  <a:srgbClr val="001B3D"/>
                </a:solidFill>
                <a:latin typeface="Noto Sans Arabic"/>
                <a:ea typeface="Noto Sans Arabic"/>
                <a:cs typeface="Noto Sans Arabic"/>
                <a:sym typeface="Noto Sans Arabic"/>
              </a:rPr>
              <a:t>Motivations</a:t>
            </a:r>
            <a:endParaRPr sz="1100" b="0" i="0" u="none" strike="noStrike" cap="none">
              <a:solidFill>
                <a:schemeClr val="dk1"/>
              </a:solidFill>
              <a:latin typeface="Calibri"/>
              <a:ea typeface="Calibri"/>
              <a:cs typeface="Calibri"/>
              <a:sym typeface="Calibri"/>
            </a:endParaRPr>
          </a:p>
        </p:txBody>
      </p:sp>
      <p:sp>
        <p:nvSpPr>
          <p:cNvPr id="283" name="Google Shape;283;p34"/>
          <p:cNvSpPr/>
          <p:nvPr/>
        </p:nvSpPr>
        <p:spPr>
          <a:xfrm>
            <a:off x="1984177" y="4825709"/>
            <a:ext cx="3777615" cy="1130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65B"/>
              </a:buClr>
              <a:buSzPts val="800"/>
              <a:buFont typeface="Noto Sans Arabic"/>
              <a:buNone/>
            </a:pPr>
            <a:r>
              <a:rPr lang="en" sz="800" b="1" i="0" u="none" strike="noStrike" cap="none">
                <a:solidFill>
                  <a:srgbClr val="00565B"/>
                </a:solidFill>
                <a:latin typeface="Noto Sans Arabic"/>
                <a:ea typeface="Noto Sans Arabic"/>
                <a:cs typeface="Noto Sans Arabic"/>
                <a:sym typeface="Noto Sans Arabic"/>
              </a:rPr>
              <a:t>RISK-AVERSE · COMPLIANCE-DRIVEN</a:t>
            </a:r>
            <a:endParaRPr sz="800" b="0" i="0" u="none" strike="noStrike" cap="none">
              <a:solidFill>
                <a:schemeClr val="dk1"/>
              </a:solidFill>
              <a:latin typeface="Calibri"/>
              <a:ea typeface="Calibri"/>
              <a:cs typeface="Calibri"/>
              <a:sym typeface="Calibri"/>
            </a:endParaRPr>
          </a:p>
        </p:txBody>
      </p:sp>
      <p:sp>
        <p:nvSpPr>
          <p:cNvPr id="284" name="Google Shape;284;p34"/>
          <p:cNvSpPr/>
          <p:nvPr/>
        </p:nvSpPr>
        <p:spPr>
          <a:xfrm>
            <a:off x="5468094" y="1681906"/>
            <a:ext cx="2511029" cy="14912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1100"/>
              <a:buFont typeface="Noto Sans Arabic"/>
              <a:buNone/>
            </a:pPr>
            <a:r>
              <a:rPr lang="en" sz="1100" b="1" i="0" u="none" strike="noStrike" cap="none">
                <a:solidFill>
                  <a:srgbClr val="001B3D"/>
                </a:solidFill>
                <a:latin typeface="Noto Sans Arabic"/>
                <a:ea typeface="Noto Sans Arabic"/>
                <a:cs typeface="Noto Sans Arabic"/>
                <a:sym typeface="Noto Sans Arabic"/>
              </a:rPr>
              <a:t>Decision-Makers</a:t>
            </a:r>
            <a:endParaRPr sz="1100" b="0" i="0" u="none" strike="noStrike" cap="none">
              <a:solidFill>
                <a:schemeClr val="dk1"/>
              </a:solidFill>
              <a:latin typeface="Calibri"/>
              <a:ea typeface="Calibri"/>
              <a:cs typeface="Calibri"/>
              <a:sym typeface="Calibri"/>
            </a:endParaRPr>
          </a:p>
        </p:txBody>
      </p:sp>
      <p:sp>
        <p:nvSpPr>
          <p:cNvPr id="289" name="Google Shape;289;p34"/>
          <p:cNvSpPr/>
          <p:nvPr/>
        </p:nvSpPr>
        <p:spPr>
          <a:xfrm>
            <a:off x="5147965" y="2782928"/>
            <a:ext cx="3777600" cy="12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65B"/>
              </a:buClr>
              <a:buSzPts val="800"/>
              <a:buFont typeface="Noto Sans Arabic"/>
              <a:buNone/>
            </a:pPr>
            <a:r>
              <a:rPr lang="en" sz="800" b="1" i="0" u="none" strike="noStrike" cap="none">
                <a:solidFill>
                  <a:srgbClr val="00565B"/>
                </a:solidFill>
                <a:latin typeface="Noto Sans Arabic"/>
                <a:ea typeface="Noto Sans Arabic"/>
                <a:cs typeface="Noto Sans Arabic"/>
                <a:sym typeface="Noto Sans Arabic"/>
              </a:rPr>
              <a:t>EXCLUDE: STUDENTS &amp; JOB SEEKERS</a:t>
            </a:r>
            <a:endParaRPr sz="800" b="0" i="0" u="none" strike="noStrike" cap="none">
              <a:solidFill>
                <a:schemeClr val="dk1"/>
              </a:solidFill>
              <a:latin typeface="Calibri"/>
              <a:ea typeface="Calibri"/>
              <a:cs typeface="Calibri"/>
              <a:sym typeface="Calibri"/>
            </a:endParaRPr>
          </a:p>
        </p:txBody>
      </p:sp>
      <p:sp>
        <p:nvSpPr>
          <p:cNvPr id="290" name="Google Shape;290;p34"/>
          <p:cNvSpPr/>
          <p:nvPr/>
        </p:nvSpPr>
        <p:spPr>
          <a:xfrm>
            <a:off x="5495441" y="3703253"/>
            <a:ext cx="2511029"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B3D"/>
              </a:buClr>
              <a:buSzPts val="1100"/>
              <a:buFont typeface="Noto Sans Arabic"/>
              <a:buNone/>
            </a:pPr>
            <a:r>
              <a:rPr lang="en" sz="1100" b="1" i="0" u="none" strike="noStrike" cap="none">
                <a:solidFill>
                  <a:srgbClr val="001B3D"/>
                </a:solidFill>
                <a:latin typeface="Noto Sans Arabic"/>
                <a:ea typeface="Noto Sans Arabic"/>
                <a:cs typeface="Noto Sans Arabic"/>
                <a:sym typeface="Noto Sans Arabic"/>
              </a:rPr>
              <a:t>Buying Behavior</a:t>
            </a:r>
            <a:endParaRPr sz="1100" b="0" i="0" u="none" strike="noStrike" cap="none">
              <a:solidFill>
                <a:schemeClr val="dk1"/>
              </a:solidFill>
              <a:latin typeface="Calibri"/>
              <a:ea typeface="Calibri"/>
              <a:cs typeface="Calibri"/>
              <a:sym typeface="Calibri"/>
            </a:endParaRPr>
          </a:p>
        </p:txBody>
      </p:sp>
      <p:sp>
        <p:nvSpPr>
          <p:cNvPr id="295" name="Google Shape;295;p34"/>
          <p:cNvSpPr/>
          <p:nvPr/>
        </p:nvSpPr>
        <p:spPr>
          <a:xfrm>
            <a:off x="5157118" y="4842335"/>
            <a:ext cx="3777615" cy="1130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65B"/>
              </a:buClr>
              <a:buSzPts val="800"/>
              <a:buFont typeface="Noto Sans Arabic"/>
              <a:buNone/>
            </a:pPr>
            <a:r>
              <a:rPr lang="en" sz="800" b="1" i="0" u="none" strike="noStrike" cap="none">
                <a:solidFill>
                  <a:srgbClr val="00565B"/>
                </a:solidFill>
                <a:latin typeface="Noto Sans Arabic"/>
                <a:ea typeface="Noto Sans Arabic"/>
                <a:cs typeface="Noto Sans Arabic"/>
                <a:sym typeface="Noto Sans Arabic"/>
              </a:rPr>
              <a:t>HIGH-INTENT · ENTERPRISE BUYERS</a:t>
            </a:r>
            <a:endParaRPr sz="800" b="0" i="0" u="none" strike="noStrike" cap="none">
              <a:solidFill>
                <a:schemeClr val="dk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AA9256BC-7B5E-5B2C-842E-59428DA42204}"/>
              </a:ext>
            </a:extLst>
          </p:cNvPr>
          <p:cNvSpPr>
            <a:spLocks noChangeArrowheads="1"/>
          </p:cNvSpPr>
          <p:nvPr/>
        </p:nvSpPr>
        <p:spPr bwMode="auto">
          <a:xfrm>
            <a:off x="4790633" y="1820690"/>
            <a:ext cx="4331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HSE Managers, Fleet Supervisors &amp; Safety Officers</a:t>
            </a: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800" b="0" i="1" u="none" strike="noStrike" cap="none" normalizeH="0" baseline="0" dirty="0">
                <a:ln>
                  <a:noFill/>
                </a:ln>
                <a:solidFill>
                  <a:schemeClr val="tx1"/>
                </a:solidFill>
                <a:effectLst/>
                <a:latin typeface="Arial" panose="020B0604020202020204" pitchFamily="34" charset="0"/>
              </a:rPr>
              <a:t>(Defensive Driving, IPAF, PASMA)</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F&amp;B Directors, Executive Chefs, Quality Assurance Leads</a:t>
            </a: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800" b="0" i="1" u="none" strike="noStrike" cap="none" normalizeH="0" baseline="0" dirty="0">
                <a:ln>
                  <a:noFill/>
                </a:ln>
                <a:solidFill>
                  <a:schemeClr val="tx1"/>
                </a:solidFill>
                <a:effectLst/>
                <a:latin typeface="Arial" panose="020B0604020202020204" pitchFamily="34" charset="0"/>
              </a:rPr>
              <a:t>(Food Safety &amp; HACCP)</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Hotel General Managers &amp; HR/L&amp;D Directors</a:t>
            </a: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800" b="0" i="1" u="none" strike="noStrike" cap="none" normalizeH="0" baseline="0" dirty="0">
                <a:ln>
                  <a:noFill/>
                </a:ln>
                <a:solidFill>
                  <a:schemeClr val="tx1"/>
                </a:solidFill>
                <a:effectLst/>
                <a:latin typeface="Arial" panose="020B0604020202020204" pitchFamily="34" charset="0"/>
              </a:rPr>
              <a:t>(Hospitality Services)</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Operations &amp; Procurement Heads</a:t>
            </a: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800" b="0" i="1" u="none" strike="noStrike" cap="none" normalizeH="0" baseline="0" dirty="0">
                <a:ln>
                  <a:noFill/>
                </a:ln>
                <a:solidFill>
                  <a:schemeClr val="tx1"/>
                </a:solidFill>
                <a:effectLst/>
                <a:latin typeface="Arial" panose="020B0604020202020204" pitchFamily="34" charset="0"/>
              </a:rPr>
              <a:t>(Corporate Group Contracting)</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Demographics &amp; Roles:</a:t>
            </a:r>
            <a:r>
              <a:rPr kumimoji="0" lang="en-US" altLang="en-US" sz="800" b="0" i="0" u="none" strike="noStrike" cap="none" normalizeH="0" baseline="0" dirty="0">
                <a:ln>
                  <a:noFill/>
                </a:ln>
                <a:solidFill>
                  <a:schemeClr val="tx1"/>
                </a:solidFill>
                <a:effectLst/>
                <a:latin typeface="Arial" panose="020B0604020202020204" pitchFamily="34" charset="0"/>
              </a:rPr>
              <a:t> Age 28–65+ • B2B Procurement, Corporate Decision-Makers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 &amp; Site Managers</a:t>
            </a:r>
          </a:p>
        </p:txBody>
      </p:sp>
      <p:sp>
        <p:nvSpPr>
          <p:cNvPr id="3" name="Rectangle 2">
            <a:extLst>
              <a:ext uri="{FF2B5EF4-FFF2-40B4-BE49-F238E27FC236}">
                <a16:creationId xmlns:a16="http://schemas.microsoft.com/office/drawing/2014/main" id="{9236573C-3254-C800-1AF1-8933086F0274}"/>
              </a:ext>
            </a:extLst>
          </p:cNvPr>
          <p:cNvSpPr>
            <a:spLocks noChangeArrowheads="1"/>
          </p:cNvSpPr>
          <p:nvPr/>
        </p:nvSpPr>
        <p:spPr bwMode="auto">
          <a:xfrm>
            <a:off x="1061208" y="3912696"/>
            <a:ext cx="390844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Strict Legal Compliance:</a:t>
            </a:r>
            <a:r>
              <a:rPr kumimoji="0" lang="en-US" altLang="en-US" sz="800" b="0" i="0" u="none" strike="noStrike" cap="none" normalizeH="0" baseline="0" dirty="0">
                <a:ln>
                  <a:noFill/>
                </a:ln>
                <a:solidFill>
                  <a:schemeClr val="tx1"/>
                </a:solidFill>
                <a:effectLst/>
                <a:latin typeface="Arial" panose="020B0604020202020204" pitchFamily="34" charset="0"/>
              </a:rPr>
              <a:t> SFDA audit readiness, TVTC compliance,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 OSHA/Civil Defense &amp; Ministry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Risk Mitigation &amp; Fine Avoidance:</a:t>
            </a:r>
            <a:r>
              <a:rPr kumimoji="0" lang="en-US" altLang="en-US" sz="800" b="0" i="0" u="none" strike="noStrike" cap="none" normalizeH="0" baseline="0" dirty="0">
                <a:ln>
                  <a:noFill/>
                </a:ln>
                <a:solidFill>
                  <a:schemeClr val="tx1"/>
                </a:solidFill>
                <a:effectLst/>
                <a:latin typeface="Arial" panose="020B0604020202020204" pitchFamily="34" charset="0"/>
              </a:rPr>
              <a:t> Preventing site shutdowns, municipal fines,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and vehicle/fleet accidents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Brand Reputation &amp; Licensing:</a:t>
            </a:r>
            <a:r>
              <a:rPr kumimoji="0" lang="en-US" altLang="en-US" sz="800" b="0" i="0" u="none" strike="noStrike" cap="none" normalizeH="0" baseline="0" dirty="0">
                <a:ln>
                  <a:noFill/>
                </a:ln>
                <a:solidFill>
                  <a:schemeClr val="tx1"/>
                </a:solidFill>
                <a:effectLst/>
                <a:latin typeface="Arial" panose="020B0604020202020204" pitchFamily="34" charset="0"/>
              </a:rPr>
              <a:t> Protecting corporate image, hotel stars,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 restaurant hygiene scores</a:t>
            </a:r>
          </a:p>
        </p:txBody>
      </p:sp>
      <p:sp>
        <p:nvSpPr>
          <p:cNvPr id="4" name="Rectangle 3">
            <a:extLst>
              <a:ext uri="{FF2B5EF4-FFF2-40B4-BE49-F238E27FC236}">
                <a16:creationId xmlns:a16="http://schemas.microsoft.com/office/drawing/2014/main" id="{2745E646-9602-20CF-82FD-B5CEE18C9580}"/>
              </a:ext>
            </a:extLst>
          </p:cNvPr>
          <p:cNvSpPr>
            <a:spLocks noChangeArrowheads="1"/>
          </p:cNvSpPr>
          <p:nvPr/>
        </p:nvSpPr>
        <p:spPr bwMode="auto">
          <a:xfrm>
            <a:off x="4848110" y="4070663"/>
            <a:ext cx="42659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High-Intent B2B Search Queries:</a:t>
            </a:r>
            <a:r>
              <a:rPr kumimoji="0" lang="en-US" altLang="en-US" sz="800" b="0" i="0" u="none" strike="noStrike" cap="none" normalizeH="0" baseline="0" dirty="0">
                <a:ln>
                  <a:noFill/>
                </a:ln>
                <a:solidFill>
                  <a:schemeClr val="tx1"/>
                </a:solidFill>
                <a:effectLst/>
                <a:latin typeface="Arial" panose="020B0604020202020204" pitchFamily="34" charset="0"/>
              </a:rPr>
              <a:t> Actively searching for </a:t>
            </a:r>
            <a:r>
              <a:rPr kumimoji="0" lang="en-US" altLang="en-US" sz="800" b="0" i="1" u="none" strike="noStrike" cap="none" normalizeH="0" baseline="0" dirty="0">
                <a:ln>
                  <a:noFill/>
                </a:ln>
                <a:solidFill>
                  <a:schemeClr val="tx1"/>
                </a:solidFill>
                <a:effectLst/>
                <a:latin typeface="Arial" panose="020B0604020202020204" pitchFamily="34" charset="0"/>
              </a:rPr>
              <a:t>"IPAF training KSA“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1" u="none" strike="noStrike" cap="none" normalizeH="0" baseline="0" dirty="0">
                <a:ln>
                  <a:noFill/>
                </a:ln>
                <a:solidFill>
                  <a:schemeClr val="tx1"/>
                </a:solidFill>
                <a:effectLst/>
                <a:latin typeface="Arial" panose="020B0604020202020204" pitchFamily="34" charset="0"/>
              </a:rPr>
              <a:t>"Defensive driving fleet quote"</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Bulk &amp; Custom Proposals:</a:t>
            </a:r>
            <a:r>
              <a:rPr kumimoji="0" lang="en-US" altLang="en-US" sz="800" b="0" i="0" u="none" strike="noStrike" cap="none" normalizeH="0" baseline="0" dirty="0">
                <a:ln>
                  <a:noFill/>
                </a:ln>
                <a:solidFill>
                  <a:schemeClr val="tx1"/>
                </a:solidFill>
                <a:effectLst/>
                <a:latin typeface="Arial" panose="020B0604020202020204" pitchFamily="34" charset="0"/>
              </a:rPr>
              <a:t> Seeking enterprise group packages, on-site mobile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0" i="0" u="none" strike="noStrike" cap="none" normalizeH="0" baseline="0" dirty="0">
                <a:ln>
                  <a:noFill/>
                </a:ln>
                <a:solidFill>
                  <a:schemeClr val="tx1"/>
                </a:solidFill>
                <a:effectLst/>
                <a:latin typeface="Arial" panose="020B0604020202020204" pitchFamily="34" charset="0"/>
              </a:rPr>
              <a:t> and annual retainers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36"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pic>
        <p:nvPicPr>
          <p:cNvPr id="339" name="Google Shape;339;p36" descr="preencoded.png"/>
          <p:cNvPicPr preferRelativeResize="0"/>
          <p:nvPr/>
        </p:nvPicPr>
        <p:blipFill rotWithShape="1">
          <a:blip r:embed="rId4">
            <a:alphaModFix/>
          </a:blip>
          <a:srcRect/>
          <a:stretch/>
        </p:blipFill>
        <p:spPr>
          <a:xfrm>
            <a:off x="7397465" y="2263118"/>
            <a:ext cx="521159" cy="575965"/>
          </a:xfrm>
          <a:prstGeom prst="rect">
            <a:avLst/>
          </a:prstGeom>
          <a:noFill/>
          <a:ln>
            <a:noFill/>
          </a:ln>
        </p:spPr>
      </p:pic>
      <p:pic>
        <p:nvPicPr>
          <p:cNvPr id="340" name="Google Shape;340;p36"/>
          <p:cNvPicPr preferRelativeResize="0"/>
          <p:nvPr/>
        </p:nvPicPr>
        <p:blipFill>
          <a:blip r:embed="rId5"/>
          <a:srcRect/>
          <a:stretch/>
        </p:blipFill>
        <p:spPr>
          <a:xfrm>
            <a:off x="5340065" y="2306817"/>
            <a:ext cx="493700" cy="493700"/>
          </a:xfrm>
          <a:prstGeom prst="rect">
            <a:avLst/>
          </a:prstGeom>
          <a:noFill/>
          <a:ln>
            <a:noFill/>
          </a:ln>
        </p:spPr>
      </p:pic>
      <p:pic>
        <p:nvPicPr>
          <p:cNvPr id="341" name="Google Shape;341;p36"/>
          <p:cNvPicPr preferRelativeResize="0"/>
          <p:nvPr/>
        </p:nvPicPr>
        <p:blipFill>
          <a:blip r:embed="rId6"/>
          <a:srcRect/>
          <a:stretch/>
        </p:blipFill>
        <p:spPr>
          <a:xfrm>
            <a:off x="3287464" y="2293925"/>
            <a:ext cx="529754" cy="529754"/>
          </a:xfrm>
          <a:prstGeom prst="rect">
            <a:avLst/>
          </a:prstGeom>
          <a:noFill/>
          <a:ln>
            <a:noFill/>
          </a:ln>
        </p:spPr>
      </p:pic>
      <p:pic>
        <p:nvPicPr>
          <p:cNvPr id="342" name="Google Shape;342;p36"/>
          <p:cNvPicPr preferRelativeResize="0"/>
          <p:nvPr/>
        </p:nvPicPr>
        <p:blipFill>
          <a:blip r:embed="rId7"/>
          <a:srcRect/>
          <a:stretch/>
        </p:blipFill>
        <p:spPr>
          <a:xfrm>
            <a:off x="1243570" y="2403791"/>
            <a:ext cx="530312" cy="294617"/>
          </a:xfrm>
          <a:prstGeom prst="rect">
            <a:avLst/>
          </a:prstGeom>
          <a:noFill/>
          <a:ln>
            <a:noFill/>
          </a:ln>
        </p:spPr>
      </p:pic>
      <p:sp>
        <p:nvSpPr>
          <p:cNvPr id="343" name="Google Shape;343;p36"/>
          <p:cNvSpPr/>
          <p:nvPr/>
        </p:nvSpPr>
        <p:spPr>
          <a:xfrm>
            <a:off x="694841" y="195449"/>
            <a:ext cx="3157538"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8B74"/>
              </a:buClr>
              <a:buSzPts val="1100"/>
              <a:buFont typeface="Noto Sans Arabic"/>
              <a:buNone/>
            </a:pPr>
            <a:r>
              <a:rPr lang="en" sz="1100" b="1" i="0" u="none" strike="noStrike" cap="none">
                <a:solidFill>
                  <a:srgbClr val="008B74"/>
                </a:solidFill>
                <a:latin typeface="Noto Sans Arabic"/>
                <a:ea typeface="Noto Sans Arabic"/>
                <a:cs typeface="Noto Sans Arabic"/>
                <a:sym typeface="Noto Sans Arabic"/>
              </a:rPr>
              <a:t>CAMPAIGN PORTFOLIO</a:t>
            </a:r>
            <a:endParaRPr sz="1100" b="0" i="0" u="none" strike="noStrike" cap="none">
              <a:solidFill>
                <a:schemeClr val="dk1"/>
              </a:solidFill>
              <a:latin typeface="Calibri"/>
              <a:ea typeface="Calibri"/>
              <a:cs typeface="Calibri"/>
              <a:sym typeface="Calibri"/>
            </a:endParaRPr>
          </a:p>
        </p:txBody>
      </p:sp>
      <p:sp>
        <p:nvSpPr>
          <p:cNvPr id="344" name="Google Shape;344;p36"/>
          <p:cNvSpPr/>
          <p:nvPr/>
        </p:nvSpPr>
        <p:spPr>
          <a:xfrm>
            <a:off x="685800" y="473150"/>
            <a:ext cx="4105800" cy="812700"/>
          </a:xfrm>
          <a:prstGeom prst="rect">
            <a:avLst/>
          </a:prstGeom>
          <a:noFill/>
          <a:ln>
            <a:noFill/>
          </a:ln>
        </p:spPr>
        <p:txBody>
          <a:bodyPr spcFirstLastPara="1" wrap="square" lIns="0" tIns="0" rIns="0" bIns="0" anchor="ctr" anchorCtr="0">
            <a:noAutofit/>
          </a:bodyPr>
          <a:lstStyle/>
          <a:p>
            <a:pPr marL="0" marR="0" lvl="0" indent="0" algn="l" rtl="0">
              <a:lnSpc>
                <a:spcPct val="110013"/>
              </a:lnSpc>
              <a:spcBef>
                <a:spcPts val="0"/>
              </a:spcBef>
              <a:spcAft>
                <a:spcPts val="0"/>
              </a:spcAft>
              <a:buClr>
                <a:srgbClr val="001D3D"/>
              </a:buClr>
              <a:buSzPts val="2900"/>
              <a:buFont typeface="Noto Sans Arabic"/>
              <a:buNone/>
            </a:pPr>
            <a:r>
              <a:rPr lang="en" sz="2900" b="1" i="0" u="none" strike="noStrike" cap="none">
                <a:solidFill>
                  <a:srgbClr val="001D3D"/>
                </a:solidFill>
                <a:latin typeface="Noto Sans Arabic"/>
                <a:ea typeface="Noto Sans Arabic"/>
                <a:cs typeface="Noto Sans Arabic"/>
                <a:sym typeface="Noto Sans Arabic"/>
              </a:rPr>
              <a:t>Product Portfolio</a:t>
            </a:r>
            <a:endParaRPr sz="2900" b="0" i="0" u="none" strike="noStrike" cap="none">
              <a:solidFill>
                <a:schemeClr val="dk1"/>
              </a:solidFill>
              <a:latin typeface="Calibri"/>
              <a:ea typeface="Calibri"/>
              <a:cs typeface="Calibri"/>
              <a:sym typeface="Calibri"/>
            </a:endParaRPr>
          </a:p>
          <a:p>
            <a:pPr marL="0" marR="0" lvl="0" indent="0" algn="l" rtl="0">
              <a:lnSpc>
                <a:spcPct val="110013"/>
              </a:lnSpc>
              <a:spcBef>
                <a:spcPts val="0"/>
              </a:spcBef>
              <a:spcAft>
                <a:spcPts val="0"/>
              </a:spcAft>
              <a:buClr>
                <a:srgbClr val="001D3D"/>
              </a:buClr>
              <a:buSzPts val="2900"/>
              <a:buFont typeface="Noto Sans Arabic"/>
              <a:buNone/>
            </a:pPr>
            <a:r>
              <a:rPr lang="en" sz="2900" b="1" i="0" u="none" strike="noStrike" cap="none">
                <a:solidFill>
                  <a:srgbClr val="001D3D"/>
                </a:solidFill>
                <a:latin typeface="Noto Sans Arabic"/>
                <a:ea typeface="Noto Sans Arabic"/>
                <a:cs typeface="Noto Sans Arabic"/>
                <a:sym typeface="Noto Sans Arabic"/>
              </a:rPr>
              <a:t>Strategy Overview</a:t>
            </a:r>
            <a:endParaRPr sz="2900" b="0" i="0" u="none" strike="noStrike" cap="none">
              <a:solidFill>
                <a:schemeClr val="dk1"/>
              </a:solidFill>
              <a:latin typeface="Calibri"/>
              <a:ea typeface="Calibri"/>
              <a:cs typeface="Calibri"/>
              <a:sym typeface="Calibri"/>
            </a:endParaRPr>
          </a:p>
        </p:txBody>
      </p:sp>
      <p:sp>
        <p:nvSpPr>
          <p:cNvPr id="345" name="Google Shape;345;p36"/>
          <p:cNvSpPr/>
          <p:nvPr/>
        </p:nvSpPr>
        <p:spPr>
          <a:xfrm>
            <a:off x="5468094" y="606884"/>
            <a:ext cx="3072371" cy="550292"/>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333333"/>
              </a:buClr>
              <a:buSzPts val="900"/>
              <a:buFont typeface="Noto Sans Arabic"/>
              <a:buNone/>
            </a:pPr>
            <a:r>
              <a:rPr lang="en" sz="900" b="0" i="0" u="none" strike="noStrike" cap="none">
                <a:solidFill>
                  <a:srgbClr val="333333"/>
                </a:solidFill>
                <a:latin typeface="Noto Sans Arabic"/>
                <a:ea typeface="Noto Sans Arabic"/>
                <a:cs typeface="Noto Sans Arabic"/>
                <a:sym typeface="Noto Sans Arabic"/>
              </a:rPr>
              <a:t>Four accredited training products — each targeting a</a:t>
            </a:r>
            <a:endParaRPr sz="9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333333"/>
              </a:buClr>
              <a:buSzPts val="900"/>
              <a:buFont typeface="Noto Sans Arabic"/>
              <a:buNone/>
            </a:pPr>
            <a:r>
              <a:rPr lang="en" sz="900" b="0" i="0" u="none" strike="noStrike" cap="none">
                <a:solidFill>
                  <a:srgbClr val="333333"/>
                </a:solidFill>
                <a:latin typeface="Noto Sans Arabic"/>
                <a:ea typeface="Noto Sans Arabic"/>
                <a:cs typeface="Noto Sans Arabic"/>
                <a:sym typeface="Noto Sans Arabic"/>
              </a:rPr>
              <a:t>distinct B2B compliance and safety demand segment</a:t>
            </a:r>
            <a:endParaRPr sz="9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333333"/>
              </a:buClr>
              <a:buSzPts val="900"/>
              <a:buFont typeface="Noto Sans Arabic"/>
              <a:buNone/>
            </a:pPr>
            <a:r>
              <a:rPr lang="en" sz="900" b="0" i="0" u="none" strike="noStrike" cap="none">
                <a:solidFill>
                  <a:srgbClr val="333333"/>
                </a:solidFill>
                <a:latin typeface="Noto Sans Arabic"/>
                <a:ea typeface="Noto Sans Arabic"/>
                <a:cs typeface="Noto Sans Arabic"/>
                <a:sym typeface="Noto Sans Arabic"/>
              </a:rPr>
              <a:t>across Saudi Arabia.</a:t>
            </a:r>
            <a:endParaRPr sz="900" b="0" i="0" u="none" strike="noStrike" cap="none">
              <a:solidFill>
                <a:schemeClr val="dk1"/>
              </a:solidFill>
              <a:latin typeface="Calibri"/>
              <a:ea typeface="Calibri"/>
              <a:cs typeface="Calibri"/>
              <a:sym typeface="Calibri"/>
            </a:endParaRPr>
          </a:p>
        </p:txBody>
      </p:sp>
      <p:sp>
        <p:nvSpPr>
          <p:cNvPr id="346" name="Google Shape;346;p36"/>
          <p:cNvSpPr/>
          <p:nvPr/>
        </p:nvSpPr>
        <p:spPr>
          <a:xfrm>
            <a:off x="1545283" y="1635584"/>
            <a:ext cx="4481274" cy="12858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D3D"/>
              </a:buClr>
              <a:buSzPts val="1000"/>
              <a:buFont typeface="Noto Sans Arabic"/>
              <a:buNone/>
            </a:pPr>
            <a:r>
              <a:rPr lang="en" sz="1000" b="1" i="0" u="none" strike="noStrike" cap="none" dirty="0">
                <a:solidFill>
                  <a:srgbClr val="001D3D"/>
                </a:solidFill>
                <a:latin typeface="Noto Sans Arabic"/>
                <a:ea typeface="Noto Sans Arabic"/>
                <a:cs typeface="Noto Sans Arabic"/>
                <a:sym typeface="Noto Sans Arabic"/>
              </a:rPr>
              <a:t>SAR 40,000 Total Investment</a:t>
            </a:r>
            <a:endParaRPr sz="1000" b="0" i="0" u="none" strike="noStrike" cap="none" dirty="0">
              <a:solidFill>
                <a:schemeClr val="dk1"/>
              </a:solidFill>
              <a:latin typeface="Calibri"/>
              <a:ea typeface="Calibri"/>
              <a:cs typeface="Calibri"/>
              <a:sym typeface="Calibri"/>
            </a:endParaRPr>
          </a:p>
        </p:txBody>
      </p:sp>
      <p:sp>
        <p:nvSpPr>
          <p:cNvPr id="347" name="Google Shape;347;p36"/>
          <p:cNvSpPr/>
          <p:nvPr/>
        </p:nvSpPr>
        <p:spPr>
          <a:xfrm>
            <a:off x="3364930" y="1635584"/>
            <a:ext cx="3704034"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D3D"/>
              </a:buClr>
              <a:buSzPts val="1000"/>
              <a:buFont typeface="Noto Sans Arabic"/>
              <a:buNone/>
            </a:pPr>
            <a:r>
              <a:rPr lang="en" sz="1000" b="1" i="0" u="none" strike="noStrike" cap="none" dirty="0">
                <a:solidFill>
                  <a:srgbClr val="001D3D"/>
                </a:solidFill>
                <a:latin typeface="Noto Sans Arabic"/>
                <a:ea typeface="Noto Sans Arabic"/>
                <a:cs typeface="Noto Sans Arabic"/>
                <a:sym typeface="Noto Sans Arabic"/>
              </a:rPr>
              <a:t>150+ Projected B2B Leads</a:t>
            </a:r>
            <a:endParaRPr sz="1000" b="0" i="0" u="none" strike="noStrike" cap="none" dirty="0">
              <a:solidFill>
                <a:schemeClr val="dk1"/>
              </a:solidFill>
              <a:latin typeface="Calibri"/>
              <a:ea typeface="Calibri"/>
              <a:cs typeface="Calibri"/>
              <a:sym typeface="Calibri"/>
            </a:endParaRPr>
          </a:p>
        </p:txBody>
      </p:sp>
      <p:sp>
        <p:nvSpPr>
          <p:cNvPr id="348" name="Google Shape;348;p36"/>
          <p:cNvSpPr/>
          <p:nvPr/>
        </p:nvSpPr>
        <p:spPr>
          <a:xfrm>
            <a:off x="5202883" y="1635584"/>
            <a:ext cx="3941117"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D3D"/>
              </a:buClr>
              <a:buSzPts val="1000"/>
              <a:buFont typeface="Noto Sans Arabic"/>
              <a:buNone/>
            </a:pPr>
            <a:r>
              <a:rPr lang="en" sz="1000" b="1" i="0" u="none" strike="noStrike" cap="none">
                <a:solidFill>
                  <a:srgbClr val="001D3D"/>
                </a:solidFill>
                <a:latin typeface="Noto Sans Arabic"/>
                <a:ea typeface="Noto Sans Arabic"/>
                <a:cs typeface="Noto Sans Arabic"/>
                <a:sym typeface="Noto Sans Arabic"/>
              </a:rPr>
              <a:t>Dual-Layer Search + Performance Max</a:t>
            </a:r>
            <a:endParaRPr sz="1000" b="0" i="0" u="none" strike="noStrike" cap="none">
              <a:solidFill>
                <a:schemeClr val="dk1"/>
              </a:solidFill>
              <a:latin typeface="Calibri"/>
              <a:ea typeface="Calibri"/>
              <a:cs typeface="Calibri"/>
              <a:sym typeface="Calibri"/>
            </a:endParaRPr>
          </a:p>
        </p:txBody>
      </p:sp>
      <p:sp>
        <p:nvSpPr>
          <p:cNvPr id="349" name="Google Shape;349;p36"/>
          <p:cNvSpPr/>
          <p:nvPr/>
        </p:nvSpPr>
        <p:spPr>
          <a:xfrm>
            <a:off x="741499" y="2952266"/>
            <a:ext cx="1452079" cy="1645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Noto Sans Arabic"/>
              <a:buNone/>
            </a:pPr>
            <a:r>
              <a:rPr lang="en" sz="1100" b="1" i="0" u="none" strike="noStrike" cap="none" dirty="0">
                <a:solidFill>
                  <a:srgbClr val="000000"/>
                </a:solidFill>
                <a:latin typeface="Noto Sans Arabic"/>
                <a:ea typeface="Noto Sans Arabic"/>
                <a:cs typeface="Noto Sans Arabic"/>
                <a:sym typeface="Noto Sans Arabic"/>
              </a:rPr>
              <a:t>IPAF Training</a:t>
            </a:r>
            <a:endParaRPr sz="1100" b="0" i="0" u="none" strike="noStrike" cap="none" dirty="0">
              <a:solidFill>
                <a:schemeClr val="dk1"/>
              </a:solidFill>
              <a:latin typeface="Calibri"/>
              <a:ea typeface="Calibri"/>
              <a:cs typeface="Calibri"/>
              <a:sym typeface="Calibri"/>
            </a:endParaRPr>
          </a:p>
        </p:txBody>
      </p:sp>
      <p:sp>
        <p:nvSpPr>
          <p:cNvPr id="351" name="Google Shape;351;p36"/>
          <p:cNvSpPr/>
          <p:nvPr/>
        </p:nvSpPr>
        <p:spPr>
          <a:xfrm>
            <a:off x="722300" y="3528343"/>
            <a:ext cx="1499518" cy="262310"/>
          </a:xfrm>
          <a:prstGeom prst="rect">
            <a:avLst/>
          </a:prstGeom>
          <a:no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555555"/>
              </a:buClr>
              <a:buSzPts val="700"/>
              <a:buFont typeface="Noto Sans Arabic"/>
              <a:buNone/>
            </a:pPr>
            <a:r>
              <a:rPr lang="en-US" sz="800" b="0" i="0" u="none" strike="noStrike" cap="none" dirty="0">
                <a:solidFill>
                  <a:srgbClr val="555555"/>
                </a:solidFill>
                <a:latin typeface="Noto Sans Arabic"/>
                <a:ea typeface="Noto Sans Arabic"/>
                <a:cs typeface="Noto Sans Arabic"/>
                <a:sym typeface="Noto Sans Arabic"/>
              </a:rPr>
              <a:t>TVTC Approved</a:t>
            </a:r>
          </a:p>
          <a:p>
            <a:pPr marL="0" marR="0" lvl="0" indent="0" algn="ctr" rtl="0">
              <a:lnSpc>
                <a:spcPct val="140000"/>
              </a:lnSpc>
              <a:spcBef>
                <a:spcPts val="0"/>
              </a:spcBef>
              <a:spcAft>
                <a:spcPts val="0"/>
              </a:spcAft>
              <a:buClr>
                <a:srgbClr val="555555"/>
              </a:buClr>
              <a:buSzPts val="700"/>
              <a:buFont typeface="Noto Sans Arabic"/>
              <a:buNone/>
            </a:pPr>
            <a:r>
              <a:rPr lang="en" sz="800" b="0" i="0" u="none" strike="noStrike" cap="none" dirty="0">
                <a:solidFill>
                  <a:srgbClr val="555555"/>
                </a:solidFill>
                <a:latin typeface="Noto Sans Arabic"/>
                <a:ea typeface="Noto Sans Arabic"/>
                <a:cs typeface="Noto Sans Arabic"/>
                <a:sym typeface="Noto Sans Arabic"/>
              </a:rPr>
              <a:t>SAR 8000 · </a:t>
            </a:r>
            <a:r>
              <a:rPr lang="en" sz="800" dirty="0">
                <a:solidFill>
                  <a:srgbClr val="555555"/>
                </a:solidFill>
                <a:latin typeface="Noto Sans Arabic"/>
                <a:ea typeface="Noto Sans Arabic"/>
                <a:cs typeface="Noto Sans Arabic"/>
                <a:sym typeface="Noto Sans Arabic"/>
              </a:rPr>
              <a:t>30+</a:t>
            </a:r>
            <a:r>
              <a:rPr lang="en" sz="800" b="0" i="0" u="none" strike="noStrike" cap="none" dirty="0">
                <a:solidFill>
                  <a:srgbClr val="555555"/>
                </a:solidFill>
                <a:latin typeface="Noto Sans Arabic"/>
                <a:ea typeface="Noto Sans Arabic"/>
                <a:cs typeface="Noto Sans Arabic"/>
                <a:sym typeface="Noto Sans Arabic"/>
              </a:rPr>
              <a:t> B2B Leads</a:t>
            </a:r>
            <a:endParaRPr sz="800" b="0" i="0" u="none" strike="noStrike" cap="none" dirty="0">
              <a:solidFill>
                <a:schemeClr val="dk1"/>
              </a:solidFill>
              <a:latin typeface="Calibri"/>
              <a:ea typeface="Calibri"/>
              <a:cs typeface="Calibri"/>
              <a:sym typeface="Calibri"/>
            </a:endParaRPr>
          </a:p>
        </p:txBody>
      </p:sp>
      <p:sp>
        <p:nvSpPr>
          <p:cNvPr id="352" name="Google Shape;352;p36"/>
          <p:cNvSpPr/>
          <p:nvPr/>
        </p:nvSpPr>
        <p:spPr>
          <a:xfrm>
            <a:off x="702878" y="4053074"/>
            <a:ext cx="1529320" cy="1079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63946"/>
              </a:buClr>
              <a:buSzPts val="700"/>
              <a:buFont typeface="Noto Sans Arabic"/>
              <a:buNone/>
            </a:pPr>
            <a:r>
              <a:rPr lang="en-US" sz="1000" dirty="0"/>
              <a:t>Oil, Gas, and Energy</a:t>
            </a:r>
            <a:endParaRPr lang="en-US" sz="700" b="0" i="0" u="none" strike="noStrike" cap="none" dirty="0">
              <a:solidFill>
                <a:schemeClr val="dk1"/>
              </a:solidFill>
              <a:latin typeface="Calibri"/>
              <a:ea typeface="Calibri"/>
              <a:cs typeface="Calibri"/>
              <a:sym typeface="Calibri"/>
            </a:endParaRPr>
          </a:p>
        </p:txBody>
      </p:sp>
      <p:sp>
        <p:nvSpPr>
          <p:cNvPr id="353" name="Google Shape;353;p36"/>
          <p:cNvSpPr/>
          <p:nvPr/>
        </p:nvSpPr>
        <p:spPr>
          <a:xfrm>
            <a:off x="2872011" y="2952266"/>
            <a:ext cx="1315008" cy="1645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Noto Sans Arabic"/>
              <a:buNone/>
            </a:pPr>
            <a:r>
              <a:rPr lang="en" sz="1100" b="1" i="0" u="none" strike="noStrike" cap="none" dirty="0">
                <a:solidFill>
                  <a:srgbClr val="000000"/>
                </a:solidFill>
                <a:latin typeface="Noto Sans Arabic"/>
                <a:ea typeface="Noto Sans Arabic"/>
                <a:cs typeface="Noto Sans Arabic"/>
                <a:sym typeface="Noto Sans Arabic"/>
              </a:rPr>
              <a:t>Pasma Training</a:t>
            </a:r>
            <a:endParaRPr sz="1100" b="0" i="0" u="none" strike="noStrike" cap="none" dirty="0">
              <a:solidFill>
                <a:schemeClr val="dk1"/>
              </a:solidFill>
              <a:latin typeface="Calibri"/>
              <a:ea typeface="Calibri"/>
              <a:cs typeface="Calibri"/>
              <a:sym typeface="Calibri"/>
            </a:endParaRPr>
          </a:p>
        </p:txBody>
      </p:sp>
      <p:sp>
        <p:nvSpPr>
          <p:cNvPr id="355" name="Google Shape;355;p36"/>
          <p:cNvSpPr/>
          <p:nvPr/>
        </p:nvSpPr>
        <p:spPr>
          <a:xfrm>
            <a:off x="2861965" y="3528343"/>
            <a:ext cx="1325835" cy="262310"/>
          </a:xfrm>
          <a:prstGeom prst="rect">
            <a:avLst/>
          </a:prstGeom>
          <a:no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555555"/>
              </a:buClr>
              <a:buSzPts val="700"/>
              <a:buFont typeface="Noto Sans Arabic"/>
              <a:buNone/>
            </a:pPr>
            <a:r>
              <a:rPr lang="en-US" sz="800" b="0" i="0" u="none" strike="noStrike" cap="none" dirty="0">
                <a:solidFill>
                  <a:srgbClr val="555555"/>
                </a:solidFill>
                <a:latin typeface="Noto Sans Arabic"/>
                <a:ea typeface="Noto Sans Arabic"/>
                <a:cs typeface="Noto Sans Arabic"/>
                <a:sym typeface="Noto Sans Arabic"/>
              </a:rPr>
              <a:t>SAR </a:t>
            </a:r>
            <a:r>
              <a:rPr lang="en-US" sz="800" dirty="0">
                <a:solidFill>
                  <a:srgbClr val="555555"/>
                </a:solidFill>
                <a:latin typeface="Noto Sans Arabic"/>
                <a:ea typeface="Noto Sans Arabic"/>
                <a:cs typeface="Noto Sans Arabic"/>
                <a:sym typeface="Noto Sans Arabic"/>
              </a:rPr>
              <a:t>8</a:t>
            </a:r>
            <a:r>
              <a:rPr lang="en-US" sz="800" b="0" i="0" u="none" strike="noStrike" cap="none" dirty="0">
                <a:solidFill>
                  <a:srgbClr val="555555"/>
                </a:solidFill>
                <a:latin typeface="Noto Sans Arabic"/>
                <a:ea typeface="Noto Sans Arabic"/>
                <a:cs typeface="Noto Sans Arabic"/>
                <a:sym typeface="Noto Sans Arabic"/>
              </a:rPr>
              <a:t>000 · </a:t>
            </a:r>
            <a:r>
              <a:rPr lang="en-US" sz="800" dirty="0">
                <a:solidFill>
                  <a:srgbClr val="555555"/>
                </a:solidFill>
                <a:latin typeface="Noto Sans Arabic"/>
                <a:ea typeface="Noto Sans Arabic"/>
                <a:cs typeface="Noto Sans Arabic"/>
                <a:sym typeface="Noto Sans Arabic"/>
              </a:rPr>
              <a:t>30+</a:t>
            </a:r>
            <a:r>
              <a:rPr lang="en-US" sz="800" b="0" i="0" u="none" strike="noStrike" cap="none" dirty="0">
                <a:solidFill>
                  <a:srgbClr val="555555"/>
                </a:solidFill>
                <a:latin typeface="Noto Sans Arabic"/>
                <a:ea typeface="Noto Sans Arabic"/>
                <a:cs typeface="Noto Sans Arabic"/>
                <a:sym typeface="Noto Sans Arabic"/>
              </a:rPr>
              <a:t> B2B Leads</a:t>
            </a:r>
            <a:endParaRPr lang="en-US" sz="800" b="0" i="0" u="none" strike="noStrike" cap="none" dirty="0">
              <a:solidFill>
                <a:schemeClr val="dk1"/>
              </a:solidFill>
              <a:latin typeface="Calibri"/>
              <a:ea typeface="Calibri"/>
              <a:cs typeface="Calibri"/>
              <a:sym typeface="Calibri"/>
            </a:endParaRPr>
          </a:p>
        </p:txBody>
      </p:sp>
      <p:sp>
        <p:nvSpPr>
          <p:cNvPr id="356" name="Google Shape;356;p36"/>
          <p:cNvSpPr/>
          <p:nvPr/>
        </p:nvSpPr>
        <p:spPr>
          <a:xfrm>
            <a:off x="2879155" y="4053074"/>
            <a:ext cx="1529320" cy="1079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8B74"/>
              </a:buClr>
              <a:buSzPts val="700"/>
              <a:buFont typeface="Noto Sans Arabic"/>
              <a:buNone/>
            </a:pPr>
            <a:r>
              <a:rPr lang="en-US" sz="800" b="1" dirty="0"/>
              <a:t>Construction &amp; Giga-Projects</a:t>
            </a:r>
            <a:endParaRPr sz="800" b="1" i="0" u="none" strike="noStrike" cap="none" dirty="0">
              <a:solidFill>
                <a:schemeClr val="dk1"/>
              </a:solidFill>
              <a:latin typeface="Calibri"/>
              <a:ea typeface="Calibri"/>
              <a:cs typeface="Calibri"/>
              <a:sym typeface="Calibri"/>
            </a:endParaRPr>
          </a:p>
        </p:txBody>
      </p:sp>
      <p:sp>
        <p:nvSpPr>
          <p:cNvPr id="357" name="Google Shape;357;p36"/>
          <p:cNvSpPr/>
          <p:nvPr/>
        </p:nvSpPr>
        <p:spPr>
          <a:xfrm>
            <a:off x="5010894" y="2957513"/>
            <a:ext cx="1088083" cy="303386"/>
          </a:xfrm>
          <a:prstGeom prst="rect">
            <a:avLst/>
          </a:prstGeom>
          <a:noFill/>
          <a:ln>
            <a:noFill/>
          </a:ln>
        </p:spPr>
        <p:txBody>
          <a:bodyPr spcFirstLastPara="1" wrap="square" lIns="0" tIns="0" rIns="0" bIns="0" anchor="ctr" anchorCtr="0">
            <a:noAutofit/>
          </a:bodyPr>
          <a:lstStyle/>
          <a:p>
            <a:pPr marL="0" marR="0" lvl="0" indent="0" algn="ctr" rtl="0">
              <a:lnSpc>
                <a:spcPct val="110035"/>
              </a:lnSpc>
              <a:spcBef>
                <a:spcPts val="0"/>
              </a:spcBef>
              <a:spcAft>
                <a:spcPts val="0"/>
              </a:spcAft>
              <a:buClr>
                <a:srgbClr val="000000"/>
              </a:buClr>
              <a:buSzPts val="1100"/>
              <a:buFont typeface="Noto Sans Arabic"/>
              <a:buNone/>
            </a:pPr>
            <a:r>
              <a:rPr lang="en-US" sz="1100" b="1" i="0" u="none" strike="noStrike" cap="none" dirty="0">
                <a:solidFill>
                  <a:srgbClr val="000000"/>
                </a:solidFill>
                <a:latin typeface="Noto Sans Arabic"/>
                <a:ea typeface="Noto Sans Arabic"/>
                <a:cs typeface="Noto Sans Arabic"/>
                <a:sym typeface="Noto Sans Arabic"/>
              </a:rPr>
              <a:t>Food Safety</a:t>
            </a:r>
            <a:endParaRPr sz="1100" b="0" i="0" u="none" strike="noStrike" cap="none" dirty="0">
              <a:solidFill>
                <a:schemeClr val="dk1"/>
              </a:solidFill>
              <a:latin typeface="Calibri"/>
              <a:ea typeface="Calibri"/>
              <a:cs typeface="Calibri"/>
              <a:sym typeface="Calibri"/>
            </a:endParaRPr>
          </a:p>
        </p:txBody>
      </p:sp>
      <p:sp>
        <p:nvSpPr>
          <p:cNvPr id="358" name="Google Shape;358;p36"/>
          <p:cNvSpPr/>
          <p:nvPr/>
        </p:nvSpPr>
        <p:spPr>
          <a:xfrm>
            <a:off x="5000625" y="3368948"/>
            <a:ext cx="1126927" cy="102803"/>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6B3"/>
              </a:buClr>
              <a:buSzPts val="700"/>
              <a:buFont typeface="Noto Sans Arabic"/>
              <a:buNone/>
            </a:pPr>
            <a:r>
              <a:rPr lang="en" sz="700" b="1" i="0" u="none" strike="noStrike" cap="none">
                <a:solidFill>
                  <a:srgbClr val="0056B3"/>
                </a:solidFill>
                <a:latin typeface="Noto Sans Arabic"/>
                <a:ea typeface="Noto Sans Arabic"/>
                <a:cs typeface="Noto Sans Arabic"/>
                <a:sym typeface="Noto Sans Arabic"/>
              </a:rPr>
              <a:t>SPECIALIST VERTICAL</a:t>
            </a:r>
            <a:endParaRPr sz="700" b="0" i="0" u="none" strike="noStrike" cap="none">
              <a:solidFill>
                <a:schemeClr val="dk1"/>
              </a:solidFill>
              <a:latin typeface="Calibri"/>
              <a:ea typeface="Calibri"/>
              <a:cs typeface="Calibri"/>
              <a:sym typeface="Calibri"/>
            </a:endParaRPr>
          </a:p>
        </p:txBody>
      </p:sp>
      <p:sp>
        <p:nvSpPr>
          <p:cNvPr id="359" name="Google Shape;359;p36"/>
          <p:cNvSpPr/>
          <p:nvPr/>
        </p:nvSpPr>
        <p:spPr>
          <a:xfrm>
            <a:off x="4791447" y="3579800"/>
            <a:ext cx="1554435" cy="257175"/>
          </a:xfrm>
          <a:prstGeom prst="rect">
            <a:avLst/>
          </a:prstGeom>
          <a:no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SAR </a:t>
            </a:r>
            <a:r>
              <a:rPr lang="en-US" sz="700" dirty="0">
                <a:solidFill>
                  <a:srgbClr val="555555"/>
                </a:solidFill>
                <a:latin typeface="Noto Sans Arabic"/>
                <a:ea typeface="Noto Sans Arabic"/>
                <a:cs typeface="Noto Sans Arabic"/>
                <a:sym typeface="Noto Sans Arabic"/>
              </a:rPr>
              <a:t>8</a:t>
            </a:r>
            <a:r>
              <a:rPr lang="en-US" sz="700" b="0" i="0" u="none" strike="noStrike" cap="none" dirty="0">
                <a:solidFill>
                  <a:srgbClr val="555555"/>
                </a:solidFill>
                <a:latin typeface="Noto Sans Arabic"/>
                <a:ea typeface="Noto Sans Arabic"/>
                <a:cs typeface="Noto Sans Arabic"/>
                <a:sym typeface="Noto Sans Arabic"/>
              </a:rPr>
              <a:t>000 · 3</a:t>
            </a:r>
            <a:r>
              <a:rPr lang="en-US" sz="700" dirty="0">
                <a:solidFill>
                  <a:srgbClr val="555555"/>
                </a:solidFill>
                <a:latin typeface="Noto Sans Arabic"/>
                <a:ea typeface="Noto Sans Arabic"/>
                <a:cs typeface="Noto Sans Arabic"/>
                <a:sym typeface="Noto Sans Arabic"/>
              </a:rPr>
              <a:t>0+</a:t>
            </a:r>
            <a:r>
              <a:rPr lang="en-US" sz="700" b="0" i="0" u="none" strike="noStrike" cap="none" dirty="0">
                <a:solidFill>
                  <a:srgbClr val="555555"/>
                </a:solidFill>
                <a:latin typeface="Noto Sans Arabic"/>
                <a:ea typeface="Noto Sans Arabic"/>
                <a:cs typeface="Noto Sans Arabic"/>
                <a:sym typeface="Noto Sans Arabic"/>
              </a:rPr>
              <a:t> B2B Leads</a:t>
            </a:r>
            <a:endParaRPr lang="en-US" sz="700" b="0" i="0" u="none" strike="noStrike" cap="none" dirty="0">
              <a:solidFill>
                <a:schemeClr val="dk1"/>
              </a:solidFill>
              <a:latin typeface="Calibri"/>
              <a:ea typeface="Calibri"/>
              <a:cs typeface="Calibri"/>
              <a:sym typeface="Calibri"/>
            </a:endParaRPr>
          </a:p>
        </p:txBody>
      </p:sp>
      <p:sp>
        <p:nvSpPr>
          <p:cNvPr id="360" name="Google Shape;360;p36"/>
          <p:cNvSpPr/>
          <p:nvPr/>
        </p:nvSpPr>
        <p:spPr>
          <a:xfrm>
            <a:off x="4936555" y="4047940"/>
            <a:ext cx="1409327" cy="10793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6B3"/>
              </a:buClr>
              <a:buSzPts val="700"/>
              <a:buFont typeface="Noto Sans Arabic"/>
              <a:buNone/>
            </a:pPr>
            <a:r>
              <a:rPr lang="en-US" sz="1000" dirty="0"/>
              <a:t>Catering and Hospitality</a:t>
            </a:r>
            <a:endParaRPr sz="700" b="0" i="0" u="none" strike="noStrike" cap="none" dirty="0">
              <a:solidFill>
                <a:schemeClr val="dk1"/>
              </a:solidFill>
              <a:latin typeface="Calibri"/>
              <a:ea typeface="Calibri"/>
              <a:cs typeface="Calibri"/>
              <a:sym typeface="Calibri"/>
            </a:endParaRPr>
          </a:p>
        </p:txBody>
      </p:sp>
      <p:sp>
        <p:nvSpPr>
          <p:cNvPr id="361" name="Google Shape;361;p36"/>
          <p:cNvSpPr/>
          <p:nvPr/>
        </p:nvSpPr>
        <p:spPr>
          <a:xfrm>
            <a:off x="6932005" y="2957513"/>
            <a:ext cx="1360661" cy="159395"/>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Noto Sans Arabic"/>
              <a:buNone/>
            </a:pPr>
            <a:r>
              <a:rPr lang="en" sz="1100" b="1" i="0" u="none" strike="noStrike" cap="none">
                <a:solidFill>
                  <a:srgbClr val="000000"/>
                </a:solidFill>
                <a:latin typeface="Noto Sans Arabic"/>
                <a:ea typeface="Noto Sans Arabic"/>
                <a:cs typeface="Noto Sans Arabic"/>
                <a:sym typeface="Noto Sans Arabic"/>
              </a:rPr>
              <a:t>Defensive Driving</a:t>
            </a:r>
            <a:endParaRPr sz="1100" b="0" i="0" u="none" strike="noStrike" cap="none">
              <a:solidFill>
                <a:schemeClr val="dk1"/>
              </a:solidFill>
              <a:latin typeface="Calibri"/>
              <a:ea typeface="Calibri"/>
              <a:cs typeface="Calibri"/>
              <a:sym typeface="Calibri"/>
            </a:endParaRPr>
          </a:p>
        </p:txBody>
      </p:sp>
      <p:sp>
        <p:nvSpPr>
          <p:cNvPr id="362" name="Google Shape;362;p36"/>
          <p:cNvSpPr/>
          <p:nvPr/>
        </p:nvSpPr>
        <p:spPr>
          <a:xfrm>
            <a:off x="6939148" y="3224957"/>
            <a:ext cx="1355527" cy="102803"/>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39C12"/>
              </a:buClr>
              <a:buSzPts val="700"/>
              <a:buFont typeface="Noto Sans Arabic"/>
              <a:buNone/>
            </a:pPr>
            <a:r>
              <a:rPr lang="en" sz="700" b="1" i="0" u="none" strike="noStrike" cap="none">
                <a:solidFill>
                  <a:srgbClr val="F39C12"/>
                </a:solidFill>
                <a:latin typeface="Noto Sans Arabic"/>
                <a:ea typeface="Noto Sans Arabic"/>
                <a:cs typeface="Noto Sans Arabic"/>
                <a:sym typeface="Noto Sans Arabic"/>
              </a:rPr>
              <a:t>FLEET RISK MANAGEMENT</a:t>
            </a:r>
            <a:endParaRPr sz="700" b="0" i="0" u="none" strike="noStrike" cap="none">
              <a:solidFill>
                <a:schemeClr val="dk1"/>
              </a:solidFill>
              <a:latin typeface="Calibri"/>
              <a:ea typeface="Calibri"/>
              <a:cs typeface="Calibri"/>
              <a:sym typeface="Calibri"/>
            </a:endParaRPr>
          </a:p>
        </p:txBody>
      </p:sp>
      <p:sp>
        <p:nvSpPr>
          <p:cNvPr id="363" name="Google Shape;363;p36"/>
          <p:cNvSpPr/>
          <p:nvPr/>
        </p:nvSpPr>
        <p:spPr>
          <a:xfrm>
            <a:off x="6858000" y="3528343"/>
            <a:ext cx="1526977" cy="262310"/>
          </a:xfrm>
          <a:prstGeom prst="rect">
            <a:avLst/>
          </a:prstGeom>
          <a:no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555555"/>
              </a:buClr>
              <a:buSzPts val="700"/>
              <a:buFont typeface="Noto Sans Arabic"/>
              <a:buNone/>
            </a:pPr>
            <a:r>
              <a:rPr lang="en" sz="700" b="0" i="0" u="none" strike="noStrike" cap="none" dirty="0">
                <a:solidFill>
                  <a:srgbClr val="555555"/>
                </a:solidFill>
                <a:latin typeface="Noto Sans Arabic"/>
                <a:ea typeface="Noto Sans Arabic"/>
                <a:cs typeface="Noto Sans Arabic"/>
                <a:sym typeface="Noto Sans Arabic"/>
              </a:rPr>
              <a:t>Fleet Safety &amp; Logistics Compliance</a:t>
            </a:r>
            <a:endParaRPr sz="700" b="0" i="0" u="none" strike="noStrike" cap="none" dirty="0">
              <a:solidFill>
                <a:schemeClr val="dk1"/>
              </a:solidFill>
              <a:latin typeface="Calibri"/>
              <a:ea typeface="Calibri"/>
              <a:cs typeface="Calibri"/>
              <a:sym typeface="Calibri"/>
            </a:endParaRPr>
          </a:p>
          <a:p>
            <a:pPr marL="0" marR="0" lvl="0" indent="0" algn="ctr" rtl="0">
              <a:lnSpc>
                <a:spcPct val="14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SAR </a:t>
            </a:r>
            <a:r>
              <a:rPr lang="en-US" sz="700" dirty="0">
                <a:solidFill>
                  <a:srgbClr val="555555"/>
                </a:solidFill>
                <a:latin typeface="Noto Sans Arabic"/>
                <a:ea typeface="Noto Sans Arabic"/>
                <a:cs typeface="Noto Sans Arabic"/>
                <a:sym typeface="Noto Sans Arabic"/>
              </a:rPr>
              <a:t>8</a:t>
            </a:r>
            <a:r>
              <a:rPr lang="en-US" sz="700" b="0" i="0" u="none" strike="noStrike" cap="none" dirty="0">
                <a:solidFill>
                  <a:srgbClr val="555555"/>
                </a:solidFill>
                <a:latin typeface="Noto Sans Arabic"/>
                <a:ea typeface="Noto Sans Arabic"/>
                <a:cs typeface="Noto Sans Arabic"/>
                <a:sym typeface="Noto Sans Arabic"/>
              </a:rPr>
              <a:t>000 · 3</a:t>
            </a:r>
            <a:r>
              <a:rPr lang="en-US" sz="700" dirty="0">
                <a:solidFill>
                  <a:srgbClr val="555555"/>
                </a:solidFill>
                <a:latin typeface="Noto Sans Arabic"/>
                <a:ea typeface="Noto Sans Arabic"/>
                <a:cs typeface="Noto Sans Arabic"/>
                <a:sym typeface="Noto Sans Arabic"/>
              </a:rPr>
              <a:t>0+</a:t>
            </a:r>
            <a:r>
              <a:rPr lang="en-US" sz="700" b="0" i="0" u="none" strike="noStrike" cap="none" dirty="0">
                <a:solidFill>
                  <a:srgbClr val="555555"/>
                </a:solidFill>
                <a:latin typeface="Noto Sans Arabic"/>
                <a:ea typeface="Noto Sans Arabic"/>
                <a:cs typeface="Noto Sans Arabic"/>
                <a:sym typeface="Noto Sans Arabic"/>
              </a:rPr>
              <a:t> B2B Leads</a:t>
            </a:r>
            <a:endParaRPr lang="en-US" sz="700" b="0" i="0" u="none" strike="noStrike" cap="none" dirty="0">
              <a:solidFill>
                <a:schemeClr val="dk1"/>
              </a:solidFill>
              <a:latin typeface="Calibri"/>
              <a:ea typeface="Calibri"/>
              <a:cs typeface="Calibri"/>
              <a:sym typeface="Calibri"/>
            </a:endParaRPr>
          </a:p>
        </p:txBody>
      </p:sp>
      <p:sp>
        <p:nvSpPr>
          <p:cNvPr id="364" name="Google Shape;364;p36"/>
          <p:cNvSpPr/>
          <p:nvPr/>
        </p:nvSpPr>
        <p:spPr>
          <a:xfrm>
            <a:off x="6847619" y="4053074"/>
            <a:ext cx="1574974" cy="10793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39C12"/>
              </a:buClr>
              <a:buSzPts val="700"/>
              <a:buFont typeface="Noto Sans Arabic"/>
              <a:buNone/>
            </a:pPr>
            <a:r>
              <a:rPr lang="en-US" sz="900" dirty="0"/>
              <a:t>Logistics, Transport &amp; Delivery</a:t>
            </a:r>
            <a:endParaRPr sz="900" b="0" i="0" u="none" strike="noStrike" cap="none" dirty="0">
              <a:solidFill>
                <a:schemeClr val="dk1"/>
              </a:solidFill>
              <a:latin typeface="Calibri"/>
              <a:ea typeface="Calibri"/>
              <a:cs typeface="Calibri"/>
              <a:sym typeface="Calibri"/>
            </a:endParaRPr>
          </a:p>
        </p:txBody>
      </p:sp>
      <p:sp>
        <p:nvSpPr>
          <p:cNvPr id="365" name="Google Shape;365;p36"/>
          <p:cNvSpPr/>
          <p:nvPr/>
        </p:nvSpPr>
        <p:spPr>
          <a:xfrm>
            <a:off x="2221930" y="4639419"/>
            <a:ext cx="4626806" cy="303386"/>
          </a:xfrm>
          <a:prstGeom prst="rect">
            <a:avLst/>
          </a:prstGeom>
          <a:no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001D3D"/>
              </a:buClr>
              <a:buSzPts val="800"/>
              <a:buFont typeface="Noto Sans Arabic"/>
              <a:buNone/>
            </a:pPr>
            <a:r>
              <a:rPr lang="en" sz="800" b="1" i="0" u="none" strike="noStrike" cap="none">
                <a:solidFill>
                  <a:srgbClr val="001D3D"/>
                </a:solidFill>
                <a:latin typeface="Noto Sans Arabic"/>
                <a:ea typeface="Noto Sans Arabic"/>
                <a:cs typeface="Noto Sans Arabic"/>
                <a:sym typeface="Noto Sans Arabic"/>
              </a:rPr>
              <a:t>Each product receives a dedicated Search Ads + Performance Max campaign —</a:t>
            </a:r>
            <a:endParaRPr sz="800" b="0" i="0" u="none" strike="noStrike" cap="none">
              <a:solidFill>
                <a:schemeClr val="dk1"/>
              </a:solidFill>
              <a:latin typeface="Calibri"/>
              <a:ea typeface="Calibri"/>
              <a:cs typeface="Calibri"/>
              <a:sym typeface="Calibri"/>
            </a:endParaRPr>
          </a:p>
          <a:p>
            <a:pPr marL="0" marR="0" lvl="0" indent="0" algn="ctr" rtl="0">
              <a:lnSpc>
                <a:spcPct val="140000"/>
              </a:lnSpc>
              <a:spcBef>
                <a:spcPts val="0"/>
              </a:spcBef>
              <a:spcAft>
                <a:spcPts val="0"/>
              </a:spcAft>
              <a:buClr>
                <a:srgbClr val="001D3D"/>
              </a:buClr>
              <a:buSzPts val="800"/>
              <a:buFont typeface="Noto Sans Arabic"/>
              <a:buNone/>
            </a:pPr>
            <a:r>
              <a:rPr lang="en" sz="800" b="1" i="0" u="none" strike="noStrike" cap="none">
                <a:solidFill>
                  <a:srgbClr val="001D3D"/>
                </a:solidFill>
                <a:latin typeface="Noto Sans Arabic"/>
                <a:ea typeface="Noto Sans Arabic"/>
                <a:cs typeface="Noto Sans Arabic"/>
                <a:sym typeface="Noto Sans Arabic"/>
              </a:rPr>
              <a:t>targeting distinct buyer personas and compliance triggers.</a:t>
            </a:r>
            <a:endParaRPr sz="800" b="0" i="0" u="none" strike="noStrike" cap="none">
              <a:solidFill>
                <a:schemeClr val="dk1"/>
              </a:solidFill>
              <a:latin typeface="Calibri"/>
              <a:ea typeface="Calibri"/>
              <a:cs typeface="Calibri"/>
              <a:sym typeface="Calibri"/>
            </a:endParaRPr>
          </a:p>
        </p:txBody>
      </p:sp>
      <p:sp>
        <p:nvSpPr>
          <p:cNvPr id="366" name="Google Shape;366;p36"/>
          <p:cNvSpPr/>
          <p:nvPr/>
        </p:nvSpPr>
        <p:spPr>
          <a:xfrm>
            <a:off x="448047" y="4855406"/>
            <a:ext cx="5586300" cy="159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800"/>
              <a:buFont typeface="Noto Sans Arabic"/>
              <a:buNone/>
            </a:pPr>
            <a:r>
              <a:rPr lang="en" sz="800" b="0" i="0" u="none" strike="noStrike" cap="none">
                <a:solidFill>
                  <a:srgbClr val="999999"/>
                </a:solidFill>
                <a:latin typeface="Noto Sans Arabic"/>
                <a:ea typeface="Noto Sans Arabic"/>
                <a:cs typeface="Noto Sans Arabic"/>
                <a:sym typeface="Noto Sans Arabic"/>
              </a:rPr>
              <a:t>Etihad Pioneers</a:t>
            </a:r>
            <a:endParaRPr sz="800" b="0" i="0" u="none" strike="noStrike" cap="none">
              <a:solidFill>
                <a:schemeClr val="dk1"/>
              </a:solidFill>
              <a:latin typeface="Calibri"/>
              <a:ea typeface="Calibri"/>
              <a:cs typeface="Calibri"/>
              <a:sym typeface="Calibri"/>
            </a:endParaRPr>
          </a:p>
        </p:txBody>
      </p:sp>
      <p:sp>
        <p:nvSpPr>
          <p:cNvPr id="367" name="Google Shape;367;p36"/>
          <p:cNvSpPr/>
          <p:nvPr/>
        </p:nvSpPr>
        <p:spPr>
          <a:xfrm>
            <a:off x="6812235" y="4860541"/>
            <a:ext cx="2331900" cy="149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900"/>
              <a:buFont typeface="Open Sans"/>
              <a:buNone/>
            </a:pPr>
            <a:r>
              <a:rPr lang="en" sz="900" b="0" i="0" u="none" strike="noStrike" cap="none">
                <a:solidFill>
                  <a:srgbClr val="999999"/>
                </a:solidFill>
                <a:latin typeface="Open Sans"/>
                <a:ea typeface="Open Sans"/>
                <a:cs typeface="Open Sans"/>
                <a:sym typeface="Open Sans"/>
              </a:rPr>
              <a:t>Google Ads Growth Proposal</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37"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374" name="Google Shape;374;p37" descr="preencoded.png"/>
          <p:cNvPicPr preferRelativeResize="0"/>
          <p:nvPr/>
        </p:nvPicPr>
        <p:blipFill rotWithShape="1">
          <a:blip r:embed="rId4">
            <a:alphaModFix/>
          </a:blip>
          <a:srcRect/>
          <a:stretch/>
        </p:blipFill>
        <p:spPr>
          <a:xfrm>
            <a:off x="0" y="257175"/>
            <a:ext cx="548618" cy="1337221"/>
          </a:xfrm>
          <a:prstGeom prst="rect">
            <a:avLst/>
          </a:prstGeom>
          <a:noFill/>
          <a:ln>
            <a:noFill/>
          </a:ln>
        </p:spPr>
      </p:pic>
      <p:pic>
        <p:nvPicPr>
          <p:cNvPr id="375" name="Google Shape;375;p37" descr="preencoded.png"/>
          <p:cNvPicPr preferRelativeResize="0"/>
          <p:nvPr/>
        </p:nvPicPr>
        <p:blipFill rotWithShape="1">
          <a:blip r:embed="rId5">
            <a:alphaModFix/>
          </a:blip>
          <a:srcRect/>
          <a:stretch/>
        </p:blipFill>
        <p:spPr>
          <a:xfrm>
            <a:off x="7680871" y="0"/>
            <a:ext cx="1463018" cy="1491593"/>
          </a:xfrm>
          <a:prstGeom prst="rect">
            <a:avLst/>
          </a:prstGeom>
          <a:noFill/>
          <a:ln>
            <a:noFill/>
          </a:ln>
        </p:spPr>
      </p:pic>
      <p:pic>
        <p:nvPicPr>
          <p:cNvPr id="376" name="Google Shape;376;p37" descr="preencoded.png"/>
          <p:cNvPicPr preferRelativeResize="0"/>
          <p:nvPr/>
        </p:nvPicPr>
        <p:blipFill rotWithShape="1">
          <a:blip r:embed="rId6">
            <a:alphaModFix/>
          </a:blip>
          <a:srcRect/>
          <a:stretch/>
        </p:blipFill>
        <p:spPr>
          <a:xfrm>
            <a:off x="6492218" y="3497535"/>
            <a:ext cx="2651671" cy="1645853"/>
          </a:xfrm>
          <a:prstGeom prst="rect">
            <a:avLst/>
          </a:prstGeom>
          <a:noFill/>
          <a:ln>
            <a:noFill/>
          </a:ln>
        </p:spPr>
      </p:pic>
      <p:pic>
        <p:nvPicPr>
          <p:cNvPr id="377" name="Google Shape;377;p37" descr="preencoded.png"/>
          <p:cNvPicPr preferRelativeResize="0"/>
          <p:nvPr/>
        </p:nvPicPr>
        <p:blipFill rotWithShape="1">
          <a:blip r:embed="rId7">
            <a:alphaModFix/>
          </a:blip>
          <a:srcRect/>
          <a:stretch/>
        </p:blipFill>
        <p:spPr>
          <a:xfrm>
            <a:off x="466241" y="187635"/>
            <a:ext cx="1704275" cy="241660"/>
          </a:xfrm>
          <a:prstGeom prst="rect">
            <a:avLst/>
          </a:prstGeom>
          <a:noFill/>
          <a:ln>
            <a:noFill/>
          </a:ln>
        </p:spPr>
      </p:pic>
      <p:pic>
        <p:nvPicPr>
          <p:cNvPr id="378" name="Google Shape;378;p37" descr="preencoded.png"/>
          <p:cNvPicPr preferRelativeResize="0"/>
          <p:nvPr/>
        </p:nvPicPr>
        <p:blipFill rotWithShape="1">
          <a:blip r:embed="rId8">
            <a:alphaModFix/>
          </a:blip>
          <a:srcRect/>
          <a:stretch/>
        </p:blipFill>
        <p:spPr>
          <a:xfrm>
            <a:off x="466241" y="1090315"/>
            <a:ext cx="1453865" cy="82265"/>
          </a:xfrm>
          <a:prstGeom prst="rect">
            <a:avLst/>
          </a:prstGeom>
          <a:noFill/>
          <a:ln>
            <a:noFill/>
          </a:ln>
        </p:spPr>
      </p:pic>
      <p:pic>
        <p:nvPicPr>
          <p:cNvPr id="379" name="Google Shape;379;p37" descr="preencoded.png"/>
          <p:cNvPicPr preferRelativeResize="0"/>
          <p:nvPr/>
        </p:nvPicPr>
        <p:blipFill rotWithShape="1">
          <a:blip r:embed="rId9">
            <a:alphaModFix/>
          </a:blip>
          <a:srcRect/>
          <a:stretch/>
        </p:blipFill>
        <p:spPr>
          <a:xfrm>
            <a:off x="1143000" y="2674553"/>
            <a:ext cx="4123842" cy="622288"/>
          </a:xfrm>
          <a:prstGeom prst="rect">
            <a:avLst/>
          </a:prstGeom>
          <a:noFill/>
          <a:ln>
            <a:noFill/>
          </a:ln>
        </p:spPr>
      </p:pic>
      <p:pic>
        <p:nvPicPr>
          <p:cNvPr id="380" name="Google Shape;380;p37" descr="preencoded.png"/>
          <p:cNvPicPr preferRelativeResize="0"/>
          <p:nvPr/>
        </p:nvPicPr>
        <p:blipFill rotWithShape="1">
          <a:blip r:embed="rId10">
            <a:alphaModFix/>
          </a:blip>
          <a:srcRect/>
          <a:stretch/>
        </p:blipFill>
        <p:spPr>
          <a:xfrm>
            <a:off x="1143000" y="2674553"/>
            <a:ext cx="63959" cy="642938"/>
          </a:xfrm>
          <a:prstGeom prst="rect">
            <a:avLst/>
          </a:prstGeom>
          <a:noFill/>
          <a:ln>
            <a:noFill/>
          </a:ln>
        </p:spPr>
      </p:pic>
      <p:pic>
        <p:nvPicPr>
          <p:cNvPr id="381" name="Google Shape;381;p37" descr="preencoded.png"/>
          <p:cNvPicPr preferRelativeResize="0"/>
          <p:nvPr/>
        </p:nvPicPr>
        <p:blipFill rotWithShape="1">
          <a:blip r:embed="rId11">
            <a:alphaModFix/>
          </a:blip>
          <a:srcRect/>
          <a:stretch/>
        </p:blipFill>
        <p:spPr>
          <a:xfrm>
            <a:off x="1115541" y="3682715"/>
            <a:ext cx="1508671" cy="236525"/>
          </a:xfrm>
          <a:prstGeom prst="rect">
            <a:avLst/>
          </a:prstGeom>
          <a:noFill/>
          <a:ln>
            <a:noFill/>
          </a:ln>
        </p:spPr>
      </p:pic>
      <p:pic>
        <p:nvPicPr>
          <p:cNvPr id="382" name="Google Shape;382;p37" descr="preencoded.png"/>
          <p:cNvPicPr preferRelativeResize="0"/>
          <p:nvPr/>
        </p:nvPicPr>
        <p:blipFill rotWithShape="1">
          <a:blip r:embed="rId12">
            <a:alphaModFix/>
          </a:blip>
          <a:srcRect/>
          <a:stretch/>
        </p:blipFill>
        <p:spPr>
          <a:xfrm>
            <a:off x="2697435" y="3682715"/>
            <a:ext cx="1206959" cy="236525"/>
          </a:xfrm>
          <a:prstGeom prst="rect">
            <a:avLst/>
          </a:prstGeom>
          <a:noFill/>
          <a:ln>
            <a:noFill/>
          </a:ln>
        </p:spPr>
      </p:pic>
      <p:pic>
        <p:nvPicPr>
          <p:cNvPr id="383" name="Google Shape;383;p37" descr="preencoded.png"/>
          <p:cNvPicPr preferRelativeResize="0"/>
          <p:nvPr/>
        </p:nvPicPr>
        <p:blipFill rotWithShape="1">
          <a:blip r:embed="rId13">
            <a:alphaModFix/>
          </a:blip>
          <a:srcRect/>
          <a:stretch/>
        </p:blipFill>
        <p:spPr>
          <a:xfrm>
            <a:off x="3977618" y="3682715"/>
            <a:ext cx="1252724" cy="236525"/>
          </a:xfrm>
          <a:prstGeom prst="rect">
            <a:avLst/>
          </a:prstGeom>
          <a:noFill/>
          <a:ln>
            <a:noFill/>
          </a:ln>
        </p:spPr>
      </p:pic>
      <p:pic>
        <p:nvPicPr>
          <p:cNvPr id="384" name="Google Shape;384;p37" descr="preencoded.png"/>
          <p:cNvPicPr preferRelativeResize="0"/>
          <p:nvPr/>
        </p:nvPicPr>
        <p:blipFill rotWithShape="1">
          <a:blip r:embed="rId14">
            <a:alphaModFix/>
          </a:blip>
          <a:srcRect/>
          <a:stretch/>
        </p:blipFill>
        <p:spPr>
          <a:xfrm>
            <a:off x="438900" y="4386825"/>
            <a:ext cx="1928374" cy="236525"/>
          </a:xfrm>
          <a:prstGeom prst="rect">
            <a:avLst/>
          </a:prstGeom>
          <a:noFill/>
          <a:ln>
            <a:noFill/>
          </a:ln>
        </p:spPr>
      </p:pic>
      <p:pic>
        <p:nvPicPr>
          <p:cNvPr id="385" name="Google Shape;385;p37" descr="preencoded.png"/>
          <p:cNvPicPr preferRelativeResize="0"/>
          <p:nvPr/>
        </p:nvPicPr>
        <p:blipFill rotWithShape="1">
          <a:blip r:embed="rId15">
            <a:alphaModFix/>
          </a:blip>
          <a:srcRect/>
          <a:stretch/>
        </p:blipFill>
        <p:spPr>
          <a:xfrm>
            <a:off x="2468837" y="4386821"/>
            <a:ext cx="1435558" cy="237529"/>
          </a:xfrm>
          <a:prstGeom prst="rect">
            <a:avLst/>
          </a:prstGeom>
          <a:noFill/>
          <a:ln>
            <a:noFill/>
          </a:ln>
        </p:spPr>
      </p:pic>
      <p:pic>
        <p:nvPicPr>
          <p:cNvPr id="386" name="Google Shape;386;p37" descr="preencoded.png"/>
          <p:cNvPicPr preferRelativeResize="0"/>
          <p:nvPr/>
        </p:nvPicPr>
        <p:blipFill rotWithShape="1">
          <a:blip r:embed="rId16">
            <a:alphaModFix/>
          </a:blip>
          <a:srcRect/>
          <a:stretch/>
        </p:blipFill>
        <p:spPr>
          <a:xfrm>
            <a:off x="3977618" y="4386821"/>
            <a:ext cx="1709924" cy="237529"/>
          </a:xfrm>
          <a:prstGeom prst="rect">
            <a:avLst/>
          </a:prstGeom>
          <a:noFill/>
          <a:ln>
            <a:noFill/>
          </a:ln>
        </p:spPr>
      </p:pic>
      <p:pic>
        <p:nvPicPr>
          <p:cNvPr id="387" name="Google Shape;387;p37" descr="preencoded.png"/>
          <p:cNvPicPr preferRelativeResize="0"/>
          <p:nvPr/>
        </p:nvPicPr>
        <p:blipFill rotWithShape="1">
          <a:blip r:embed="rId17">
            <a:alphaModFix/>
          </a:blip>
          <a:srcRect/>
          <a:stretch/>
        </p:blipFill>
        <p:spPr>
          <a:xfrm>
            <a:off x="5797265" y="313655"/>
            <a:ext cx="2999147" cy="4454240"/>
          </a:xfrm>
          <a:prstGeom prst="rect">
            <a:avLst/>
          </a:prstGeom>
          <a:noFill/>
          <a:ln>
            <a:noFill/>
          </a:ln>
        </p:spPr>
      </p:pic>
      <p:pic>
        <p:nvPicPr>
          <p:cNvPr id="388" name="Google Shape;388;p37" descr="preencoded.png"/>
          <p:cNvPicPr preferRelativeResize="0"/>
          <p:nvPr/>
        </p:nvPicPr>
        <p:blipFill rotWithShape="1">
          <a:blip r:embed="rId18">
            <a:alphaModFix/>
          </a:blip>
          <a:srcRect/>
          <a:stretch/>
        </p:blipFill>
        <p:spPr>
          <a:xfrm>
            <a:off x="6080671" y="829568"/>
            <a:ext cx="2423071" cy="7144"/>
          </a:xfrm>
          <a:prstGeom prst="rect">
            <a:avLst/>
          </a:prstGeom>
          <a:noFill/>
          <a:ln>
            <a:noFill/>
          </a:ln>
        </p:spPr>
      </p:pic>
      <p:pic>
        <p:nvPicPr>
          <p:cNvPr id="389" name="Google Shape;389;p37" descr="preencoded.png"/>
          <p:cNvPicPr preferRelativeResize="0"/>
          <p:nvPr/>
        </p:nvPicPr>
        <p:blipFill rotWithShape="1">
          <a:blip r:embed="rId19">
            <a:alphaModFix/>
          </a:blip>
          <a:srcRect/>
          <a:stretch/>
        </p:blipFill>
        <p:spPr>
          <a:xfrm>
            <a:off x="6071518" y="995214"/>
            <a:ext cx="832024" cy="257175"/>
          </a:xfrm>
          <a:prstGeom prst="rect">
            <a:avLst/>
          </a:prstGeom>
          <a:noFill/>
          <a:ln>
            <a:noFill/>
          </a:ln>
        </p:spPr>
      </p:pic>
      <p:pic>
        <p:nvPicPr>
          <p:cNvPr id="390" name="Google Shape;390;p37" descr="preencoded.png"/>
          <p:cNvPicPr preferRelativeResize="0"/>
          <p:nvPr/>
        </p:nvPicPr>
        <p:blipFill rotWithShape="1">
          <a:blip r:embed="rId20">
            <a:alphaModFix/>
          </a:blip>
          <a:srcRect/>
          <a:stretch/>
        </p:blipFill>
        <p:spPr>
          <a:xfrm>
            <a:off x="6071518" y="2183309"/>
            <a:ext cx="1197806" cy="262310"/>
          </a:xfrm>
          <a:prstGeom prst="rect">
            <a:avLst/>
          </a:prstGeom>
          <a:noFill/>
          <a:ln>
            <a:noFill/>
          </a:ln>
        </p:spPr>
      </p:pic>
      <p:pic>
        <p:nvPicPr>
          <p:cNvPr id="391" name="Google Shape;391;p37" descr="preencoded.png"/>
          <p:cNvPicPr preferRelativeResize="0"/>
          <p:nvPr/>
        </p:nvPicPr>
        <p:blipFill rotWithShape="1">
          <a:blip r:embed="rId21">
            <a:alphaModFix/>
          </a:blip>
          <a:srcRect/>
          <a:stretch/>
        </p:blipFill>
        <p:spPr>
          <a:xfrm>
            <a:off x="6080671" y="3375645"/>
            <a:ext cx="2423071" cy="7144"/>
          </a:xfrm>
          <a:prstGeom prst="rect">
            <a:avLst/>
          </a:prstGeom>
          <a:noFill/>
          <a:ln>
            <a:noFill/>
          </a:ln>
        </p:spPr>
      </p:pic>
      <p:pic>
        <p:nvPicPr>
          <p:cNvPr id="392" name="Google Shape;392;p37" descr="preencoded.png"/>
          <p:cNvPicPr preferRelativeResize="0"/>
          <p:nvPr/>
        </p:nvPicPr>
        <p:blipFill rotWithShape="1">
          <a:blip r:embed="rId22">
            <a:alphaModFix/>
          </a:blip>
          <a:srcRect/>
          <a:stretch/>
        </p:blipFill>
        <p:spPr>
          <a:xfrm>
            <a:off x="484547" y="3446078"/>
            <a:ext cx="438894" cy="426839"/>
          </a:xfrm>
          <a:prstGeom prst="rect">
            <a:avLst/>
          </a:prstGeom>
          <a:noFill/>
          <a:ln>
            <a:noFill/>
          </a:ln>
        </p:spPr>
      </p:pic>
      <p:pic>
        <p:nvPicPr>
          <p:cNvPr id="393" name="Google Shape;393;p37" descr="preencoded.png"/>
          <p:cNvPicPr preferRelativeResize="0"/>
          <p:nvPr/>
        </p:nvPicPr>
        <p:blipFill rotWithShape="1">
          <a:blip r:embed="rId23">
            <a:alphaModFix/>
          </a:blip>
          <a:srcRect/>
          <a:stretch/>
        </p:blipFill>
        <p:spPr>
          <a:xfrm>
            <a:off x="484547" y="2473970"/>
            <a:ext cx="438894" cy="431974"/>
          </a:xfrm>
          <a:prstGeom prst="rect">
            <a:avLst/>
          </a:prstGeom>
          <a:noFill/>
          <a:ln>
            <a:noFill/>
          </a:ln>
        </p:spPr>
      </p:pic>
      <p:pic>
        <p:nvPicPr>
          <p:cNvPr id="394" name="Google Shape;394;p37" descr="preencoded.png"/>
          <p:cNvPicPr preferRelativeResize="0"/>
          <p:nvPr/>
        </p:nvPicPr>
        <p:blipFill rotWithShape="1">
          <a:blip r:embed="rId24">
            <a:alphaModFix/>
          </a:blip>
          <a:srcRect/>
          <a:stretch/>
        </p:blipFill>
        <p:spPr>
          <a:xfrm>
            <a:off x="484547" y="1697310"/>
            <a:ext cx="438894" cy="437108"/>
          </a:xfrm>
          <a:prstGeom prst="rect">
            <a:avLst/>
          </a:prstGeom>
          <a:noFill/>
          <a:ln>
            <a:noFill/>
          </a:ln>
        </p:spPr>
      </p:pic>
      <p:sp>
        <p:nvSpPr>
          <p:cNvPr id="395" name="Google Shape;395;p37"/>
          <p:cNvSpPr/>
          <p:nvPr/>
        </p:nvSpPr>
        <p:spPr>
          <a:xfrm>
            <a:off x="557771" y="257175"/>
            <a:ext cx="3617595" cy="1028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PRODUCT STRATEGY - 01 OF 04</a:t>
            </a:r>
            <a:endParaRPr sz="800" b="0" i="0" u="none" strike="noStrike" cap="none">
              <a:solidFill>
                <a:schemeClr val="dk1"/>
              </a:solidFill>
              <a:latin typeface="Calibri"/>
              <a:ea typeface="Calibri"/>
              <a:cs typeface="Calibri"/>
              <a:sym typeface="Calibri"/>
            </a:endParaRPr>
          </a:p>
        </p:txBody>
      </p:sp>
      <p:sp>
        <p:nvSpPr>
          <p:cNvPr id="396" name="Google Shape;396;p37"/>
          <p:cNvSpPr/>
          <p:nvPr/>
        </p:nvSpPr>
        <p:spPr>
          <a:xfrm>
            <a:off x="466241" y="503969"/>
            <a:ext cx="8677759" cy="49883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3400"/>
              <a:buFont typeface="Noto Sans Arabic"/>
              <a:buNone/>
            </a:pPr>
            <a:r>
              <a:rPr lang="en" sz="3400" b="1" i="0" u="none" strike="noStrike" cap="none" dirty="0">
                <a:solidFill>
                  <a:srgbClr val="11223E"/>
                </a:solidFill>
                <a:latin typeface="Noto Sans Arabic"/>
                <a:ea typeface="Noto Sans Arabic"/>
                <a:cs typeface="Noto Sans Arabic"/>
                <a:sym typeface="Noto Sans Arabic"/>
              </a:rPr>
              <a:t>IPAF TRAINING</a:t>
            </a:r>
            <a:endParaRPr sz="3400" b="0" i="0" u="none" strike="noStrike" cap="none" dirty="0">
              <a:solidFill>
                <a:schemeClr val="dk1"/>
              </a:solidFill>
              <a:latin typeface="Calibri"/>
              <a:ea typeface="Calibri"/>
              <a:cs typeface="Calibri"/>
              <a:sym typeface="Calibri"/>
            </a:endParaRPr>
          </a:p>
        </p:txBody>
      </p:sp>
      <p:sp>
        <p:nvSpPr>
          <p:cNvPr id="397" name="Google Shape;397;p37"/>
          <p:cNvSpPr/>
          <p:nvPr/>
        </p:nvSpPr>
        <p:spPr>
          <a:xfrm>
            <a:off x="457200" y="1254956"/>
            <a:ext cx="8686800" cy="17479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Noto Sans Arabic"/>
              <a:buNone/>
            </a:pPr>
            <a:r>
              <a:rPr lang="en" sz="1200" b="0" i="0" u="none" strike="noStrike" cap="none">
                <a:solidFill>
                  <a:srgbClr val="555555"/>
                </a:solidFill>
                <a:latin typeface="Noto Sans Arabic"/>
                <a:ea typeface="Noto Sans Arabic"/>
                <a:cs typeface="Noto Sans Arabic"/>
                <a:sym typeface="Noto Sans Arabic"/>
              </a:rPr>
              <a:t>Civil Defense Compliance &amp; Corporate Certification</a:t>
            </a:r>
            <a:endParaRPr sz="1200" b="0" i="0" u="none" strike="noStrike" cap="none">
              <a:solidFill>
                <a:schemeClr val="dk1"/>
              </a:solidFill>
              <a:latin typeface="Calibri"/>
              <a:ea typeface="Calibri"/>
              <a:cs typeface="Calibri"/>
              <a:sym typeface="Calibri"/>
            </a:endParaRPr>
          </a:p>
        </p:txBody>
      </p:sp>
      <p:sp>
        <p:nvSpPr>
          <p:cNvPr id="398" name="Google Shape;398;p37"/>
          <p:cNvSpPr/>
          <p:nvPr/>
        </p:nvSpPr>
        <p:spPr>
          <a:xfrm>
            <a:off x="1106388" y="1687041"/>
            <a:ext cx="3157538"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Campaign Objective</a:t>
            </a:r>
            <a:endParaRPr sz="1100" b="0" i="0" u="none" strike="noStrike" cap="none">
              <a:solidFill>
                <a:schemeClr val="dk1"/>
              </a:solidFill>
              <a:latin typeface="Calibri"/>
              <a:ea typeface="Calibri"/>
              <a:cs typeface="Calibri"/>
              <a:sym typeface="Calibri"/>
            </a:endParaRPr>
          </a:p>
        </p:txBody>
      </p:sp>
      <p:sp>
        <p:nvSpPr>
          <p:cNvPr id="399" name="Google Shape;399;p37"/>
          <p:cNvSpPr/>
          <p:nvPr/>
        </p:nvSpPr>
        <p:spPr>
          <a:xfrm>
            <a:off x="1097223" y="1897900"/>
            <a:ext cx="4242900" cy="457800"/>
          </a:xfrm>
          <a:prstGeom prst="rect">
            <a:avLst/>
          </a:prstGeom>
          <a:noFill/>
          <a:ln>
            <a:noFill/>
          </a:ln>
        </p:spPr>
        <p:txBody>
          <a:bodyPr spcFirstLastPara="1" wrap="square" lIns="0" tIns="0" rIns="0" bIns="0" anchor="ctr" anchorCtr="0">
            <a:noAutofit/>
          </a:bodyPr>
          <a:lstStyle/>
          <a:p>
            <a:pPr marL="0" marR="0" lvl="0" indent="0" algn="l" rtl="0">
              <a:lnSpc>
                <a:spcPct val="130039"/>
              </a:lnSpc>
              <a:spcBef>
                <a:spcPts val="0"/>
              </a:spcBef>
              <a:spcAft>
                <a:spcPts val="0"/>
              </a:spcAft>
              <a:buClr>
                <a:srgbClr val="555555"/>
              </a:buClr>
              <a:buSzPts val="1000"/>
              <a:buFont typeface="Noto Sans Arabic"/>
              <a:buNone/>
            </a:pPr>
            <a:r>
              <a:rPr lang="en-US" sz="800" dirty="0"/>
              <a:t>Capture enterprise demand for IPAF-accredited MEWP (Mobile Elevating Work Platform) operator certification. Target HSE Directors, Plant Hire Procurement Leads, and EPC Site Managers requiring official PAL Cards for giga-project site access.</a:t>
            </a:r>
            <a:endParaRPr sz="800" b="0" i="0" u="none" strike="noStrike" cap="none" dirty="0">
              <a:solidFill>
                <a:schemeClr val="dk1"/>
              </a:solidFill>
              <a:latin typeface="Calibri"/>
              <a:ea typeface="Calibri"/>
              <a:cs typeface="Calibri"/>
              <a:sym typeface="Calibri"/>
            </a:endParaRPr>
          </a:p>
        </p:txBody>
      </p:sp>
      <p:sp>
        <p:nvSpPr>
          <p:cNvPr id="400" name="Google Shape;400;p37"/>
          <p:cNvSpPr/>
          <p:nvPr/>
        </p:nvSpPr>
        <p:spPr>
          <a:xfrm>
            <a:off x="1106388" y="2468835"/>
            <a:ext cx="2586038"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B2B Ad Message</a:t>
            </a:r>
            <a:endParaRPr sz="1100" b="0" i="0" u="none" strike="noStrike" cap="none">
              <a:solidFill>
                <a:schemeClr val="dk1"/>
              </a:solidFill>
              <a:latin typeface="Calibri"/>
              <a:ea typeface="Calibri"/>
              <a:cs typeface="Calibri"/>
              <a:sym typeface="Calibri"/>
            </a:endParaRPr>
          </a:p>
        </p:txBody>
      </p:sp>
      <p:sp>
        <p:nvSpPr>
          <p:cNvPr id="401" name="Google Shape;401;p37"/>
          <p:cNvSpPr/>
          <p:nvPr/>
        </p:nvSpPr>
        <p:spPr>
          <a:xfrm>
            <a:off x="1252725" y="2761950"/>
            <a:ext cx="3876300" cy="4473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555555"/>
              </a:buClr>
              <a:buSzPts val="900"/>
              <a:buFont typeface="Noto Sans Arabic"/>
              <a:buNone/>
            </a:pPr>
            <a:r>
              <a:rPr lang="en-US" sz="800" dirty="0"/>
              <a:t>IPAF PAL Card Certified Operator Training in KSA. Ensure TVTC &amp; Aramco compliance across 3a, 3b &amp; PAV equipment. Request a Corporate Bulk Quote Today</a:t>
            </a:r>
            <a:endParaRPr sz="800" b="0" i="0" u="none" strike="noStrike" cap="none" dirty="0">
              <a:solidFill>
                <a:schemeClr val="dk1"/>
              </a:solidFill>
              <a:latin typeface="Calibri"/>
              <a:ea typeface="Calibri"/>
              <a:cs typeface="Calibri"/>
              <a:sym typeface="Calibri"/>
            </a:endParaRPr>
          </a:p>
        </p:txBody>
      </p:sp>
      <p:sp>
        <p:nvSpPr>
          <p:cNvPr id="402" name="Google Shape;402;p37"/>
          <p:cNvSpPr/>
          <p:nvPr/>
        </p:nvSpPr>
        <p:spPr>
          <a:xfrm>
            <a:off x="1106388" y="3430674"/>
            <a:ext cx="5557837"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Performance Max Audience Signals</a:t>
            </a:r>
            <a:endParaRPr sz="1100" b="0" i="0" u="none" strike="noStrike" cap="none">
              <a:solidFill>
                <a:schemeClr val="dk1"/>
              </a:solidFill>
              <a:latin typeface="Calibri"/>
              <a:ea typeface="Calibri"/>
              <a:cs typeface="Calibri"/>
              <a:sym typeface="Calibri"/>
            </a:endParaRPr>
          </a:p>
        </p:txBody>
      </p:sp>
      <p:sp>
        <p:nvSpPr>
          <p:cNvPr id="403" name="Google Shape;403;p37"/>
          <p:cNvSpPr/>
          <p:nvPr/>
        </p:nvSpPr>
        <p:spPr>
          <a:xfrm>
            <a:off x="1225265" y="3734172"/>
            <a:ext cx="317754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US" sz="800" b="0" i="0" u="none" strike="noStrike" cap="none" dirty="0">
                <a:solidFill>
                  <a:srgbClr val="FFFFFF"/>
                </a:solidFill>
                <a:latin typeface="Noto Sans Arabic"/>
                <a:ea typeface="Noto Sans Arabic"/>
                <a:cs typeface="Noto Sans Arabic"/>
                <a:sym typeface="Noto Sans Arabic"/>
              </a:rPr>
              <a:t>Plant Hire Procurement</a:t>
            </a:r>
            <a:endParaRPr lang="en-US" sz="800" b="0" i="0" u="none" strike="noStrike" cap="none" dirty="0">
              <a:solidFill>
                <a:schemeClr val="dk1"/>
              </a:solidFill>
              <a:latin typeface="Calibri"/>
              <a:ea typeface="Calibri"/>
              <a:cs typeface="Calibri"/>
              <a:sym typeface="Calibri"/>
            </a:endParaRPr>
          </a:p>
        </p:txBody>
      </p:sp>
      <p:sp>
        <p:nvSpPr>
          <p:cNvPr id="404" name="Google Shape;404;p37"/>
          <p:cNvSpPr/>
          <p:nvPr/>
        </p:nvSpPr>
        <p:spPr>
          <a:xfrm>
            <a:off x="2823210" y="3734172"/>
            <a:ext cx="197739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a:solidFill>
                  <a:srgbClr val="FFFFFF"/>
                </a:solidFill>
                <a:latin typeface="Noto Sans Arabic"/>
                <a:ea typeface="Noto Sans Arabic"/>
                <a:cs typeface="Noto Sans Arabic"/>
                <a:sym typeface="Noto Sans Arabic"/>
              </a:rPr>
              <a:t>Safety Engineers</a:t>
            </a:r>
            <a:endParaRPr sz="800" b="0" i="0" u="none" strike="noStrike" cap="none">
              <a:solidFill>
                <a:schemeClr val="dk1"/>
              </a:solidFill>
              <a:latin typeface="Calibri"/>
              <a:ea typeface="Calibri"/>
              <a:cs typeface="Calibri"/>
              <a:sym typeface="Calibri"/>
            </a:endParaRPr>
          </a:p>
        </p:txBody>
      </p:sp>
      <p:sp>
        <p:nvSpPr>
          <p:cNvPr id="405" name="Google Shape;405;p37"/>
          <p:cNvSpPr/>
          <p:nvPr/>
        </p:nvSpPr>
        <p:spPr>
          <a:xfrm>
            <a:off x="4089083" y="3734172"/>
            <a:ext cx="2337435"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dirty="0">
                <a:solidFill>
                  <a:srgbClr val="FFFFFF"/>
                </a:solidFill>
                <a:latin typeface="Noto Sans Arabic"/>
                <a:ea typeface="Noto Sans Arabic"/>
                <a:cs typeface="Noto Sans Arabic"/>
                <a:sym typeface="Noto Sans Arabic"/>
              </a:rPr>
              <a:t>EPC Contractors</a:t>
            </a:r>
            <a:endParaRPr sz="800" b="0" i="0" u="none" strike="noStrike" cap="none" dirty="0">
              <a:solidFill>
                <a:schemeClr val="dk1"/>
              </a:solidFill>
              <a:latin typeface="Calibri"/>
              <a:ea typeface="Calibri"/>
              <a:cs typeface="Calibri"/>
              <a:sym typeface="Calibri"/>
            </a:endParaRPr>
          </a:p>
        </p:txBody>
      </p:sp>
      <p:sp>
        <p:nvSpPr>
          <p:cNvPr id="406" name="Google Shape;406;p37"/>
          <p:cNvSpPr/>
          <p:nvPr/>
        </p:nvSpPr>
        <p:spPr>
          <a:xfrm>
            <a:off x="420588" y="4191930"/>
            <a:ext cx="2457450" cy="1130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7D6A"/>
              </a:buClr>
              <a:buSzPts val="800"/>
              <a:buFont typeface="Noto Sans Arabic"/>
              <a:buNone/>
            </a:pPr>
            <a:r>
              <a:rPr lang="en" sz="800" b="1" i="0" u="none" strike="noStrike" cap="none">
                <a:solidFill>
                  <a:srgbClr val="2E7D6A"/>
                </a:solidFill>
                <a:latin typeface="Noto Sans Arabic"/>
                <a:ea typeface="Noto Sans Arabic"/>
                <a:cs typeface="Noto Sans Arabic"/>
                <a:sym typeface="Noto Sans Arabic"/>
              </a:rPr>
              <a:t>HIGH-INTENT KEYWORDS</a:t>
            </a:r>
            <a:endParaRPr sz="800" b="0" i="0" u="none" strike="noStrike" cap="none">
              <a:solidFill>
                <a:schemeClr val="dk1"/>
              </a:solidFill>
              <a:latin typeface="Calibri"/>
              <a:ea typeface="Calibri"/>
              <a:cs typeface="Calibri"/>
              <a:sym typeface="Calibri"/>
            </a:endParaRPr>
          </a:p>
        </p:txBody>
      </p:sp>
      <p:sp>
        <p:nvSpPr>
          <p:cNvPr id="407" name="Google Shape;407;p37"/>
          <p:cNvSpPr/>
          <p:nvPr/>
        </p:nvSpPr>
        <p:spPr>
          <a:xfrm>
            <a:off x="502853" y="4443971"/>
            <a:ext cx="4626293"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I</a:t>
            </a:r>
            <a:r>
              <a:rPr lang="en" sz="700" b="0" i="0" u="none" strike="noStrike" cap="none" dirty="0">
                <a:solidFill>
                  <a:srgbClr val="555555"/>
                </a:solidFill>
                <a:latin typeface="Noto Sans Arabic"/>
                <a:ea typeface="Noto Sans Arabic"/>
                <a:cs typeface="Noto Sans Arabic"/>
                <a:sym typeface="Noto Sans Arabic"/>
              </a:rPr>
              <a:t>paf pal card training in saudi </a:t>
            </a:r>
            <a:endParaRPr sz="700" b="0" i="0" u="none" strike="noStrike" cap="none" dirty="0">
              <a:solidFill>
                <a:schemeClr val="dk1"/>
              </a:solidFill>
              <a:latin typeface="Calibri"/>
              <a:ea typeface="Calibri"/>
              <a:cs typeface="Calibri"/>
              <a:sym typeface="Calibri"/>
            </a:endParaRPr>
          </a:p>
        </p:txBody>
      </p:sp>
      <p:sp>
        <p:nvSpPr>
          <p:cNvPr id="408" name="Google Shape;408;p37"/>
          <p:cNvSpPr/>
          <p:nvPr/>
        </p:nvSpPr>
        <p:spPr>
          <a:xfrm>
            <a:off x="2578559" y="4443971"/>
            <a:ext cx="340042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M</a:t>
            </a:r>
            <a:r>
              <a:rPr lang="en" sz="700" b="0" i="0" u="none" strike="noStrike" cap="none" dirty="0">
                <a:solidFill>
                  <a:srgbClr val="555555"/>
                </a:solidFill>
                <a:latin typeface="Noto Sans Arabic"/>
                <a:ea typeface="Noto Sans Arabic"/>
                <a:cs typeface="Noto Sans Arabic"/>
                <a:sym typeface="Noto Sans Arabic"/>
              </a:rPr>
              <a:t>ewp operator certification</a:t>
            </a:r>
            <a:endParaRPr sz="700" b="0" i="0" u="none" strike="noStrike" cap="none" dirty="0">
              <a:solidFill>
                <a:schemeClr val="dk1"/>
              </a:solidFill>
              <a:latin typeface="Calibri"/>
              <a:ea typeface="Calibri"/>
              <a:cs typeface="Calibri"/>
              <a:sym typeface="Calibri"/>
            </a:endParaRPr>
          </a:p>
        </p:txBody>
      </p:sp>
      <p:sp>
        <p:nvSpPr>
          <p:cNvPr id="409" name="Google Shape;409;p37"/>
          <p:cNvSpPr/>
          <p:nvPr/>
        </p:nvSpPr>
        <p:spPr>
          <a:xfrm>
            <a:off x="4105647" y="4443971"/>
            <a:ext cx="384619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I</a:t>
            </a:r>
            <a:r>
              <a:rPr lang="en" sz="700" b="0" i="0" u="none" strike="noStrike" cap="none" dirty="0">
                <a:solidFill>
                  <a:srgbClr val="555555"/>
                </a:solidFill>
                <a:latin typeface="Noto Sans Arabic"/>
                <a:ea typeface="Noto Sans Arabic"/>
                <a:cs typeface="Noto Sans Arabic"/>
                <a:sym typeface="Noto Sans Arabic"/>
              </a:rPr>
              <a:t>paf training in ksa/citywise too</a:t>
            </a:r>
            <a:endParaRPr sz="700" b="0" i="0" u="none" strike="noStrike" cap="none" dirty="0">
              <a:solidFill>
                <a:schemeClr val="dk1"/>
              </a:solidFill>
              <a:latin typeface="Calibri"/>
              <a:ea typeface="Calibri"/>
              <a:cs typeface="Calibri"/>
              <a:sym typeface="Calibri"/>
            </a:endParaRPr>
          </a:p>
        </p:txBody>
      </p:sp>
      <p:sp>
        <p:nvSpPr>
          <p:cNvPr id="410" name="Google Shape;410;p37"/>
          <p:cNvSpPr/>
          <p:nvPr/>
        </p:nvSpPr>
        <p:spPr>
          <a:xfrm>
            <a:off x="6035017" y="524619"/>
            <a:ext cx="2986087" cy="1799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Noto Sans Arabic"/>
              <a:buNone/>
            </a:pPr>
            <a:r>
              <a:rPr lang="en" sz="1100" b="1" i="0" u="none" strike="noStrike" cap="none">
                <a:solidFill>
                  <a:srgbClr val="FFFFFF"/>
                </a:solidFill>
                <a:latin typeface="Noto Sans Arabic"/>
                <a:ea typeface="Noto Sans Arabic"/>
                <a:cs typeface="Noto Sans Arabic"/>
                <a:sym typeface="Noto Sans Arabic"/>
              </a:rPr>
              <a:t>BUDGET ALLOCATION</a:t>
            </a:r>
            <a:endParaRPr sz="1100" b="0" i="0" u="none" strike="noStrike" cap="none">
              <a:solidFill>
                <a:schemeClr val="dk1"/>
              </a:solidFill>
              <a:latin typeface="Calibri"/>
              <a:ea typeface="Calibri"/>
              <a:cs typeface="Calibri"/>
              <a:sym typeface="Calibri"/>
            </a:endParaRPr>
          </a:p>
        </p:txBody>
      </p:sp>
      <p:sp>
        <p:nvSpPr>
          <p:cNvPr id="411" name="Google Shape;411;p37"/>
          <p:cNvSpPr/>
          <p:nvPr/>
        </p:nvSpPr>
        <p:spPr>
          <a:xfrm>
            <a:off x="6117283" y="1059508"/>
            <a:ext cx="1518047"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Search Ads</a:t>
            </a:r>
            <a:endParaRPr sz="1000" b="0" i="0" u="none" strike="noStrike" cap="none">
              <a:solidFill>
                <a:schemeClr val="dk1"/>
              </a:solidFill>
              <a:latin typeface="Calibri"/>
              <a:ea typeface="Calibri"/>
              <a:cs typeface="Calibri"/>
              <a:sym typeface="Calibri"/>
            </a:endParaRPr>
          </a:p>
        </p:txBody>
      </p:sp>
      <p:sp>
        <p:nvSpPr>
          <p:cNvPr id="412" name="Google Shape;412;p37"/>
          <p:cNvSpPr/>
          <p:nvPr/>
        </p:nvSpPr>
        <p:spPr>
          <a:xfrm>
            <a:off x="6025865" y="1326952"/>
            <a:ext cx="3118135" cy="40630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dirty="0">
                <a:solidFill>
                  <a:srgbClr val="FFFFFF"/>
                </a:solidFill>
                <a:latin typeface="Noto Sans Arabic"/>
                <a:ea typeface="Noto Sans Arabic"/>
                <a:cs typeface="Noto Sans Arabic"/>
                <a:sym typeface="Noto Sans Arabic"/>
              </a:rPr>
              <a:t>SAR 6,000</a:t>
            </a:r>
            <a:endParaRPr sz="2900" b="0" i="0" u="none" strike="noStrike" cap="none" dirty="0">
              <a:solidFill>
                <a:schemeClr val="dk1"/>
              </a:solidFill>
              <a:latin typeface="Calibri"/>
              <a:ea typeface="Calibri"/>
              <a:cs typeface="Calibri"/>
              <a:sym typeface="Calibri"/>
            </a:endParaRPr>
          </a:p>
        </p:txBody>
      </p:sp>
      <p:sp>
        <p:nvSpPr>
          <p:cNvPr id="413" name="Google Shape;413;p37"/>
          <p:cNvSpPr/>
          <p:nvPr/>
        </p:nvSpPr>
        <p:spPr>
          <a:xfrm>
            <a:off x="6035017" y="1759036"/>
            <a:ext cx="3108983"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High-Intent Keywords</a:t>
            </a:r>
            <a:endParaRPr sz="1100" b="0" i="0" u="none" strike="noStrike" cap="none">
              <a:solidFill>
                <a:schemeClr val="dk1"/>
              </a:solidFill>
              <a:latin typeface="Calibri"/>
              <a:ea typeface="Calibri"/>
              <a:cs typeface="Calibri"/>
              <a:sym typeface="Calibri"/>
            </a:endParaRPr>
          </a:p>
        </p:txBody>
      </p:sp>
      <p:sp>
        <p:nvSpPr>
          <p:cNvPr id="414" name="Google Shape;414;p37"/>
          <p:cNvSpPr/>
          <p:nvPr/>
        </p:nvSpPr>
        <p:spPr>
          <a:xfrm>
            <a:off x="6126435" y="2247602"/>
            <a:ext cx="2246710"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Performance Max</a:t>
            </a:r>
            <a:endParaRPr sz="1000" b="0" i="0" u="none" strike="noStrike" cap="none">
              <a:solidFill>
                <a:schemeClr val="dk1"/>
              </a:solidFill>
              <a:latin typeface="Calibri"/>
              <a:ea typeface="Calibri"/>
              <a:cs typeface="Calibri"/>
              <a:sym typeface="Calibri"/>
            </a:endParaRPr>
          </a:p>
        </p:txBody>
      </p:sp>
      <p:sp>
        <p:nvSpPr>
          <p:cNvPr id="415" name="Google Shape;415;p37"/>
          <p:cNvSpPr/>
          <p:nvPr/>
        </p:nvSpPr>
        <p:spPr>
          <a:xfrm>
            <a:off x="6025865" y="2530562"/>
            <a:ext cx="3118135" cy="39603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a:solidFill>
                  <a:srgbClr val="FFFFFF"/>
                </a:solidFill>
                <a:latin typeface="Noto Sans Arabic"/>
                <a:ea typeface="Noto Sans Arabic"/>
                <a:cs typeface="Noto Sans Arabic"/>
                <a:sym typeface="Noto Sans Arabic"/>
              </a:rPr>
              <a:t>SAR 2,000</a:t>
            </a:r>
            <a:endParaRPr sz="2900" b="0" i="0" u="none" strike="noStrike" cap="none">
              <a:solidFill>
                <a:schemeClr val="dk1"/>
              </a:solidFill>
              <a:latin typeface="Calibri"/>
              <a:ea typeface="Calibri"/>
              <a:cs typeface="Calibri"/>
              <a:sym typeface="Calibri"/>
            </a:endParaRPr>
          </a:p>
        </p:txBody>
      </p:sp>
      <p:sp>
        <p:nvSpPr>
          <p:cNvPr id="416" name="Google Shape;416;p37"/>
          <p:cNvSpPr/>
          <p:nvPr/>
        </p:nvSpPr>
        <p:spPr>
          <a:xfrm>
            <a:off x="6035017" y="2957513"/>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B2B Audience Signals</a:t>
            </a:r>
            <a:endParaRPr sz="1100" b="0" i="0" u="none" strike="noStrike" cap="none">
              <a:solidFill>
                <a:schemeClr val="dk1"/>
              </a:solidFill>
              <a:latin typeface="Calibri"/>
              <a:ea typeface="Calibri"/>
              <a:cs typeface="Calibri"/>
              <a:sym typeface="Calibri"/>
            </a:endParaRPr>
          </a:p>
        </p:txBody>
      </p:sp>
      <p:sp>
        <p:nvSpPr>
          <p:cNvPr id="417" name="Google Shape;417;p37"/>
          <p:cNvSpPr/>
          <p:nvPr/>
        </p:nvSpPr>
        <p:spPr>
          <a:xfrm>
            <a:off x="6025865" y="3548993"/>
            <a:ext cx="3118135"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9A825"/>
              </a:buClr>
              <a:buSzPts val="1100"/>
              <a:buFont typeface="Noto Sans Arabic"/>
              <a:buNone/>
            </a:pPr>
            <a:r>
              <a:rPr lang="en" sz="1100" b="1" i="0" u="none" strike="noStrike" cap="none">
                <a:solidFill>
                  <a:srgbClr val="F9A825"/>
                </a:solidFill>
                <a:latin typeface="Noto Sans Arabic"/>
                <a:ea typeface="Noto Sans Arabic"/>
                <a:cs typeface="Noto Sans Arabic"/>
                <a:sym typeface="Noto Sans Arabic"/>
              </a:rPr>
              <a:t>PROJECTED B2B LEADS</a:t>
            </a:r>
            <a:endParaRPr sz="1100" b="0" i="0" u="none" strike="noStrike" cap="none">
              <a:solidFill>
                <a:schemeClr val="dk1"/>
              </a:solidFill>
              <a:latin typeface="Calibri"/>
              <a:ea typeface="Calibri"/>
              <a:cs typeface="Calibri"/>
              <a:sym typeface="Calibri"/>
            </a:endParaRPr>
          </a:p>
        </p:txBody>
      </p:sp>
      <p:sp>
        <p:nvSpPr>
          <p:cNvPr id="418" name="Google Shape;418;p37"/>
          <p:cNvSpPr/>
          <p:nvPr/>
        </p:nvSpPr>
        <p:spPr>
          <a:xfrm>
            <a:off x="6053323" y="3816437"/>
            <a:ext cx="3090677" cy="52975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4600"/>
              <a:buFont typeface="Noto Sans Arabic"/>
              <a:buNone/>
            </a:pPr>
            <a:r>
              <a:rPr lang="en" sz="4600" b="1" dirty="0">
                <a:solidFill>
                  <a:srgbClr val="FFFFFF"/>
                </a:solidFill>
                <a:latin typeface="Noto Sans Arabic"/>
                <a:ea typeface="Noto Sans Arabic"/>
                <a:cs typeface="Noto Sans Arabic"/>
                <a:sym typeface="Noto Sans Arabic"/>
              </a:rPr>
              <a:t>30</a:t>
            </a:r>
            <a:r>
              <a:rPr lang="en" sz="4600" b="1" i="0" u="none" strike="noStrike" cap="none" dirty="0">
                <a:solidFill>
                  <a:srgbClr val="FFFFFF"/>
                </a:solidFill>
                <a:latin typeface="Noto Sans Arabic"/>
                <a:ea typeface="Noto Sans Arabic"/>
                <a:cs typeface="Noto Sans Arabic"/>
                <a:sym typeface="Noto Sans Arabic"/>
              </a:rPr>
              <a:t>+</a:t>
            </a:r>
            <a:endParaRPr sz="4600" b="0" i="0" u="none" strike="noStrike" cap="none" dirty="0">
              <a:solidFill>
                <a:schemeClr val="dk1"/>
              </a:solidFill>
              <a:latin typeface="Calibri"/>
              <a:ea typeface="Calibri"/>
              <a:cs typeface="Calibri"/>
              <a:sym typeface="Calibri"/>
            </a:endParaRPr>
          </a:p>
        </p:txBody>
      </p:sp>
      <p:sp>
        <p:nvSpPr>
          <p:cNvPr id="419" name="Google Shape;419;p37"/>
          <p:cNvSpPr/>
          <p:nvPr/>
        </p:nvSpPr>
        <p:spPr>
          <a:xfrm>
            <a:off x="6035017" y="4397648"/>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Qualified Corporate RFQs</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37"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374" name="Google Shape;374;p37" descr="preencoded.png"/>
          <p:cNvPicPr preferRelativeResize="0"/>
          <p:nvPr/>
        </p:nvPicPr>
        <p:blipFill rotWithShape="1">
          <a:blip r:embed="rId4">
            <a:alphaModFix/>
          </a:blip>
          <a:srcRect/>
          <a:stretch/>
        </p:blipFill>
        <p:spPr>
          <a:xfrm>
            <a:off x="0" y="257175"/>
            <a:ext cx="548618" cy="1337221"/>
          </a:xfrm>
          <a:prstGeom prst="rect">
            <a:avLst/>
          </a:prstGeom>
          <a:noFill/>
          <a:ln>
            <a:noFill/>
          </a:ln>
        </p:spPr>
      </p:pic>
      <p:pic>
        <p:nvPicPr>
          <p:cNvPr id="375" name="Google Shape;375;p37" descr="preencoded.png"/>
          <p:cNvPicPr preferRelativeResize="0"/>
          <p:nvPr/>
        </p:nvPicPr>
        <p:blipFill rotWithShape="1">
          <a:blip r:embed="rId5">
            <a:alphaModFix/>
          </a:blip>
          <a:srcRect/>
          <a:stretch/>
        </p:blipFill>
        <p:spPr>
          <a:xfrm>
            <a:off x="7680871" y="0"/>
            <a:ext cx="1463018" cy="1491593"/>
          </a:xfrm>
          <a:prstGeom prst="rect">
            <a:avLst/>
          </a:prstGeom>
          <a:noFill/>
          <a:ln>
            <a:noFill/>
          </a:ln>
        </p:spPr>
      </p:pic>
      <p:pic>
        <p:nvPicPr>
          <p:cNvPr id="376" name="Google Shape;376;p37" descr="preencoded.png"/>
          <p:cNvPicPr preferRelativeResize="0"/>
          <p:nvPr/>
        </p:nvPicPr>
        <p:blipFill rotWithShape="1">
          <a:blip r:embed="rId6">
            <a:alphaModFix/>
          </a:blip>
          <a:srcRect/>
          <a:stretch/>
        </p:blipFill>
        <p:spPr>
          <a:xfrm>
            <a:off x="6492218" y="3497535"/>
            <a:ext cx="2651671" cy="1645853"/>
          </a:xfrm>
          <a:prstGeom prst="rect">
            <a:avLst/>
          </a:prstGeom>
          <a:noFill/>
          <a:ln>
            <a:noFill/>
          </a:ln>
        </p:spPr>
      </p:pic>
      <p:pic>
        <p:nvPicPr>
          <p:cNvPr id="377" name="Google Shape;377;p37" descr="preencoded.png"/>
          <p:cNvPicPr preferRelativeResize="0"/>
          <p:nvPr/>
        </p:nvPicPr>
        <p:blipFill rotWithShape="1">
          <a:blip r:embed="rId7">
            <a:alphaModFix/>
          </a:blip>
          <a:srcRect/>
          <a:stretch/>
        </p:blipFill>
        <p:spPr>
          <a:xfrm>
            <a:off x="466241" y="187635"/>
            <a:ext cx="1704275" cy="241660"/>
          </a:xfrm>
          <a:prstGeom prst="rect">
            <a:avLst/>
          </a:prstGeom>
          <a:noFill/>
          <a:ln>
            <a:noFill/>
          </a:ln>
        </p:spPr>
      </p:pic>
      <p:pic>
        <p:nvPicPr>
          <p:cNvPr id="378" name="Google Shape;378;p37" descr="preencoded.png"/>
          <p:cNvPicPr preferRelativeResize="0"/>
          <p:nvPr/>
        </p:nvPicPr>
        <p:blipFill rotWithShape="1">
          <a:blip r:embed="rId8">
            <a:alphaModFix/>
          </a:blip>
          <a:srcRect/>
          <a:stretch/>
        </p:blipFill>
        <p:spPr>
          <a:xfrm>
            <a:off x="466241" y="1090315"/>
            <a:ext cx="1453865" cy="82265"/>
          </a:xfrm>
          <a:prstGeom prst="rect">
            <a:avLst/>
          </a:prstGeom>
          <a:noFill/>
          <a:ln>
            <a:noFill/>
          </a:ln>
        </p:spPr>
      </p:pic>
      <p:pic>
        <p:nvPicPr>
          <p:cNvPr id="379" name="Google Shape;379;p37" descr="preencoded.png"/>
          <p:cNvPicPr preferRelativeResize="0"/>
          <p:nvPr/>
        </p:nvPicPr>
        <p:blipFill rotWithShape="1">
          <a:blip r:embed="rId9">
            <a:alphaModFix/>
          </a:blip>
          <a:srcRect/>
          <a:stretch/>
        </p:blipFill>
        <p:spPr>
          <a:xfrm>
            <a:off x="1143000" y="2674553"/>
            <a:ext cx="4123842" cy="622288"/>
          </a:xfrm>
          <a:prstGeom prst="rect">
            <a:avLst/>
          </a:prstGeom>
          <a:noFill/>
          <a:ln>
            <a:noFill/>
          </a:ln>
        </p:spPr>
      </p:pic>
      <p:pic>
        <p:nvPicPr>
          <p:cNvPr id="380" name="Google Shape;380;p37" descr="preencoded.png"/>
          <p:cNvPicPr preferRelativeResize="0"/>
          <p:nvPr/>
        </p:nvPicPr>
        <p:blipFill rotWithShape="1">
          <a:blip r:embed="rId10">
            <a:alphaModFix/>
          </a:blip>
          <a:srcRect/>
          <a:stretch/>
        </p:blipFill>
        <p:spPr>
          <a:xfrm>
            <a:off x="1143000" y="2674553"/>
            <a:ext cx="63959" cy="642938"/>
          </a:xfrm>
          <a:prstGeom prst="rect">
            <a:avLst/>
          </a:prstGeom>
          <a:noFill/>
          <a:ln>
            <a:noFill/>
          </a:ln>
        </p:spPr>
      </p:pic>
      <p:pic>
        <p:nvPicPr>
          <p:cNvPr id="381" name="Google Shape;381;p37" descr="preencoded.png"/>
          <p:cNvPicPr preferRelativeResize="0"/>
          <p:nvPr/>
        </p:nvPicPr>
        <p:blipFill rotWithShape="1">
          <a:blip r:embed="rId11">
            <a:alphaModFix/>
          </a:blip>
          <a:srcRect/>
          <a:stretch/>
        </p:blipFill>
        <p:spPr>
          <a:xfrm>
            <a:off x="1115541" y="3682715"/>
            <a:ext cx="1508671" cy="236525"/>
          </a:xfrm>
          <a:prstGeom prst="rect">
            <a:avLst/>
          </a:prstGeom>
          <a:noFill/>
          <a:ln>
            <a:noFill/>
          </a:ln>
        </p:spPr>
      </p:pic>
      <p:pic>
        <p:nvPicPr>
          <p:cNvPr id="382" name="Google Shape;382;p37" descr="preencoded.png"/>
          <p:cNvPicPr preferRelativeResize="0"/>
          <p:nvPr/>
        </p:nvPicPr>
        <p:blipFill rotWithShape="1">
          <a:blip r:embed="rId12">
            <a:alphaModFix/>
          </a:blip>
          <a:srcRect/>
          <a:stretch/>
        </p:blipFill>
        <p:spPr>
          <a:xfrm>
            <a:off x="2697435" y="3682715"/>
            <a:ext cx="1206959" cy="236525"/>
          </a:xfrm>
          <a:prstGeom prst="rect">
            <a:avLst/>
          </a:prstGeom>
          <a:noFill/>
          <a:ln>
            <a:noFill/>
          </a:ln>
        </p:spPr>
      </p:pic>
      <p:pic>
        <p:nvPicPr>
          <p:cNvPr id="383" name="Google Shape;383;p37" descr="preencoded.png"/>
          <p:cNvPicPr preferRelativeResize="0"/>
          <p:nvPr/>
        </p:nvPicPr>
        <p:blipFill rotWithShape="1">
          <a:blip r:embed="rId13">
            <a:alphaModFix/>
          </a:blip>
          <a:srcRect/>
          <a:stretch/>
        </p:blipFill>
        <p:spPr>
          <a:xfrm>
            <a:off x="3977618" y="3682715"/>
            <a:ext cx="1252724" cy="236525"/>
          </a:xfrm>
          <a:prstGeom prst="rect">
            <a:avLst/>
          </a:prstGeom>
          <a:noFill/>
          <a:ln>
            <a:noFill/>
          </a:ln>
        </p:spPr>
      </p:pic>
      <p:pic>
        <p:nvPicPr>
          <p:cNvPr id="384" name="Google Shape;384;p37" descr="preencoded.png"/>
          <p:cNvPicPr preferRelativeResize="0"/>
          <p:nvPr/>
        </p:nvPicPr>
        <p:blipFill rotWithShape="1">
          <a:blip r:embed="rId14">
            <a:alphaModFix/>
          </a:blip>
          <a:srcRect/>
          <a:stretch/>
        </p:blipFill>
        <p:spPr>
          <a:xfrm>
            <a:off x="438900" y="4386825"/>
            <a:ext cx="1928374" cy="236525"/>
          </a:xfrm>
          <a:prstGeom prst="rect">
            <a:avLst/>
          </a:prstGeom>
          <a:noFill/>
          <a:ln>
            <a:noFill/>
          </a:ln>
        </p:spPr>
      </p:pic>
      <p:pic>
        <p:nvPicPr>
          <p:cNvPr id="385" name="Google Shape;385;p37" descr="preencoded.png"/>
          <p:cNvPicPr preferRelativeResize="0"/>
          <p:nvPr/>
        </p:nvPicPr>
        <p:blipFill rotWithShape="1">
          <a:blip r:embed="rId15">
            <a:alphaModFix/>
          </a:blip>
          <a:srcRect/>
          <a:stretch/>
        </p:blipFill>
        <p:spPr>
          <a:xfrm>
            <a:off x="2468837" y="4386821"/>
            <a:ext cx="1435558" cy="237529"/>
          </a:xfrm>
          <a:prstGeom prst="rect">
            <a:avLst/>
          </a:prstGeom>
          <a:noFill/>
          <a:ln>
            <a:noFill/>
          </a:ln>
        </p:spPr>
      </p:pic>
      <p:pic>
        <p:nvPicPr>
          <p:cNvPr id="386" name="Google Shape;386;p37" descr="preencoded.png"/>
          <p:cNvPicPr preferRelativeResize="0"/>
          <p:nvPr/>
        </p:nvPicPr>
        <p:blipFill rotWithShape="1">
          <a:blip r:embed="rId16">
            <a:alphaModFix/>
          </a:blip>
          <a:srcRect/>
          <a:stretch/>
        </p:blipFill>
        <p:spPr>
          <a:xfrm>
            <a:off x="3977618" y="4386821"/>
            <a:ext cx="1709924" cy="237529"/>
          </a:xfrm>
          <a:prstGeom prst="rect">
            <a:avLst/>
          </a:prstGeom>
          <a:noFill/>
          <a:ln>
            <a:noFill/>
          </a:ln>
        </p:spPr>
      </p:pic>
      <p:pic>
        <p:nvPicPr>
          <p:cNvPr id="387" name="Google Shape;387;p37" descr="preencoded.png"/>
          <p:cNvPicPr preferRelativeResize="0"/>
          <p:nvPr/>
        </p:nvPicPr>
        <p:blipFill rotWithShape="1">
          <a:blip r:embed="rId17">
            <a:alphaModFix/>
          </a:blip>
          <a:srcRect/>
          <a:stretch/>
        </p:blipFill>
        <p:spPr>
          <a:xfrm>
            <a:off x="5797265" y="313655"/>
            <a:ext cx="2999147" cy="4454240"/>
          </a:xfrm>
          <a:prstGeom prst="rect">
            <a:avLst/>
          </a:prstGeom>
          <a:noFill/>
          <a:ln>
            <a:noFill/>
          </a:ln>
        </p:spPr>
      </p:pic>
      <p:pic>
        <p:nvPicPr>
          <p:cNvPr id="388" name="Google Shape;388;p37" descr="preencoded.png"/>
          <p:cNvPicPr preferRelativeResize="0"/>
          <p:nvPr/>
        </p:nvPicPr>
        <p:blipFill rotWithShape="1">
          <a:blip r:embed="rId18">
            <a:alphaModFix/>
          </a:blip>
          <a:srcRect/>
          <a:stretch/>
        </p:blipFill>
        <p:spPr>
          <a:xfrm>
            <a:off x="6080671" y="829568"/>
            <a:ext cx="2423071" cy="7144"/>
          </a:xfrm>
          <a:prstGeom prst="rect">
            <a:avLst/>
          </a:prstGeom>
          <a:noFill/>
          <a:ln>
            <a:noFill/>
          </a:ln>
        </p:spPr>
      </p:pic>
      <p:pic>
        <p:nvPicPr>
          <p:cNvPr id="389" name="Google Shape;389;p37" descr="preencoded.png"/>
          <p:cNvPicPr preferRelativeResize="0"/>
          <p:nvPr/>
        </p:nvPicPr>
        <p:blipFill rotWithShape="1">
          <a:blip r:embed="rId19">
            <a:alphaModFix/>
          </a:blip>
          <a:srcRect/>
          <a:stretch/>
        </p:blipFill>
        <p:spPr>
          <a:xfrm>
            <a:off x="6071518" y="995214"/>
            <a:ext cx="832024" cy="257175"/>
          </a:xfrm>
          <a:prstGeom prst="rect">
            <a:avLst/>
          </a:prstGeom>
          <a:noFill/>
          <a:ln>
            <a:noFill/>
          </a:ln>
        </p:spPr>
      </p:pic>
      <p:pic>
        <p:nvPicPr>
          <p:cNvPr id="390" name="Google Shape;390;p37" descr="preencoded.png"/>
          <p:cNvPicPr preferRelativeResize="0"/>
          <p:nvPr/>
        </p:nvPicPr>
        <p:blipFill rotWithShape="1">
          <a:blip r:embed="rId20">
            <a:alphaModFix/>
          </a:blip>
          <a:srcRect/>
          <a:stretch/>
        </p:blipFill>
        <p:spPr>
          <a:xfrm>
            <a:off x="6071518" y="2183309"/>
            <a:ext cx="1197806" cy="262310"/>
          </a:xfrm>
          <a:prstGeom prst="rect">
            <a:avLst/>
          </a:prstGeom>
          <a:noFill/>
          <a:ln>
            <a:noFill/>
          </a:ln>
        </p:spPr>
      </p:pic>
      <p:pic>
        <p:nvPicPr>
          <p:cNvPr id="391" name="Google Shape;391;p37" descr="preencoded.png"/>
          <p:cNvPicPr preferRelativeResize="0"/>
          <p:nvPr/>
        </p:nvPicPr>
        <p:blipFill rotWithShape="1">
          <a:blip r:embed="rId21">
            <a:alphaModFix/>
          </a:blip>
          <a:srcRect/>
          <a:stretch/>
        </p:blipFill>
        <p:spPr>
          <a:xfrm>
            <a:off x="6080671" y="3375645"/>
            <a:ext cx="2423071" cy="7144"/>
          </a:xfrm>
          <a:prstGeom prst="rect">
            <a:avLst/>
          </a:prstGeom>
          <a:noFill/>
          <a:ln>
            <a:noFill/>
          </a:ln>
        </p:spPr>
      </p:pic>
      <p:pic>
        <p:nvPicPr>
          <p:cNvPr id="392" name="Google Shape;392;p37" descr="preencoded.png"/>
          <p:cNvPicPr preferRelativeResize="0"/>
          <p:nvPr/>
        </p:nvPicPr>
        <p:blipFill rotWithShape="1">
          <a:blip r:embed="rId22">
            <a:alphaModFix/>
          </a:blip>
          <a:srcRect/>
          <a:stretch/>
        </p:blipFill>
        <p:spPr>
          <a:xfrm>
            <a:off x="484547" y="3446078"/>
            <a:ext cx="438894" cy="426839"/>
          </a:xfrm>
          <a:prstGeom prst="rect">
            <a:avLst/>
          </a:prstGeom>
          <a:noFill/>
          <a:ln>
            <a:noFill/>
          </a:ln>
        </p:spPr>
      </p:pic>
      <p:pic>
        <p:nvPicPr>
          <p:cNvPr id="393" name="Google Shape;393;p37" descr="preencoded.png"/>
          <p:cNvPicPr preferRelativeResize="0"/>
          <p:nvPr/>
        </p:nvPicPr>
        <p:blipFill rotWithShape="1">
          <a:blip r:embed="rId23">
            <a:alphaModFix/>
          </a:blip>
          <a:srcRect/>
          <a:stretch/>
        </p:blipFill>
        <p:spPr>
          <a:xfrm>
            <a:off x="484547" y="2473970"/>
            <a:ext cx="438894" cy="431974"/>
          </a:xfrm>
          <a:prstGeom prst="rect">
            <a:avLst/>
          </a:prstGeom>
          <a:noFill/>
          <a:ln>
            <a:noFill/>
          </a:ln>
        </p:spPr>
      </p:pic>
      <p:pic>
        <p:nvPicPr>
          <p:cNvPr id="394" name="Google Shape;394;p37" descr="preencoded.png"/>
          <p:cNvPicPr preferRelativeResize="0"/>
          <p:nvPr/>
        </p:nvPicPr>
        <p:blipFill rotWithShape="1">
          <a:blip r:embed="rId24">
            <a:alphaModFix/>
          </a:blip>
          <a:srcRect/>
          <a:stretch/>
        </p:blipFill>
        <p:spPr>
          <a:xfrm>
            <a:off x="484547" y="1697310"/>
            <a:ext cx="438894" cy="437108"/>
          </a:xfrm>
          <a:prstGeom prst="rect">
            <a:avLst/>
          </a:prstGeom>
          <a:noFill/>
          <a:ln>
            <a:noFill/>
          </a:ln>
        </p:spPr>
      </p:pic>
      <p:sp>
        <p:nvSpPr>
          <p:cNvPr id="395" name="Google Shape;395;p37"/>
          <p:cNvSpPr/>
          <p:nvPr/>
        </p:nvSpPr>
        <p:spPr>
          <a:xfrm>
            <a:off x="557771" y="257175"/>
            <a:ext cx="3617595" cy="1028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PRODUCT STRATEGY - 01 OF 04</a:t>
            </a:r>
            <a:endParaRPr sz="800" b="0" i="0" u="none" strike="noStrike" cap="none">
              <a:solidFill>
                <a:schemeClr val="dk1"/>
              </a:solidFill>
              <a:latin typeface="Calibri"/>
              <a:ea typeface="Calibri"/>
              <a:cs typeface="Calibri"/>
              <a:sym typeface="Calibri"/>
            </a:endParaRPr>
          </a:p>
        </p:txBody>
      </p:sp>
      <p:sp>
        <p:nvSpPr>
          <p:cNvPr id="396" name="Google Shape;396;p37"/>
          <p:cNvSpPr/>
          <p:nvPr/>
        </p:nvSpPr>
        <p:spPr>
          <a:xfrm>
            <a:off x="466241" y="503969"/>
            <a:ext cx="8677759" cy="49883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3400"/>
              <a:buFont typeface="Noto Sans Arabic"/>
              <a:buNone/>
            </a:pPr>
            <a:r>
              <a:rPr lang="en" sz="3400" b="1" i="0" u="none" strike="noStrike" cap="none" dirty="0">
                <a:solidFill>
                  <a:srgbClr val="11223E"/>
                </a:solidFill>
                <a:latin typeface="Noto Sans Arabic"/>
                <a:ea typeface="Noto Sans Arabic"/>
                <a:cs typeface="Noto Sans Arabic"/>
                <a:sym typeface="Noto Sans Arabic"/>
              </a:rPr>
              <a:t>PASMA TRAINING</a:t>
            </a:r>
            <a:endParaRPr sz="3400" b="0" i="0" u="none" strike="noStrike" cap="none" dirty="0">
              <a:solidFill>
                <a:schemeClr val="dk1"/>
              </a:solidFill>
              <a:latin typeface="Calibri"/>
              <a:ea typeface="Calibri"/>
              <a:cs typeface="Calibri"/>
              <a:sym typeface="Calibri"/>
            </a:endParaRPr>
          </a:p>
        </p:txBody>
      </p:sp>
      <p:sp>
        <p:nvSpPr>
          <p:cNvPr id="397" name="Google Shape;397;p37"/>
          <p:cNvSpPr/>
          <p:nvPr/>
        </p:nvSpPr>
        <p:spPr>
          <a:xfrm>
            <a:off x="457200" y="1254956"/>
            <a:ext cx="8686800" cy="17479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Noto Sans Arabic"/>
              <a:buNone/>
            </a:pPr>
            <a:r>
              <a:rPr lang="en-US" dirty="0"/>
              <a:t>Mobile Access Tower Safety &amp; Assembly Compliance</a:t>
            </a:r>
            <a:endParaRPr b="0" i="0" u="none" strike="noStrike" cap="none" dirty="0">
              <a:solidFill>
                <a:schemeClr val="dk1"/>
              </a:solidFill>
              <a:latin typeface="Calibri"/>
              <a:ea typeface="Calibri"/>
              <a:cs typeface="Calibri"/>
              <a:sym typeface="Calibri"/>
            </a:endParaRPr>
          </a:p>
        </p:txBody>
      </p:sp>
      <p:sp>
        <p:nvSpPr>
          <p:cNvPr id="398" name="Google Shape;398;p37"/>
          <p:cNvSpPr/>
          <p:nvPr/>
        </p:nvSpPr>
        <p:spPr>
          <a:xfrm>
            <a:off x="1106388" y="1687041"/>
            <a:ext cx="3157538"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Campaign Objective</a:t>
            </a:r>
            <a:endParaRPr sz="1100" b="0" i="0" u="none" strike="noStrike" cap="none">
              <a:solidFill>
                <a:schemeClr val="dk1"/>
              </a:solidFill>
              <a:latin typeface="Calibri"/>
              <a:ea typeface="Calibri"/>
              <a:cs typeface="Calibri"/>
              <a:sym typeface="Calibri"/>
            </a:endParaRPr>
          </a:p>
        </p:txBody>
      </p:sp>
      <p:sp>
        <p:nvSpPr>
          <p:cNvPr id="399" name="Google Shape;399;p37"/>
          <p:cNvSpPr/>
          <p:nvPr/>
        </p:nvSpPr>
        <p:spPr>
          <a:xfrm>
            <a:off x="1097223" y="1897900"/>
            <a:ext cx="4242900" cy="457800"/>
          </a:xfrm>
          <a:prstGeom prst="rect">
            <a:avLst/>
          </a:prstGeom>
          <a:noFill/>
          <a:ln>
            <a:noFill/>
          </a:ln>
        </p:spPr>
        <p:txBody>
          <a:bodyPr spcFirstLastPara="1" wrap="square" lIns="0" tIns="0" rIns="0" bIns="0" anchor="ctr" anchorCtr="0">
            <a:noAutofit/>
          </a:bodyPr>
          <a:lstStyle/>
          <a:p>
            <a:pPr marL="0" marR="0" lvl="0" indent="0" algn="l" rtl="0">
              <a:lnSpc>
                <a:spcPct val="130039"/>
              </a:lnSpc>
              <a:spcBef>
                <a:spcPts val="0"/>
              </a:spcBef>
              <a:spcAft>
                <a:spcPts val="0"/>
              </a:spcAft>
              <a:buClr>
                <a:srgbClr val="555555"/>
              </a:buClr>
              <a:buSzPts val="1000"/>
              <a:buFont typeface="Noto Sans Arabic"/>
              <a:buNone/>
            </a:pPr>
            <a:r>
              <a:rPr lang="en-US" sz="900" dirty="0"/>
              <a:t>Capture corporate demand for certified PASMA mobile tower assembly/inspection training. Target Safety Officers, Scaffolding Leads, and FM Directors requiring TVTC compliance</a:t>
            </a:r>
            <a:endParaRPr sz="900" b="0" i="0" u="none" strike="noStrike" cap="none" dirty="0">
              <a:solidFill>
                <a:schemeClr val="dk1"/>
              </a:solidFill>
              <a:latin typeface="Calibri"/>
              <a:ea typeface="Calibri"/>
              <a:cs typeface="Calibri"/>
              <a:sym typeface="Calibri"/>
            </a:endParaRPr>
          </a:p>
        </p:txBody>
      </p:sp>
      <p:sp>
        <p:nvSpPr>
          <p:cNvPr id="400" name="Google Shape;400;p37"/>
          <p:cNvSpPr/>
          <p:nvPr/>
        </p:nvSpPr>
        <p:spPr>
          <a:xfrm>
            <a:off x="1106388" y="2468835"/>
            <a:ext cx="2586038"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B2B Ad Message</a:t>
            </a:r>
            <a:endParaRPr sz="1100" b="0" i="0" u="none" strike="noStrike" cap="none">
              <a:solidFill>
                <a:schemeClr val="dk1"/>
              </a:solidFill>
              <a:latin typeface="Calibri"/>
              <a:ea typeface="Calibri"/>
              <a:cs typeface="Calibri"/>
              <a:sym typeface="Calibri"/>
            </a:endParaRPr>
          </a:p>
        </p:txBody>
      </p:sp>
      <p:sp>
        <p:nvSpPr>
          <p:cNvPr id="401" name="Google Shape;401;p37"/>
          <p:cNvSpPr/>
          <p:nvPr/>
        </p:nvSpPr>
        <p:spPr>
          <a:xfrm>
            <a:off x="1252725" y="2761950"/>
            <a:ext cx="3876300" cy="4473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555555"/>
              </a:buClr>
              <a:buSzPts val="900"/>
              <a:buFont typeface="Noto Sans Arabic"/>
              <a:buNone/>
            </a:pPr>
            <a:r>
              <a:rPr lang="en-US" sz="900" dirty="0"/>
              <a:t>PASMA Mobile Scaffold Tower Training in KSA. TVTC &amp; Site Safety Compliant for Towers for Users &amp; Managers. Get a Bulk Quote.</a:t>
            </a:r>
            <a:endParaRPr sz="900" b="0" i="0" u="none" strike="noStrike" cap="none" dirty="0">
              <a:solidFill>
                <a:schemeClr val="dk1"/>
              </a:solidFill>
              <a:latin typeface="Calibri"/>
              <a:ea typeface="Calibri"/>
              <a:cs typeface="Calibri"/>
              <a:sym typeface="Calibri"/>
            </a:endParaRPr>
          </a:p>
        </p:txBody>
      </p:sp>
      <p:sp>
        <p:nvSpPr>
          <p:cNvPr id="402" name="Google Shape;402;p37"/>
          <p:cNvSpPr/>
          <p:nvPr/>
        </p:nvSpPr>
        <p:spPr>
          <a:xfrm>
            <a:off x="1106388" y="3430674"/>
            <a:ext cx="5557837"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Performance Max Audience Signals</a:t>
            </a:r>
            <a:endParaRPr sz="1100" b="0" i="0" u="none" strike="noStrike" cap="none">
              <a:solidFill>
                <a:schemeClr val="dk1"/>
              </a:solidFill>
              <a:latin typeface="Calibri"/>
              <a:ea typeface="Calibri"/>
              <a:cs typeface="Calibri"/>
              <a:sym typeface="Calibri"/>
            </a:endParaRPr>
          </a:p>
        </p:txBody>
      </p:sp>
      <p:sp>
        <p:nvSpPr>
          <p:cNvPr id="403" name="Google Shape;403;p37"/>
          <p:cNvSpPr/>
          <p:nvPr/>
        </p:nvSpPr>
        <p:spPr>
          <a:xfrm>
            <a:off x="1225265" y="3734172"/>
            <a:ext cx="317754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US" sz="800" b="0" i="0" u="none" strike="noStrike" cap="none" dirty="0" err="1">
                <a:solidFill>
                  <a:srgbClr val="FFFFFF"/>
                </a:solidFill>
                <a:latin typeface="Noto Sans Arabic"/>
                <a:ea typeface="Noto Sans Arabic"/>
                <a:cs typeface="Noto Sans Arabic"/>
                <a:sym typeface="Noto Sans Arabic"/>
              </a:rPr>
              <a:t>Scaffoling</a:t>
            </a:r>
            <a:r>
              <a:rPr lang="en-US" sz="800" b="0" i="0" u="none" strike="noStrike" cap="none" dirty="0">
                <a:solidFill>
                  <a:srgbClr val="FFFFFF"/>
                </a:solidFill>
                <a:latin typeface="Noto Sans Arabic"/>
                <a:ea typeface="Noto Sans Arabic"/>
                <a:cs typeface="Noto Sans Arabic"/>
                <a:sym typeface="Noto Sans Arabic"/>
              </a:rPr>
              <a:t> Contractors</a:t>
            </a:r>
            <a:endParaRPr lang="en-US" sz="800" b="0" i="0" u="none" strike="noStrike" cap="none" dirty="0">
              <a:solidFill>
                <a:schemeClr val="dk1"/>
              </a:solidFill>
              <a:latin typeface="Calibri"/>
              <a:ea typeface="Calibri"/>
              <a:cs typeface="Calibri"/>
              <a:sym typeface="Calibri"/>
            </a:endParaRPr>
          </a:p>
        </p:txBody>
      </p:sp>
      <p:sp>
        <p:nvSpPr>
          <p:cNvPr id="404" name="Google Shape;404;p37"/>
          <p:cNvSpPr/>
          <p:nvPr/>
        </p:nvSpPr>
        <p:spPr>
          <a:xfrm>
            <a:off x="2823210" y="3734172"/>
            <a:ext cx="197739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dirty="0">
                <a:solidFill>
                  <a:srgbClr val="FFFFFF"/>
                </a:solidFill>
                <a:latin typeface="Noto Sans Arabic"/>
                <a:ea typeface="Noto Sans Arabic"/>
                <a:cs typeface="Noto Sans Arabic"/>
                <a:sym typeface="Noto Sans Arabic"/>
              </a:rPr>
              <a:t>FM Heads</a:t>
            </a:r>
            <a:endParaRPr sz="800" b="0" i="0" u="none" strike="noStrike" cap="none" dirty="0">
              <a:solidFill>
                <a:schemeClr val="dk1"/>
              </a:solidFill>
              <a:latin typeface="Calibri"/>
              <a:ea typeface="Calibri"/>
              <a:cs typeface="Calibri"/>
              <a:sym typeface="Calibri"/>
            </a:endParaRPr>
          </a:p>
        </p:txBody>
      </p:sp>
      <p:sp>
        <p:nvSpPr>
          <p:cNvPr id="405" name="Google Shape;405;p37"/>
          <p:cNvSpPr/>
          <p:nvPr/>
        </p:nvSpPr>
        <p:spPr>
          <a:xfrm>
            <a:off x="4089083" y="3734172"/>
            <a:ext cx="2337435"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dirty="0">
                <a:solidFill>
                  <a:srgbClr val="FFFFFF"/>
                </a:solidFill>
                <a:latin typeface="Noto Sans Arabic"/>
                <a:ea typeface="Noto Sans Arabic"/>
                <a:cs typeface="Noto Sans Arabic"/>
                <a:sym typeface="Noto Sans Arabic"/>
              </a:rPr>
              <a:t>Site Civil Engineers</a:t>
            </a:r>
            <a:endParaRPr sz="800" b="0" i="0" u="none" strike="noStrike" cap="none" dirty="0">
              <a:solidFill>
                <a:schemeClr val="dk1"/>
              </a:solidFill>
              <a:latin typeface="Calibri"/>
              <a:ea typeface="Calibri"/>
              <a:cs typeface="Calibri"/>
              <a:sym typeface="Calibri"/>
            </a:endParaRPr>
          </a:p>
        </p:txBody>
      </p:sp>
      <p:sp>
        <p:nvSpPr>
          <p:cNvPr id="406" name="Google Shape;406;p37"/>
          <p:cNvSpPr/>
          <p:nvPr/>
        </p:nvSpPr>
        <p:spPr>
          <a:xfrm>
            <a:off x="420588" y="4191930"/>
            <a:ext cx="2457450" cy="1130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7D6A"/>
              </a:buClr>
              <a:buSzPts val="800"/>
              <a:buFont typeface="Noto Sans Arabic"/>
              <a:buNone/>
            </a:pPr>
            <a:r>
              <a:rPr lang="en" sz="800" b="1" i="0" u="none" strike="noStrike" cap="none">
                <a:solidFill>
                  <a:srgbClr val="2E7D6A"/>
                </a:solidFill>
                <a:latin typeface="Noto Sans Arabic"/>
                <a:ea typeface="Noto Sans Arabic"/>
                <a:cs typeface="Noto Sans Arabic"/>
                <a:sym typeface="Noto Sans Arabic"/>
              </a:rPr>
              <a:t>HIGH-INTENT KEYWORDS</a:t>
            </a:r>
            <a:endParaRPr sz="800" b="0" i="0" u="none" strike="noStrike" cap="none">
              <a:solidFill>
                <a:schemeClr val="dk1"/>
              </a:solidFill>
              <a:latin typeface="Calibri"/>
              <a:ea typeface="Calibri"/>
              <a:cs typeface="Calibri"/>
              <a:sym typeface="Calibri"/>
            </a:endParaRPr>
          </a:p>
        </p:txBody>
      </p:sp>
      <p:sp>
        <p:nvSpPr>
          <p:cNvPr id="407" name="Google Shape;407;p37"/>
          <p:cNvSpPr/>
          <p:nvPr/>
        </p:nvSpPr>
        <p:spPr>
          <a:xfrm>
            <a:off x="502853" y="4443971"/>
            <a:ext cx="4626293"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Pasma </a:t>
            </a:r>
            <a:r>
              <a:rPr lang="en" sz="700" b="0" i="0" u="none" strike="noStrike" cap="none" dirty="0">
                <a:solidFill>
                  <a:srgbClr val="555555"/>
                </a:solidFill>
                <a:latin typeface="Noto Sans Arabic"/>
                <a:ea typeface="Noto Sans Arabic"/>
                <a:cs typeface="Noto Sans Arabic"/>
                <a:sym typeface="Noto Sans Arabic"/>
              </a:rPr>
              <a:t>training in saudi </a:t>
            </a:r>
            <a:endParaRPr sz="700" b="0" i="0" u="none" strike="noStrike" cap="none" dirty="0">
              <a:solidFill>
                <a:schemeClr val="dk1"/>
              </a:solidFill>
              <a:latin typeface="Calibri"/>
              <a:ea typeface="Calibri"/>
              <a:cs typeface="Calibri"/>
              <a:sym typeface="Calibri"/>
            </a:endParaRPr>
          </a:p>
        </p:txBody>
      </p:sp>
      <p:sp>
        <p:nvSpPr>
          <p:cNvPr id="408" name="Google Shape;408;p37"/>
          <p:cNvSpPr/>
          <p:nvPr/>
        </p:nvSpPr>
        <p:spPr>
          <a:xfrm>
            <a:off x="2578559" y="4443971"/>
            <a:ext cx="340042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Pasma towers for users in </a:t>
            </a:r>
            <a:r>
              <a:rPr lang="en-US" sz="700" b="0" i="0" u="none" strike="noStrike" cap="none" dirty="0" err="1">
                <a:solidFill>
                  <a:srgbClr val="555555"/>
                </a:solidFill>
                <a:latin typeface="Noto Sans Arabic"/>
                <a:ea typeface="Noto Sans Arabic"/>
                <a:cs typeface="Noto Sans Arabic"/>
                <a:sym typeface="Noto Sans Arabic"/>
              </a:rPr>
              <a:t>ksa</a:t>
            </a:r>
            <a:endParaRPr sz="700" b="0" i="0" u="none" strike="noStrike" cap="none" dirty="0">
              <a:solidFill>
                <a:schemeClr val="dk1"/>
              </a:solidFill>
              <a:latin typeface="Calibri"/>
              <a:ea typeface="Calibri"/>
              <a:cs typeface="Calibri"/>
              <a:sym typeface="Calibri"/>
            </a:endParaRPr>
          </a:p>
        </p:txBody>
      </p:sp>
      <p:sp>
        <p:nvSpPr>
          <p:cNvPr id="409" name="Google Shape;409;p37"/>
          <p:cNvSpPr/>
          <p:nvPr/>
        </p:nvSpPr>
        <p:spPr>
          <a:xfrm>
            <a:off x="4105647" y="4443971"/>
            <a:ext cx="384619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Pasma certification for employee</a:t>
            </a:r>
            <a:endParaRPr sz="700" b="0" i="0" u="none" strike="noStrike" cap="none" dirty="0">
              <a:solidFill>
                <a:schemeClr val="dk1"/>
              </a:solidFill>
              <a:latin typeface="Calibri"/>
              <a:ea typeface="Calibri"/>
              <a:cs typeface="Calibri"/>
              <a:sym typeface="Calibri"/>
            </a:endParaRPr>
          </a:p>
        </p:txBody>
      </p:sp>
      <p:sp>
        <p:nvSpPr>
          <p:cNvPr id="410" name="Google Shape;410;p37"/>
          <p:cNvSpPr/>
          <p:nvPr/>
        </p:nvSpPr>
        <p:spPr>
          <a:xfrm>
            <a:off x="6035017" y="524619"/>
            <a:ext cx="2986087" cy="1799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Noto Sans Arabic"/>
              <a:buNone/>
            </a:pPr>
            <a:r>
              <a:rPr lang="en" sz="1100" b="1" i="0" u="none" strike="noStrike" cap="none">
                <a:solidFill>
                  <a:srgbClr val="FFFFFF"/>
                </a:solidFill>
                <a:latin typeface="Noto Sans Arabic"/>
                <a:ea typeface="Noto Sans Arabic"/>
                <a:cs typeface="Noto Sans Arabic"/>
                <a:sym typeface="Noto Sans Arabic"/>
              </a:rPr>
              <a:t>BUDGET ALLOCATION</a:t>
            </a:r>
            <a:endParaRPr sz="1100" b="0" i="0" u="none" strike="noStrike" cap="none">
              <a:solidFill>
                <a:schemeClr val="dk1"/>
              </a:solidFill>
              <a:latin typeface="Calibri"/>
              <a:ea typeface="Calibri"/>
              <a:cs typeface="Calibri"/>
              <a:sym typeface="Calibri"/>
            </a:endParaRPr>
          </a:p>
        </p:txBody>
      </p:sp>
      <p:sp>
        <p:nvSpPr>
          <p:cNvPr id="411" name="Google Shape;411;p37"/>
          <p:cNvSpPr/>
          <p:nvPr/>
        </p:nvSpPr>
        <p:spPr>
          <a:xfrm>
            <a:off x="6117283" y="1059508"/>
            <a:ext cx="1518047"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Search Ads</a:t>
            </a:r>
            <a:endParaRPr sz="1000" b="0" i="0" u="none" strike="noStrike" cap="none">
              <a:solidFill>
                <a:schemeClr val="dk1"/>
              </a:solidFill>
              <a:latin typeface="Calibri"/>
              <a:ea typeface="Calibri"/>
              <a:cs typeface="Calibri"/>
              <a:sym typeface="Calibri"/>
            </a:endParaRPr>
          </a:p>
        </p:txBody>
      </p:sp>
      <p:sp>
        <p:nvSpPr>
          <p:cNvPr id="412" name="Google Shape;412;p37"/>
          <p:cNvSpPr/>
          <p:nvPr/>
        </p:nvSpPr>
        <p:spPr>
          <a:xfrm>
            <a:off x="6025865" y="1326952"/>
            <a:ext cx="3118135" cy="40630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dirty="0">
                <a:solidFill>
                  <a:srgbClr val="FFFFFF"/>
                </a:solidFill>
                <a:latin typeface="Noto Sans Arabic"/>
                <a:ea typeface="Noto Sans Arabic"/>
                <a:cs typeface="Noto Sans Arabic"/>
                <a:sym typeface="Noto Sans Arabic"/>
              </a:rPr>
              <a:t>SAR 6,000</a:t>
            </a:r>
            <a:endParaRPr sz="2900" b="0" i="0" u="none" strike="noStrike" cap="none" dirty="0">
              <a:solidFill>
                <a:schemeClr val="dk1"/>
              </a:solidFill>
              <a:latin typeface="Calibri"/>
              <a:ea typeface="Calibri"/>
              <a:cs typeface="Calibri"/>
              <a:sym typeface="Calibri"/>
            </a:endParaRPr>
          </a:p>
        </p:txBody>
      </p:sp>
      <p:sp>
        <p:nvSpPr>
          <p:cNvPr id="413" name="Google Shape;413;p37"/>
          <p:cNvSpPr/>
          <p:nvPr/>
        </p:nvSpPr>
        <p:spPr>
          <a:xfrm>
            <a:off x="6035017" y="1759036"/>
            <a:ext cx="3108983"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High-Intent Keywords</a:t>
            </a:r>
            <a:endParaRPr sz="1100" b="0" i="0" u="none" strike="noStrike" cap="none">
              <a:solidFill>
                <a:schemeClr val="dk1"/>
              </a:solidFill>
              <a:latin typeface="Calibri"/>
              <a:ea typeface="Calibri"/>
              <a:cs typeface="Calibri"/>
              <a:sym typeface="Calibri"/>
            </a:endParaRPr>
          </a:p>
        </p:txBody>
      </p:sp>
      <p:sp>
        <p:nvSpPr>
          <p:cNvPr id="414" name="Google Shape;414;p37"/>
          <p:cNvSpPr/>
          <p:nvPr/>
        </p:nvSpPr>
        <p:spPr>
          <a:xfrm>
            <a:off x="6126435" y="2247602"/>
            <a:ext cx="2246710"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Performance Max</a:t>
            </a:r>
            <a:endParaRPr sz="1000" b="0" i="0" u="none" strike="noStrike" cap="none">
              <a:solidFill>
                <a:schemeClr val="dk1"/>
              </a:solidFill>
              <a:latin typeface="Calibri"/>
              <a:ea typeface="Calibri"/>
              <a:cs typeface="Calibri"/>
              <a:sym typeface="Calibri"/>
            </a:endParaRPr>
          </a:p>
        </p:txBody>
      </p:sp>
      <p:sp>
        <p:nvSpPr>
          <p:cNvPr id="415" name="Google Shape;415;p37"/>
          <p:cNvSpPr/>
          <p:nvPr/>
        </p:nvSpPr>
        <p:spPr>
          <a:xfrm>
            <a:off x="6025865" y="2530562"/>
            <a:ext cx="3118135" cy="39603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a:solidFill>
                  <a:srgbClr val="FFFFFF"/>
                </a:solidFill>
                <a:latin typeface="Noto Sans Arabic"/>
                <a:ea typeface="Noto Sans Arabic"/>
                <a:cs typeface="Noto Sans Arabic"/>
                <a:sym typeface="Noto Sans Arabic"/>
              </a:rPr>
              <a:t>SAR 2,000</a:t>
            </a:r>
            <a:endParaRPr sz="2900" b="0" i="0" u="none" strike="noStrike" cap="none">
              <a:solidFill>
                <a:schemeClr val="dk1"/>
              </a:solidFill>
              <a:latin typeface="Calibri"/>
              <a:ea typeface="Calibri"/>
              <a:cs typeface="Calibri"/>
              <a:sym typeface="Calibri"/>
            </a:endParaRPr>
          </a:p>
        </p:txBody>
      </p:sp>
      <p:sp>
        <p:nvSpPr>
          <p:cNvPr id="416" name="Google Shape;416;p37"/>
          <p:cNvSpPr/>
          <p:nvPr/>
        </p:nvSpPr>
        <p:spPr>
          <a:xfrm>
            <a:off x="6035017" y="2957513"/>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B2B Audience Signals</a:t>
            </a:r>
            <a:endParaRPr sz="1100" b="0" i="0" u="none" strike="noStrike" cap="none">
              <a:solidFill>
                <a:schemeClr val="dk1"/>
              </a:solidFill>
              <a:latin typeface="Calibri"/>
              <a:ea typeface="Calibri"/>
              <a:cs typeface="Calibri"/>
              <a:sym typeface="Calibri"/>
            </a:endParaRPr>
          </a:p>
        </p:txBody>
      </p:sp>
      <p:sp>
        <p:nvSpPr>
          <p:cNvPr id="417" name="Google Shape;417;p37"/>
          <p:cNvSpPr/>
          <p:nvPr/>
        </p:nvSpPr>
        <p:spPr>
          <a:xfrm>
            <a:off x="6025865" y="3548993"/>
            <a:ext cx="3118135"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9A825"/>
              </a:buClr>
              <a:buSzPts val="1100"/>
              <a:buFont typeface="Noto Sans Arabic"/>
              <a:buNone/>
            </a:pPr>
            <a:r>
              <a:rPr lang="en" sz="1100" b="1" i="0" u="none" strike="noStrike" cap="none">
                <a:solidFill>
                  <a:srgbClr val="F9A825"/>
                </a:solidFill>
                <a:latin typeface="Noto Sans Arabic"/>
                <a:ea typeface="Noto Sans Arabic"/>
                <a:cs typeface="Noto Sans Arabic"/>
                <a:sym typeface="Noto Sans Arabic"/>
              </a:rPr>
              <a:t>PROJECTED B2B LEADS</a:t>
            </a:r>
            <a:endParaRPr sz="1100" b="0" i="0" u="none" strike="noStrike" cap="none">
              <a:solidFill>
                <a:schemeClr val="dk1"/>
              </a:solidFill>
              <a:latin typeface="Calibri"/>
              <a:ea typeface="Calibri"/>
              <a:cs typeface="Calibri"/>
              <a:sym typeface="Calibri"/>
            </a:endParaRPr>
          </a:p>
        </p:txBody>
      </p:sp>
      <p:sp>
        <p:nvSpPr>
          <p:cNvPr id="418" name="Google Shape;418;p37"/>
          <p:cNvSpPr/>
          <p:nvPr/>
        </p:nvSpPr>
        <p:spPr>
          <a:xfrm>
            <a:off x="6053323" y="3816437"/>
            <a:ext cx="3090677" cy="52975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4600"/>
              <a:buFont typeface="Noto Sans Arabic"/>
              <a:buNone/>
            </a:pPr>
            <a:r>
              <a:rPr lang="en" sz="4600" b="1" dirty="0">
                <a:solidFill>
                  <a:srgbClr val="FFFFFF"/>
                </a:solidFill>
                <a:latin typeface="Noto Sans Arabic"/>
                <a:ea typeface="Noto Sans Arabic"/>
                <a:cs typeface="Noto Sans Arabic"/>
                <a:sym typeface="Noto Sans Arabic"/>
              </a:rPr>
              <a:t>30</a:t>
            </a:r>
            <a:r>
              <a:rPr lang="en" sz="4600" b="1" i="0" u="none" strike="noStrike" cap="none" dirty="0">
                <a:solidFill>
                  <a:srgbClr val="FFFFFF"/>
                </a:solidFill>
                <a:latin typeface="Noto Sans Arabic"/>
                <a:ea typeface="Noto Sans Arabic"/>
                <a:cs typeface="Noto Sans Arabic"/>
                <a:sym typeface="Noto Sans Arabic"/>
              </a:rPr>
              <a:t>+</a:t>
            </a:r>
            <a:endParaRPr sz="4600" b="0" i="0" u="none" strike="noStrike" cap="none" dirty="0">
              <a:solidFill>
                <a:schemeClr val="dk1"/>
              </a:solidFill>
              <a:latin typeface="Calibri"/>
              <a:ea typeface="Calibri"/>
              <a:cs typeface="Calibri"/>
              <a:sym typeface="Calibri"/>
            </a:endParaRPr>
          </a:p>
        </p:txBody>
      </p:sp>
      <p:sp>
        <p:nvSpPr>
          <p:cNvPr id="419" name="Google Shape;419;p37"/>
          <p:cNvSpPr/>
          <p:nvPr/>
        </p:nvSpPr>
        <p:spPr>
          <a:xfrm>
            <a:off x="6035017" y="4397648"/>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Qualified Corporate RFQs</a:t>
            </a:r>
            <a:endParaRPr sz="11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22917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37"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374" name="Google Shape;374;p37" descr="preencoded.png"/>
          <p:cNvPicPr preferRelativeResize="0"/>
          <p:nvPr/>
        </p:nvPicPr>
        <p:blipFill rotWithShape="1">
          <a:blip r:embed="rId4">
            <a:alphaModFix/>
          </a:blip>
          <a:srcRect/>
          <a:stretch/>
        </p:blipFill>
        <p:spPr>
          <a:xfrm>
            <a:off x="0" y="257175"/>
            <a:ext cx="548618" cy="1337221"/>
          </a:xfrm>
          <a:prstGeom prst="rect">
            <a:avLst/>
          </a:prstGeom>
          <a:noFill/>
          <a:ln>
            <a:noFill/>
          </a:ln>
        </p:spPr>
      </p:pic>
      <p:pic>
        <p:nvPicPr>
          <p:cNvPr id="375" name="Google Shape;375;p37" descr="preencoded.png"/>
          <p:cNvPicPr preferRelativeResize="0"/>
          <p:nvPr/>
        </p:nvPicPr>
        <p:blipFill rotWithShape="1">
          <a:blip r:embed="rId5">
            <a:alphaModFix/>
          </a:blip>
          <a:srcRect/>
          <a:stretch/>
        </p:blipFill>
        <p:spPr>
          <a:xfrm>
            <a:off x="7680871" y="0"/>
            <a:ext cx="1463018" cy="1491593"/>
          </a:xfrm>
          <a:prstGeom prst="rect">
            <a:avLst/>
          </a:prstGeom>
          <a:noFill/>
          <a:ln>
            <a:noFill/>
          </a:ln>
        </p:spPr>
      </p:pic>
      <p:pic>
        <p:nvPicPr>
          <p:cNvPr id="376" name="Google Shape;376;p37" descr="preencoded.png"/>
          <p:cNvPicPr preferRelativeResize="0"/>
          <p:nvPr/>
        </p:nvPicPr>
        <p:blipFill rotWithShape="1">
          <a:blip r:embed="rId6">
            <a:alphaModFix/>
          </a:blip>
          <a:srcRect/>
          <a:stretch/>
        </p:blipFill>
        <p:spPr>
          <a:xfrm>
            <a:off x="6492218" y="3497535"/>
            <a:ext cx="2651671" cy="1645853"/>
          </a:xfrm>
          <a:prstGeom prst="rect">
            <a:avLst/>
          </a:prstGeom>
          <a:noFill/>
          <a:ln>
            <a:noFill/>
          </a:ln>
        </p:spPr>
      </p:pic>
      <p:pic>
        <p:nvPicPr>
          <p:cNvPr id="377" name="Google Shape;377;p37" descr="preencoded.png"/>
          <p:cNvPicPr preferRelativeResize="0"/>
          <p:nvPr/>
        </p:nvPicPr>
        <p:blipFill rotWithShape="1">
          <a:blip r:embed="rId7">
            <a:alphaModFix/>
          </a:blip>
          <a:srcRect/>
          <a:stretch/>
        </p:blipFill>
        <p:spPr>
          <a:xfrm>
            <a:off x="466241" y="187635"/>
            <a:ext cx="1704275" cy="241660"/>
          </a:xfrm>
          <a:prstGeom prst="rect">
            <a:avLst/>
          </a:prstGeom>
          <a:noFill/>
          <a:ln>
            <a:noFill/>
          </a:ln>
        </p:spPr>
      </p:pic>
      <p:pic>
        <p:nvPicPr>
          <p:cNvPr id="378" name="Google Shape;378;p37" descr="preencoded.png"/>
          <p:cNvPicPr preferRelativeResize="0"/>
          <p:nvPr/>
        </p:nvPicPr>
        <p:blipFill rotWithShape="1">
          <a:blip r:embed="rId8">
            <a:alphaModFix/>
          </a:blip>
          <a:srcRect/>
          <a:stretch/>
        </p:blipFill>
        <p:spPr>
          <a:xfrm>
            <a:off x="466241" y="1090315"/>
            <a:ext cx="1453865" cy="82265"/>
          </a:xfrm>
          <a:prstGeom prst="rect">
            <a:avLst/>
          </a:prstGeom>
          <a:noFill/>
          <a:ln>
            <a:noFill/>
          </a:ln>
        </p:spPr>
      </p:pic>
      <p:pic>
        <p:nvPicPr>
          <p:cNvPr id="379" name="Google Shape;379;p37" descr="preencoded.png"/>
          <p:cNvPicPr preferRelativeResize="0"/>
          <p:nvPr/>
        </p:nvPicPr>
        <p:blipFill rotWithShape="1">
          <a:blip r:embed="rId9">
            <a:alphaModFix/>
          </a:blip>
          <a:srcRect/>
          <a:stretch/>
        </p:blipFill>
        <p:spPr>
          <a:xfrm>
            <a:off x="1143000" y="2674553"/>
            <a:ext cx="4123842" cy="622288"/>
          </a:xfrm>
          <a:prstGeom prst="rect">
            <a:avLst/>
          </a:prstGeom>
          <a:noFill/>
          <a:ln>
            <a:noFill/>
          </a:ln>
        </p:spPr>
      </p:pic>
      <p:pic>
        <p:nvPicPr>
          <p:cNvPr id="380" name="Google Shape;380;p37" descr="preencoded.png"/>
          <p:cNvPicPr preferRelativeResize="0"/>
          <p:nvPr/>
        </p:nvPicPr>
        <p:blipFill rotWithShape="1">
          <a:blip r:embed="rId10">
            <a:alphaModFix/>
          </a:blip>
          <a:srcRect/>
          <a:stretch/>
        </p:blipFill>
        <p:spPr>
          <a:xfrm>
            <a:off x="1143000" y="2674553"/>
            <a:ext cx="63959" cy="642938"/>
          </a:xfrm>
          <a:prstGeom prst="rect">
            <a:avLst/>
          </a:prstGeom>
          <a:noFill/>
          <a:ln>
            <a:noFill/>
          </a:ln>
        </p:spPr>
      </p:pic>
      <p:pic>
        <p:nvPicPr>
          <p:cNvPr id="381" name="Google Shape;381;p37" descr="preencoded.png"/>
          <p:cNvPicPr preferRelativeResize="0"/>
          <p:nvPr/>
        </p:nvPicPr>
        <p:blipFill rotWithShape="1">
          <a:blip r:embed="rId11">
            <a:alphaModFix/>
          </a:blip>
          <a:srcRect/>
          <a:stretch/>
        </p:blipFill>
        <p:spPr>
          <a:xfrm>
            <a:off x="1115541" y="3682715"/>
            <a:ext cx="1508671" cy="236525"/>
          </a:xfrm>
          <a:prstGeom prst="rect">
            <a:avLst/>
          </a:prstGeom>
          <a:noFill/>
          <a:ln>
            <a:noFill/>
          </a:ln>
        </p:spPr>
      </p:pic>
      <p:pic>
        <p:nvPicPr>
          <p:cNvPr id="382" name="Google Shape;382;p37" descr="preencoded.png"/>
          <p:cNvPicPr preferRelativeResize="0"/>
          <p:nvPr/>
        </p:nvPicPr>
        <p:blipFill rotWithShape="1">
          <a:blip r:embed="rId12">
            <a:alphaModFix/>
          </a:blip>
          <a:srcRect/>
          <a:stretch/>
        </p:blipFill>
        <p:spPr>
          <a:xfrm>
            <a:off x="2697435" y="3682715"/>
            <a:ext cx="1206959" cy="236525"/>
          </a:xfrm>
          <a:prstGeom prst="rect">
            <a:avLst/>
          </a:prstGeom>
          <a:noFill/>
          <a:ln>
            <a:noFill/>
          </a:ln>
        </p:spPr>
      </p:pic>
      <p:pic>
        <p:nvPicPr>
          <p:cNvPr id="383" name="Google Shape;383;p37" descr="preencoded.png"/>
          <p:cNvPicPr preferRelativeResize="0"/>
          <p:nvPr/>
        </p:nvPicPr>
        <p:blipFill rotWithShape="1">
          <a:blip r:embed="rId13">
            <a:alphaModFix/>
          </a:blip>
          <a:srcRect/>
          <a:stretch/>
        </p:blipFill>
        <p:spPr>
          <a:xfrm>
            <a:off x="3977618" y="3682715"/>
            <a:ext cx="1252724" cy="236525"/>
          </a:xfrm>
          <a:prstGeom prst="rect">
            <a:avLst/>
          </a:prstGeom>
          <a:noFill/>
          <a:ln>
            <a:noFill/>
          </a:ln>
        </p:spPr>
      </p:pic>
      <p:pic>
        <p:nvPicPr>
          <p:cNvPr id="384" name="Google Shape;384;p37" descr="preencoded.png"/>
          <p:cNvPicPr preferRelativeResize="0"/>
          <p:nvPr/>
        </p:nvPicPr>
        <p:blipFill rotWithShape="1">
          <a:blip r:embed="rId14">
            <a:alphaModFix/>
          </a:blip>
          <a:srcRect/>
          <a:stretch/>
        </p:blipFill>
        <p:spPr>
          <a:xfrm>
            <a:off x="438900" y="4386825"/>
            <a:ext cx="1928374" cy="236525"/>
          </a:xfrm>
          <a:prstGeom prst="rect">
            <a:avLst/>
          </a:prstGeom>
          <a:noFill/>
          <a:ln>
            <a:noFill/>
          </a:ln>
        </p:spPr>
      </p:pic>
      <p:pic>
        <p:nvPicPr>
          <p:cNvPr id="385" name="Google Shape;385;p37" descr="preencoded.png"/>
          <p:cNvPicPr preferRelativeResize="0"/>
          <p:nvPr/>
        </p:nvPicPr>
        <p:blipFill rotWithShape="1">
          <a:blip r:embed="rId15">
            <a:alphaModFix/>
          </a:blip>
          <a:srcRect/>
          <a:stretch/>
        </p:blipFill>
        <p:spPr>
          <a:xfrm>
            <a:off x="2468837" y="4386821"/>
            <a:ext cx="1435558" cy="237529"/>
          </a:xfrm>
          <a:prstGeom prst="rect">
            <a:avLst/>
          </a:prstGeom>
          <a:noFill/>
          <a:ln>
            <a:noFill/>
          </a:ln>
        </p:spPr>
      </p:pic>
      <p:pic>
        <p:nvPicPr>
          <p:cNvPr id="386" name="Google Shape;386;p37" descr="preencoded.png"/>
          <p:cNvPicPr preferRelativeResize="0"/>
          <p:nvPr/>
        </p:nvPicPr>
        <p:blipFill rotWithShape="1">
          <a:blip r:embed="rId16">
            <a:alphaModFix/>
          </a:blip>
          <a:srcRect/>
          <a:stretch/>
        </p:blipFill>
        <p:spPr>
          <a:xfrm>
            <a:off x="3977618" y="4386821"/>
            <a:ext cx="1709924" cy="237529"/>
          </a:xfrm>
          <a:prstGeom prst="rect">
            <a:avLst/>
          </a:prstGeom>
          <a:noFill/>
          <a:ln>
            <a:noFill/>
          </a:ln>
        </p:spPr>
      </p:pic>
      <p:pic>
        <p:nvPicPr>
          <p:cNvPr id="387" name="Google Shape;387;p37" descr="preencoded.png"/>
          <p:cNvPicPr preferRelativeResize="0"/>
          <p:nvPr/>
        </p:nvPicPr>
        <p:blipFill rotWithShape="1">
          <a:blip r:embed="rId17">
            <a:alphaModFix/>
          </a:blip>
          <a:srcRect/>
          <a:stretch/>
        </p:blipFill>
        <p:spPr>
          <a:xfrm>
            <a:off x="5797265" y="313655"/>
            <a:ext cx="2999147" cy="4454240"/>
          </a:xfrm>
          <a:prstGeom prst="rect">
            <a:avLst/>
          </a:prstGeom>
          <a:noFill/>
          <a:ln>
            <a:noFill/>
          </a:ln>
        </p:spPr>
      </p:pic>
      <p:pic>
        <p:nvPicPr>
          <p:cNvPr id="388" name="Google Shape;388;p37" descr="preencoded.png"/>
          <p:cNvPicPr preferRelativeResize="0"/>
          <p:nvPr/>
        </p:nvPicPr>
        <p:blipFill rotWithShape="1">
          <a:blip r:embed="rId18">
            <a:alphaModFix/>
          </a:blip>
          <a:srcRect/>
          <a:stretch/>
        </p:blipFill>
        <p:spPr>
          <a:xfrm>
            <a:off x="6080671" y="829568"/>
            <a:ext cx="2423071" cy="7144"/>
          </a:xfrm>
          <a:prstGeom prst="rect">
            <a:avLst/>
          </a:prstGeom>
          <a:noFill/>
          <a:ln>
            <a:noFill/>
          </a:ln>
        </p:spPr>
      </p:pic>
      <p:pic>
        <p:nvPicPr>
          <p:cNvPr id="389" name="Google Shape;389;p37" descr="preencoded.png"/>
          <p:cNvPicPr preferRelativeResize="0"/>
          <p:nvPr/>
        </p:nvPicPr>
        <p:blipFill rotWithShape="1">
          <a:blip r:embed="rId19">
            <a:alphaModFix/>
          </a:blip>
          <a:srcRect/>
          <a:stretch/>
        </p:blipFill>
        <p:spPr>
          <a:xfrm>
            <a:off x="6071518" y="995214"/>
            <a:ext cx="832024" cy="257175"/>
          </a:xfrm>
          <a:prstGeom prst="rect">
            <a:avLst/>
          </a:prstGeom>
          <a:noFill/>
          <a:ln>
            <a:noFill/>
          </a:ln>
        </p:spPr>
      </p:pic>
      <p:pic>
        <p:nvPicPr>
          <p:cNvPr id="390" name="Google Shape;390;p37" descr="preencoded.png"/>
          <p:cNvPicPr preferRelativeResize="0"/>
          <p:nvPr/>
        </p:nvPicPr>
        <p:blipFill rotWithShape="1">
          <a:blip r:embed="rId20">
            <a:alphaModFix/>
          </a:blip>
          <a:srcRect/>
          <a:stretch/>
        </p:blipFill>
        <p:spPr>
          <a:xfrm>
            <a:off x="6071518" y="2183309"/>
            <a:ext cx="1197806" cy="262310"/>
          </a:xfrm>
          <a:prstGeom prst="rect">
            <a:avLst/>
          </a:prstGeom>
          <a:noFill/>
          <a:ln>
            <a:noFill/>
          </a:ln>
        </p:spPr>
      </p:pic>
      <p:pic>
        <p:nvPicPr>
          <p:cNvPr id="391" name="Google Shape;391;p37" descr="preencoded.png"/>
          <p:cNvPicPr preferRelativeResize="0"/>
          <p:nvPr/>
        </p:nvPicPr>
        <p:blipFill rotWithShape="1">
          <a:blip r:embed="rId21">
            <a:alphaModFix/>
          </a:blip>
          <a:srcRect/>
          <a:stretch/>
        </p:blipFill>
        <p:spPr>
          <a:xfrm>
            <a:off x="6080671" y="3375645"/>
            <a:ext cx="2423071" cy="7144"/>
          </a:xfrm>
          <a:prstGeom prst="rect">
            <a:avLst/>
          </a:prstGeom>
          <a:noFill/>
          <a:ln>
            <a:noFill/>
          </a:ln>
        </p:spPr>
      </p:pic>
      <p:pic>
        <p:nvPicPr>
          <p:cNvPr id="392" name="Google Shape;392;p37" descr="preencoded.png"/>
          <p:cNvPicPr preferRelativeResize="0"/>
          <p:nvPr/>
        </p:nvPicPr>
        <p:blipFill rotWithShape="1">
          <a:blip r:embed="rId22">
            <a:alphaModFix/>
          </a:blip>
          <a:srcRect/>
          <a:stretch/>
        </p:blipFill>
        <p:spPr>
          <a:xfrm>
            <a:off x="484547" y="3446078"/>
            <a:ext cx="438894" cy="426839"/>
          </a:xfrm>
          <a:prstGeom prst="rect">
            <a:avLst/>
          </a:prstGeom>
          <a:noFill/>
          <a:ln>
            <a:noFill/>
          </a:ln>
        </p:spPr>
      </p:pic>
      <p:pic>
        <p:nvPicPr>
          <p:cNvPr id="393" name="Google Shape;393;p37" descr="preencoded.png"/>
          <p:cNvPicPr preferRelativeResize="0"/>
          <p:nvPr/>
        </p:nvPicPr>
        <p:blipFill rotWithShape="1">
          <a:blip r:embed="rId23">
            <a:alphaModFix/>
          </a:blip>
          <a:srcRect/>
          <a:stretch/>
        </p:blipFill>
        <p:spPr>
          <a:xfrm>
            <a:off x="484547" y="2473970"/>
            <a:ext cx="438894" cy="431974"/>
          </a:xfrm>
          <a:prstGeom prst="rect">
            <a:avLst/>
          </a:prstGeom>
          <a:noFill/>
          <a:ln>
            <a:noFill/>
          </a:ln>
        </p:spPr>
      </p:pic>
      <p:pic>
        <p:nvPicPr>
          <p:cNvPr id="394" name="Google Shape;394;p37" descr="preencoded.png"/>
          <p:cNvPicPr preferRelativeResize="0"/>
          <p:nvPr/>
        </p:nvPicPr>
        <p:blipFill rotWithShape="1">
          <a:blip r:embed="rId24">
            <a:alphaModFix/>
          </a:blip>
          <a:srcRect/>
          <a:stretch/>
        </p:blipFill>
        <p:spPr>
          <a:xfrm>
            <a:off x="484547" y="1697310"/>
            <a:ext cx="438894" cy="437108"/>
          </a:xfrm>
          <a:prstGeom prst="rect">
            <a:avLst/>
          </a:prstGeom>
          <a:noFill/>
          <a:ln>
            <a:noFill/>
          </a:ln>
        </p:spPr>
      </p:pic>
      <p:sp>
        <p:nvSpPr>
          <p:cNvPr id="395" name="Google Shape;395;p37"/>
          <p:cNvSpPr/>
          <p:nvPr/>
        </p:nvSpPr>
        <p:spPr>
          <a:xfrm>
            <a:off x="557771" y="257175"/>
            <a:ext cx="3617595" cy="1028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PRODUCT STRATEGY - 01 OF 04</a:t>
            </a:r>
            <a:endParaRPr sz="800" b="0" i="0" u="none" strike="noStrike" cap="none">
              <a:solidFill>
                <a:schemeClr val="dk1"/>
              </a:solidFill>
              <a:latin typeface="Calibri"/>
              <a:ea typeface="Calibri"/>
              <a:cs typeface="Calibri"/>
              <a:sym typeface="Calibri"/>
            </a:endParaRPr>
          </a:p>
        </p:txBody>
      </p:sp>
      <p:sp>
        <p:nvSpPr>
          <p:cNvPr id="396" name="Google Shape;396;p37"/>
          <p:cNvSpPr/>
          <p:nvPr/>
        </p:nvSpPr>
        <p:spPr>
          <a:xfrm>
            <a:off x="466241" y="503969"/>
            <a:ext cx="8677759" cy="49883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3400"/>
              <a:buFont typeface="Noto Sans Arabic"/>
              <a:buNone/>
            </a:pPr>
            <a:r>
              <a:rPr lang="en" sz="3400" b="1" i="0" u="none" strike="noStrike" cap="none" dirty="0">
                <a:solidFill>
                  <a:srgbClr val="11223E"/>
                </a:solidFill>
                <a:latin typeface="Noto Sans Arabic"/>
                <a:ea typeface="Noto Sans Arabic"/>
                <a:cs typeface="Noto Sans Arabic"/>
                <a:sym typeface="Noto Sans Arabic"/>
              </a:rPr>
              <a:t>Food safety TRAINING</a:t>
            </a:r>
            <a:endParaRPr sz="3400" b="0" i="0" u="none" strike="noStrike" cap="none" dirty="0">
              <a:solidFill>
                <a:schemeClr val="dk1"/>
              </a:solidFill>
              <a:latin typeface="Calibri"/>
              <a:ea typeface="Calibri"/>
              <a:cs typeface="Calibri"/>
              <a:sym typeface="Calibri"/>
            </a:endParaRPr>
          </a:p>
        </p:txBody>
      </p:sp>
      <p:sp>
        <p:nvSpPr>
          <p:cNvPr id="397" name="Google Shape;397;p37"/>
          <p:cNvSpPr/>
          <p:nvPr/>
        </p:nvSpPr>
        <p:spPr>
          <a:xfrm>
            <a:off x="457200" y="1254956"/>
            <a:ext cx="8686800" cy="17479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Noto Sans Arabic"/>
              <a:buNone/>
            </a:pPr>
            <a:r>
              <a:rPr lang="it-IT" dirty="0"/>
              <a:t>HACCP, TVTC Hygiene Compliance</a:t>
            </a:r>
            <a:endParaRPr b="0" i="0" u="none" strike="noStrike" cap="none" dirty="0">
              <a:solidFill>
                <a:schemeClr val="dk1"/>
              </a:solidFill>
              <a:latin typeface="Calibri"/>
              <a:ea typeface="Calibri"/>
              <a:cs typeface="Calibri"/>
              <a:sym typeface="Calibri"/>
            </a:endParaRPr>
          </a:p>
        </p:txBody>
      </p:sp>
      <p:sp>
        <p:nvSpPr>
          <p:cNvPr id="398" name="Google Shape;398;p37"/>
          <p:cNvSpPr/>
          <p:nvPr/>
        </p:nvSpPr>
        <p:spPr>
          <a:xfrm>
            <a:off x="1106388" y="1687041"/>
            <a:ext cx="3157538"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Campaign Objective</a:t>
            </a:r>
            <a:endParaRPr sz="1100" b="0" i="0" u="none" strike="noStrike" cap="none">
              <a:solidFill>
                <a:schemeClr val="dk1"/>
              </a:solidFill>
              <a:latin typeface="Calibri"/>
              <a:ea typeface="Calibri"/>
              <a:cs typeface="Calibri"/>
              <a:sym typeface="Calibri"/>
            </a:endParaRPr>
          </a:p>
        </p:txBody>
      </p:sp>
      <p:sp>
        <p:nvSpPr>
          <p:cNvPr id="399" name="Google Shape;399;p37"/>
          <p:cNvSpPr/>
          <p:nvPr/>
        </p:nvSpPr>
        <p:spPr>
          <a:xfrm>
            <a:off x="1097223" y="1897900"/>
            <a:ext cx="4242900" cy="457800"/>
          </a:xfrm>
          <a:prstGeom prst="rect">
            <a:avLst/>
          </a:prstGeom>
          <a:noFill/>
          <a:ln>
            <a:noFill/>
          </a:ln>
        </p:spPr>
        <p:txBody>
          <a:bodyPr spcFirstLastPara="1" wrap="square" lIns="0" tIns="0" rIns="0" bIns="0" anchor="ctr" anchorCtr="0">
            <a:noAutofit/>
          </a:bodyPr>
          <a:lstStyle/>
          <a:p>
            <a:pPr marL="0" marR="0" lvl="0" indent="0" algn="l" rtl="0">
              <a:lnSpc>
                <a:spcPct val="130039"/>
              </a:lnSpc>
              <a:spcBef>
                <a:spcPts val="0"/>
              </a:spcBef>
              <a:spcAft>
                <a:spcPts val="0"/>
              </a:spcAft>
              <a:buClr>
                <a:srgbClr val="555555"/>
              </a:buClr>
              <a:buSzPts val="1000"/>
              <a:buFont typeface="Noto Sans Arabic"/>
              <a:buNone/>
            </a:pPr>
            <a:r>
              <a:rPr lang="en-US" sz="800" dirty="0"/>
              <a:t>Capture enterprise demand for certified Food Safety &amp; HACCP training (Levels 1–4). Target F&amp;B Directors, Executive Chefs, and QA Managers requiring SFDA and </a:t>
            </a:r>
            <a:r>
              <a:rPr lang="en-US" sz="800" dirty="0" err="1"/>
              <a:t>Balady</a:t>
            </a:r>
            <a:r>
              <a:rPr lang="en-US" sz="800" dirty="0"/>
              <a:t> audit compliance</a:t>
            </a:r>
            <a:endParaRPr sz="800" b="0" i="0" u="none" strike="noStrike" cap="none" dirty="0">
              <a:solidFill>
                <a:schemeClr val="dk1"/>
              </a:solidFill>
              <a:latin typeface="Calibri"/>
              <a:ea typeface="Calibri"/>
              <a:cs typeface="Calibri"/>
              <a:sym typeface="Calibri"/>
            </a:endParaRPr>
          </a:p>
        </p:txBody>
      </p:sp>
      <p:sp>
        <p:nvSpPr>
          <p:cNvPr id="400" name="Google Shape;400;p37"/>
          <p:cNvSpPr/>
          <p:nvPr/>
        </p:nvSpPr>
        <p:spPr>
          <a:xfrm>
            <a:off x="1106388" y="2468835"/>
            <a:ext cx="2586038"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B2B Ad Message</a:t>
            </a:r>
            <a:endParaRPr sz="1100" b="0" i="0" u="none" strike="noStrike" cap="none">
              <a:solidFill>
                <a:schemeClr val="dk1"/>
              </a:solidFill>
              <a:latin typeface="Calibri"/>
              <a:ea typeface="Calibri"/>
              <a:cs typeface="Calibri"/>
              <a:sym typeface="Calibri"/>
            </a:endParaRPr>
          </a:p>
        </p:txBody>
      </p:sp>
      <p:sp>
        <p:nvSpPr>
          <p:cNvPr id="401" name="Google Shape;401;p37"/>
          <p:cNvSpPr/>
          <p:nvPr/>
        </p:nvSpPr>
        <p:spPr>
          <a:xfrm>
            <a:off x="1252725" y="2761950"/>
            <a:ext cx="3876300" cy="4473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555555"/>
              </a:buClr>
              <a:buSzPts val="900"/>
              <a:buFont typeface="Noto Sans Arabic"/>
              <a:buNone/>
            </a:pPr>
            <a:r>
              <a:rPr lang="en-US" sz="900" dirty="0"/>
              <a:t>SFDA &amp; HACCP Certified Food Safety Training in KSA. Highfield Approved Courses for Restaurants, Hotels &amp; Catering. Get a Corporate Quote</a:t>
            </a:r>
            <a:endParaRPr sz="900" b="0" i="0" u="none" strike="noStrike" cap="none" dirty="0">
              <a:solidFill>
                <a:schemeClr val="dk1"/>
              </a:solidFill>
              <a:latin typeface="Calibri"/>
              <a:ea typeface="Calibri"/>
              <a:cs typeface="Calibri"/>
              <a:sym typeface="Calibri"/>
            </a:endParaRPr>
          </a:p>
        </p:txBody>
      </p:sp>
      <p:sp>
        <p:nvSpPr>
          <p:cNvPr id="402" name="Google Shape;402;p37"/>
          <p:cNvSpPr/>
          <p:nvPr/>
        </p:nvSpPr>
        <p:spPr>
          <a:xfrm>
            <a:off x="1106388" y="3430674"/>
            <a:ext cx="5557837"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Performance Max Audience Signals</a:t>
            </a:r>
            <a:endParaRPr sz="1100" b="0" i="0" u="none" strike="noStrike" cap="none">
              <a:solidFill>
                <a:schemeClr val="dk1"/>
              </a:solidFill>
              <a:latin typeface="Calibri"/>
              <a:ea typeface="Calibri"/>
              <a:cs typeface="Calibri"/>
              <a:sym typeface="Calibri"/>
            </a:endParaRPr>
          </a:p>
        </p:txBody>
      </p:sp>
      <p:sp>
        <p:nvSpPr>
          <p:cNvPr id="403" name="Google Shape;403;p37"/>
          <p:cNvSpPr/>
          <p:nvPr/>
        </p:nvSpPr>
        <p:spPr>
          <a:xfrm>
            <a:off x="1225265" y="3734172"/>
            <a:ext cx="317754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US" sz="800" b="0" i="0" u="none" strike="noStrike" cap="none" dirty="0">
                <a:solidFill>
                  <a:srgbClr val="FFFFFF"/>
                </a:solidFill>
                <a:latin typeface="Noto Sans Arabic"/>
                <a:ea typeface="Noto Sans Arabic"/>
                <a:cs typeface="Noto Sans Arabic"/>
                <a:sym typeface="Noto Sans Arabic"/>
              </a:rPr>
              <a:t>F&amp;B Hotel Managers</a:t>
            </a:r>
            <a:endParaRPr lang="en-US" sz="800" b="0" i="0" u="none" strike="noStrike" cap="none" dirty="0">
              <a:solidFill>
                <a:schemeClr val="dk1"/>
              </a:solidFill>
              <a:latin typeface="Calibri"/>
              <a:ea typeface="Calibri"/>
              <a:cs typeface="Calibri"/>
              <a:sym typeface="Calibri"/>
            </a:endParaRPr>
          </a:p>
        </p:txBody>
      </p:sp>
      <p:sp>
        <p:nvSpPr>
          <p:cNvPr id="404" name="Google Shape;404;p37"/>
          <p:cNvSpPr/>
          <p:nvPr/>
        </p:nvSpPr>
        <p:spPr>
          <a:xfrm>
            <a:off x="2823210" y="3734172"/>
            <a:ext cx="197739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dirty="0">
                <a:solidFill>
                  <a:srgbClr val="FFFFFF"/>
                </a:solidFill>
                <a:latin typeface="Noto Sans Arabic"/>
                <a:ea typeface="Noto Sans Arabic"/>
                <a:cs typeface="Noto Sans Arabic"/>
                <a:sym typeface="Noto Sans Arabic"/>
              </a:rPr>
              <a:t>Catering &amp; Food</a:t>
            </a:r>
            <a:endParaRPr sz="800" b="0" i="0" u="none" strike="noStrike" cap="none" dirty="0">
              <a:solidFill>
                <a:schemeClr val="dk1"/>
              </a:solidFill>
              <a:latin typeface="Calibri"/>
              <a:ea typeface="Calibri"/>
              <a:cs typeface="Calibri"/>
              <a:sym typeface="Calibri"/>
            </a:endParaRPr>
          </a:p>
        </p:txBody>
      </p:sp>
      <p:sp>
        <p:nvSpPr>
          <p:cNvPr id="405" name="Google Shape;405;p37"/>
          <p:cNvSpPr/>
          <p:nvPr/>
        </p:nvSpPr>
        <p:spPr>
          <a:xfrm>
            <a:off x="4089083" y="3734172"/>
            <a:ext cx="2337435"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dirty="0">
                <a:solidFill>
                  <a:srgbClr val="FFFFFF"/>
                </a:solidFill>
                <a:latin typeface="Noto Sans Arabic"/>
                <a:ea typeface="Noto Sans Arabic"/>
                <a:cs typeface="Noto Sans Arabic"/>
                <a:sym typeface="Noto Sans Arabic"/>
              </a:rPr>
              <a:t>Hotels &amp; Restaurants</a:t>
            </a:r>
            <a:endParaRPr sz="800" b="0" i="0" u="none" strike="noStrike" cap="none" dirty="0">
              <a:solidFill>
                <a:schemeClr val="dk1"/>
              </a:solidFill>
              <a:latin typeface="Calibri"/>
              <a:ea typeface="Calibri"/>
              <a:cs typeface="Calibri"/>
              <a:sym typeface="Calibri"/>
            </a:endParaRPr>
          </a:p>
        </p:txBody>
      </p:sp>
      <p:sp>
        <p:nvSpPr>
          <p:cNvPr id="406" name="Google Shape;406;p37"/>
          <p:cNvSpPr/>
          <p:nvPr/>
        </p:nvSpPr>
        <p:spPr>
          <a:xfrm>
            <a:off x="420588" y="4191930"/>
            <a:ext cx="2457450" cy="1130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7D6A"/>
              </a:buClr>
              <a:buSzPts val="800"/>
              <a:buFont typeface="Noto Sans Arabic"/>
              <a:buNone/>
            </a:pPr>
            <a:r>
              <a:rPr lang="en" sz="800" b="1" i="0" u="none" strike="noStrike" cap="none">
                <a:solidFill>
                  <a:srgbClr val="2E7D6A"/>
                </a:solidFill>
                <a:latin typeface="Noto Sans Arabic"/>
                <a:ea typeface="Noto Sans Arabic"/>
                <a:cs typeface="Noto Sans Arabic"/>
                <a:sym typeface="Noto Sans Arabic"/>
              </a:rPr>
              <a:t>HIGH-INTENT KEYWORDS</a:t>
            </a:r>
            <a:endParaRPr sz="800" b="0" i="0" u="none" strike="noStrike" cap="none">
              <a:solidFill>
                <a:schemeClr val="dk1"/>
              </a:solidFill>
              <a:latin typeface="Calibri"/>
              <a:ea typeface="Calibri"/>
              <a:cs typeface="Calibri"/>
              <a:sym typeface="Calibri"/>
            </a:endParaRPr>
          </a:p>
        </p:txBody>
      </p:sp>
      <p:sp>
        <p:nvSpPr>
          <p:cNvPr id="407" name="Google Shape;407;p37"/>
          <p:cNvSpPr/>
          <p:nvPr/>
        </p:nvSpPr>
        <p:spPr>
          <a:xfrm>
            <a:off x="502853" y="4443971"/>
            <a:ext cx="4626293"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Food safety  </a:t>
            </a:r>
            <a:r>
              <a:rPr lang="en" sz="700" b="0" i="0" u="none" strike="noStrike" cap="none" dirty="0">
                <a:solidFill>
                  <a:srgbClr val="555555"/>
                </a:solidFill>
                <a:latin typeface="Noto Sans Arabic"/>
                <a:ea typeface="Noto Sans Arabic"/>
                <a:cs typeface="Noto Sans Arabic"/>
                <a:sym typeface="Noto Sans Arabic"/>
              </a:rPr>
              <a:t>training in saudi </a:t>
            </a:r>
            <a:endParaRPr sz="700" b="0" i="0" u="none" strike="noStrike" cap="none" dirty="0">
              <a:solidFill>
                <a:schemeClr val="dk1"/>
              </a:solidFill>
              <a:latin typeface="Calibri"/>
              <a:ea typeface="Calibri"/>
              <a:cs typeface="Calibri"/>
              <a:sym typeface="Calibri"/>
            </a:endParaRPr>
          </a:p>
        </p:txBody>
      </p:sp>
      <p:sp>
        <p:nvSpPr>
          <p:cNvPr id="408" name="Google Shape;408;p37"/>
          <p:cNvSpPr/>
          <p:nvPr/>
        </p:nvSpPr>
        <p:spPr>
          <a:xfrm>
            <a:off x="2578559" y="4443971"/>
            <a:ext cx="340042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HACCP Level 3 certification in </a:t>
            </a:r>
            <a:r>
              <a:rPr lang="en-US" sz="700" b="0" i="0" u="none" strike="noStrike" cap="none" dirty="0" err="1">
                <a:solidFill>
                  <a:srgbClr val="555555"/>
                </a:solidFill>
                <a:latin typeface="Noto Sans Arabic"/>
                <a:ea typeface="Noto Sans Arabic"/>
                <a:cs typeface="Noto Sans Arabic"/>
                <a:sym typeface="Noto Sans Arabic"/>
              </a:rPr>
              <a:t>ksa</a:t>
            </a:r>
            <a:endParaRPr sz="700" b="0" i="0" u="none" strike="noStrike" cap="none" dirty="0">
              <a:solidFill>
                <a:schemeClr val="dk1"/>
              </a:solidFill>
              <a:latin typeface="Calibri"/>
              <a:ea typeface="Calibri"/>
              <a:cs typeface="Calibri"/>
              <a:sym typeface="Calibri"/>
            </a:endParaRPr>
          </a:p>
        </p:txBody>
      </p:sp>
      <p:sp>
        <p:nvSpPr>
          <p:cNvPr id="409" name="Google Shape;409;p37"/>
          <p:cNvSpPr/>
          <p:nvPr/>
        </p:nvSpPr>
        <p:spPr>
          <a:xfrm>
            <a:off x="4105647" y="4443971"/>
            <a:ext cx="384619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err="1">
                <a:solidFill>
                  <a:srgbClr val="555555"/>
                </a:solidFill>
                <a:latin typeface="Noto Sans Arabic"/>
                <a:ea typeface="Noto Sans Arabic"/>
                <a:cs typeface="Noto Sans Arabic"/>
                <a:sym typeface="Noto Sans Arabic"/>
              </a:rPr>
              <a:t>Pfood</a:t>
            </a:r>
            <a:r>
              <a:rPr lang="en-US" sz="700" b="0" i="0" u="none" strike="noStrike" cap="none" dirty="0">
                <a:solidFill>
                  <a:srgbClr val="555555"/>
                </a:solidFill>
                <a:latin typeface="Noto Sans Arabic"/>
                <a:ea typeface="Noto Sans Arabic"/>
                <a:cs typeface="Noto Sans Arabic"/>
                <a:sym typeface="Noto Sans Arabic"/>
              </a:rPr>
              <a:t> safety certification for employee</a:t>
            </a:r>
            <a:endParaRPr sz="700" b="0" i="0" u="none" strike="noStrike" cap="none" dirty="0">
              <a:solidFill>
                <a:schemeClr val="dk1"/>
              </a:solidFill>
              <a:latin typeface="Calibri"/>
              <a:ea typeface="Calibri"/>
              <a:cs typeface="Calibri"/>
              <a:sym typeface="Calibri"/>
            </a:endParaRPr>
          </a:p>
        </p:txBody>
      </p:sp>
      <p:sp>
        <p:nvSpPr>
          <p:cNvPr id="410" name="Google Shape;410;p37"/>
          <p:cNvSpPr/>
          <p:nvPr/>
        </p:nvSpPr>
        <p:spPr>
          <a:xfrm>
            <a:off x="6035017" y="524619"/>
            <a:ext cx="2986087" cy="1799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Noto Sans Arabic"/>
              <a:buNone/>
            </a:pPr>
            <a:r>
              <a:rPr lang="en" sz="1100" b="1" i="0" u="none" strike="noStrike" cap="none">
                <a:solidFill>
                  <a:srgbClr val="FFFFFF"/>
                </a:solidFill>
                <a:latin typeface="Noto Sans Arabic"/>
                <a:ea typeface="Noto Sans Arabic"/>
                <a:cs typeface="Noto Sans Arabic"/>
                <a:sym typeface="Noto Sans Arabic"/>
              </a:rPr>
              <a:t>BUDGET ALLOCATION</a:t>
            </a:r>
            <a:endParaRPr sz="1100" b="0" i="0" u="none" strike="noStrike" cap="none">
              <a:solidFill>
                <a:schemeClr val="dk1"/>
              </a:solidFill>
              <a:latin typeface="Calibri"/>
              <a:ea typeface="Calibri"/>
              <a:cs typeface="Calibri"/>
              <a:sym typeface="Calibri"/>
            </a:endParaRPr>
          </a:p>
        </p:txBody>
      </p:sp>
      <p:sp>
        <p:nvSpPr>
          <p:cNvPr id="411" name="Google Shape;411;p37"/>
          <p:cNvSpPr/>
          <p:nvPr/>
        </p:nvSpPr>
        <p:spPr>
          <a:xfrm>
            <a:off x="6117283" y="1059508"/>
            <a:ext cx="1518047"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Search Ads</a:t>
            </a:r>
            <a:endParaRPr sz="1000" b="0" i="0" u="none" strike="noStrike" cap="none">
              <a:solidFill>
                <a:schemeClr val="dk1"/>
              </a:solidFill>
              <a:latin typeface="Calibri"/>
              <a:ea typeface="Calibri"/>
              <a:cs typeface="Calibri"/>
              <a:sym typeface="Calibri"/>
            </a:endParaRPr>
          </a:p>
        </p:txBody>
      </p:sp>
      <p:sp>
        <p:nvSpPr>
          <p:cNvPr id="412" name="Google Shape;412;p37"/>
          <p:cNvSpPr/>
          <p:nvPr/>
        </p:nvSpPr>
        <p:spPr>
          <a:xfrm>
            <a:off x="6025865" y="1326952"/>
            <a:ext cx="3118135" cy="40630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dirty="0">
                <a:solidFill>
                  <a:srgbClr val="FFFFFF"/>
                </a:solidFill>
                <a:latin typeface="Noto Sans Arabic"/>
                <a:ea typeface="Noto Sans Arabic"/>
                <a:cs typeface="Noto Sans Arabic"/>
                <a:sym typeface="Noto Sans Arabic"/>
              </a:rPr>
              <a:t>SAR 6,000</a:t>
            </a:r>
            <a:endParaRPr sz="2900" b="0" i="0" u="none" strike="noStrike" cap="none" dirty="0">
              <a:solidFill>
                <a:schemeClr val="dk1"/>
              </a:solidFill>
              <a:latin typeface="Calibri"/>
              <a:ea typeface="Calibri"/>
              <a:cs typeface="Calibri"/>
              <a:sym typeface="Calibri"/>
            </a:endParaRPr>
          </a:p>
        </p:txBody>
      </p:sp>
      <p:sp>
        <p:nvSpPr>
          <p:cNvPr id="413" name="Google Shape;413;p37"/>
          <p:cNvSpPr/>
          <p:nvPr/>
        </p:nvSpPr>
        <p:spPr>
          <a:xfrm>
            <a:off x="6035017" y="1759036"/>
            <a:ext cx="3108983"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High-Intent Keywords</a:t>
            </a:r>
            <a:endParaRPr sz="1100" b="0" i="0" u="none" strike="noStrike" cap="none">
              <a:solidFill>
                <a:schemeClr val="dk1"/>
              </a:solidFill>
              <a:latin typeface="Calibri"/>
              <a:ea typeface="Calibri"/>
              <a:cs typeface="Calibri"/>
              <a:sym typeface="Calibri"/>
            </a:endParaRPr>
          </a:p>
        </p:txBody>
      </p:sp>
      <p:sp>
        <p:nvSpPr>
          <p:cNvPr id="414" name="Google Shape;414;p37"/>
          <p:cNvSpPr/>
          <p:nvPr/>
        </p:nvSpPr>
        <p:spPr>
          <a:xfrm>
            <a:off x="6126435" y="2247602"/>
            <a:ext cx="2246710"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Performance Max</a:t>
            </a:r>
            <a:endParaRPr sz="1000" b="0" i="0" u="none" strike="noStrike" cap="none">
              <a:solidFill>
                <a:schemeClr val="dk1"/>
              </a:solidFill>
              <a:latin typeface="Calibri"/>
              <a:ea typeface="Calibri"/>
              <a:cs typeface="Calibri"/>
              <a:sym typeface="Calibri"/>
            </a:endParaRPr>
          </a:p>
        </p:txBody>
      </p:sp>
      <p:sp>
        <p:nvSpPr>
          <p:cNvPr id="415" name="Google Shape;415;p37"/>
          <p:cNvSpPr/>
          <p:nvPr/>
        </p:nvSpPr>
        <p:spPr>
          <a:xfrm>
            <a:off x="6025865" y="2530562"/>
            <a:ext cx="3118135" cy="39603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a:solidFill>
                  <a:srgbClr val="FFFFFF"/>
                </a:solidFill>
                <a:latin typeface="Noto Sans Arabic"/>
                <a:ea typeface="Noto Sans Arabic"/>
                <a:cs typeface="Noto Sans Arabic"/>
                <a:sym typeface="Noto Sans Arabic"/>
              </a:rPr>
              <a:t>SAR 2,000</a:t>
            </a:r>
            <a:endParaRPr sz="2900" b="0" i="0" u="none" strike="noStrike" cap="none">
              <a:solidFill>
                <a:schemeClr val="dk1"/>
              </a:solidFill>
              <a:latin typeface="Calibri"/>
              <a:ea typeface="Calibri"/>
              <a:cs typeface="Calibri"/>
              <a:sym typeface="Calibri"/>
            </a:endParaRPr>
          </a:p>
        </p:txBody>
      </p:sp>
      <p:sp>
        <p:nvSpPr>
          <p:cNvPr id="416" name="Google Shape;416;p37"/>
          <p:cNvSpPr/>
          <p:nvPr/>
        </p:nvSpPr>
        <p:spPr>
          <a:xfrm>
            <a:off x="6035017" y="2957513"/>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B2B Audience Signals</a:t>
            </a:r>
            <a:endParaRPr sz="1100" b="0" i="0" u="none" strike="noStrike" cap="none">
              <a:solidFill>
                <a:schemeClr val="dk1"/>
              </a:solidFill>
              <a:latin typeface="Calibri"/>
              <a:ea typeface="Calibri"/>
              <a:cs typeface="Calibri"/>
              <a:sym typeface="Calibri"/>
            </a:endParaRPr>
          </a:p>
        </p:txBody>
      </p:sp>
      <p:sp>
        <p:nvSpPr>
          <p:cNvPr id="417" name="Google Shape;417;p37"/>
          <p:cNvSpPr/>
          <p:nvPr/>
        </p:nvSpPr>
        <p:spPr>
          <a:xfrm>
            <a:off x="6025865" y="3548993"/>
            <a:ext cx="3118135"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9A825"/>
              </a:buClr>
              <a:buSzPts val="1100"/>
              <a:buFont typeface="Noto Sans Arabic"/>
              <a:buNone/>
            </a:pPr>
            <a:r>
              <a:rPr lang="en" sz="1100" b="1" i="0" u="none" strike="noStrike" cap="none">
                <a:solidFill>
                  <a:srgbClr val="F9A825"/>
                </a:solidFill>
                <a:latin typeface="Noto Sans Arabic"/>
                <a:ea typeface="Noto Sans Arabic"/>
                <a:cs typeface="Noto Sans Arabic"/>
                <a:sym typeface="Noto Sans Arabic"/>
              </a:rPr>
              <a:t>PROJECTED B2B LEADS</a:t>
            </a:r>
            <a:endParaRPr sz="1100" b="0" i="0" u="none" strike="noStrike" cap="none">
              <a:solidFill>
                <a:schemeClr val="dk1"/>
              </a:solidFill>
              <a:latin typeface="Calibri"/>
              <a:ea typeface="Calibri"/>
              <a:cs typeface="Calibri"/>
              <a:sym typeface="Calibri"/>
            </a:endParaRPr>
          </a:p>
        </p:txBody>
      </p:sp>
      <p:sp>
        <p:nvSpPr>
          <p:cNvPr id="418" name="Google Shape;418;p37"/>
          <p:cNvSpPr/>
          <p:nvPr/>
        </p:nvSpPr>
        <p:spPr>
          <a:xfrm>
            <a:off x="6053323" y="3816437"/>
            <a:ext cx="3090677" cy="52975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4600"/>
              <a:buFont typeface="Noto Sans Arabic"/>
              <a:buNone/>
            </a:pPr>
            <a:r>
              <a:rPr lang="en" sz="4600" b="1" dirty="0">
                <a:solidFill>
                  <a:srgbClr val="FFFFFF"/>
                </a:solidFill>
                <a:latin typeface="Noto Sans Arabic"/>
                <a:ea typeface="Noto Sans Arabic"/>
                <a:cs typeface="Noto Sans Arabic"/>
                <a:sym typeface="Noto Sans Arabic"/>
              </a:rPr>
              <a:t>30</a:t>
            </a:r>
            <a:r>
              <a:rPr lang="en" sz="4600" b="1" i="0" u="none" strike="noStrike" cap="none" dirty="0">
                <a:solidFill>
                  <a:srgbClr val="FFFFFF"/>
                </a:solidFill>
                <a:latin typeface="Noto Sans Arabic"/>
                <a:ea typeface="Noto Sans Arabic"/>
                <a:cs typeface="Noto Sans Arabic"/>
                <a:sym typeface="Noto Sans Arabic"/>
              </a:rPr>
              <a:t>+</a:t>
            </a:r>
            <a:endParaRPr sz="4600" b="0" i="0" u="none" strike="noStrike" cap="none" dirty="0">
              <a:solidFill>
                <a:schemeClr val="dk1"/>
              </a:solidFill>
              <a:latin typeface="Calibri"/>
              <a:ea typeface="Calibri"/>
              <a:cs typeface="Calibri"/>
              <a:sym typeface="Calibri"/>
            </a:endParaRPr>
          </a:p>
        </p:txBody>
      </p:sp>
      <p:sp>
        <p:nvSpPr>
          <p:cNvPr id="419" name="Google Shape;419;p37"/>
          <p:cNvSpPr/>
          <p:nvPr/>
        </p:nvSpPr>
        <p:spPr>
          <a:xfrm>
            <a:off x="6035017" y="4397648"/>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Qualified Corporate RFQs</a:t>
            </a:r>
            <a:endParaRPr sz="11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81114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37"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374" name="Google Shape;374;p37" descr="preencoded.png"/>
          <p:cNvPicPr preferRelativeResize="0"/>
          <p:nvPr/>
        </p:nvPicPr>
        <p:blipFill rotWithShape="1">
          <a:blip r:embed="rId4">
            <a:alphaModFix/>
          </a:blip>
          <a:srcRect/>
          <a:stretch/>
        </p:blipFill>
        <p:spPr>
          <a:xfrm>
            <a:off x="0" y="257175"/>
            <a:ext cx="548618" cy="1337221"/>
          </a:xfrm>
          <a:prstGeom prst="rect">
            <a:avLst/>
          </a:prstGeom>
          <a:noFill/>
          <a:ln>
            <a:noFill/>
          </a:ln>
        </p:spPr>
      </p:pic>
      <p:pic>
        <p:nvPicPr>
          <p:cNvPr id="375" name="Google Shape;375;p37" descr="preencoded.png"/>
          <p:cNvPicPr preferRelativeResize="0"/>
          <p:nvPr/>
        </p:nvPicPr>
        <p:blipFill rotWithShape="1">
          <a:blip r:embed="rId5">
            <a:alphaModFix/>
          </a:blip>
          <a:srcRect/>
          <a:stretch/>
        </p:blipFill>
        <p:spPr>
          <a:xfrm>
            <a:off x="7680871" y="0"/>
            <a:ext cx="1463018" cy="1491593"/>
          </a:xfrm>
          <a:prstGeom prst="rect">
            <a:avLst/>
          </a:prstGeom>
          <a:noFill/>
          <a:ln>
            <a:noFill/>
          </a:ln>
        </p:spPr>
      </p:pic>
      <p:pic>
        <p:nvPicPr>
          <p:cNvPr id="376" name="Google Shape;376;p37" descr="preencoded.png"/>
          <p:cNvPicPr preferRelativeResize="0"/>
          <p:nvPr/>
        </p:nvPicPr>
        <p:blipFill rotWithShape="1">
          <a:blip r:embed="rId6">
            <a:alphaModFix/>
          </a:blip>
          <a:srcRect/>
          <a:stretch/>
        </p:blipFill>
        <p:spPr>
          <a:xfrm>
            <a:off x="6492218" y="3497535"/>
            <a:ext cx="2651671" cy="1645853"/>
          </a:xfrm>
          <a:prstGeom prst="rect">
            <a:avLst/>
          </a:prstGeom>
          <a:noFill/>
          <a:ln>
            <a:noFill/>
          </a:ln>
        </p:spPr>
      </p:pic>
      <p:pic>
        <p:nvPicPr>
          <p:cNvPr id="377" name="Google Shape;377;p37" descr="preencoded.png"/>
          <p:cNvPicPr preferRelativeResize="0"/>
          <p:nvPr/>
        </p:nvPicPr>
        <p:blipFill rotWithShape="1">
          <a:blip r:embed="rId7">
            <a:alphaModFix/>
          </a:blip>
          <a:srcRect/>
          <a:stretch/>
        </p:blipFill>
        <p:spPr>
          <a:xfrm>
            <a:off x="466241" y="187635"/>
            <a:ext cx="1704275" cy="241660"/>
          </a:xfrm>
          <a:prstGeom prst="rect">
            <a:avLst/>
          </a:prstGeom>
          <a:noFill/>
          <a:ln>
            <a:noFill/>
          </a:ln>
        </p:spPr>
      </p:pic>
      <p:pic>
        <p:nvPicPr>
          <p:cNvPr id="378" name="Google Shape;378;p37" descr="preencoded.png"/>
          <p:cNvPicPr preferRelativeResize="0"/>
          <p:nvPr/>
        </p:nvPicPr>
        <p:blipFill rotWithShape="1">
          <a:blip r:embed="rId8">
            <a:alphaModFix/>
          </a:blip>
          <a:srcRect/>
          <a:stretch/>
        </p:blipFill>
        <p:spPr>
          <a:xfrm>
            <a:off x="466241" y="1090315"/>
            <a:ext cx="1453865" cy="82265"/>
          </a:xfrm>
          <a:prstGeom prst="rect">
            <a:avLst/>
          </a:prstGeom>
          <a:noFill/>
          <a:ln>
            <a:noFill/>
          </a:ln>
        </p:spPr>
      </p:pic>
      <p:pic>
        <p:nvPicPr>
          <p:cNvPr id="379" name="Google Shape;379;p37" descr="preencoded.png"/>
          <p:cNvPicPr preferRelativeResize="0"/>
          <p:nvPr/>
        </p:nvPicPr>
        <p:blipFill rotWithShape="1">
          <a:blip r:embed="rId9">
            <a:alphaModFix/>
          </a:blip>
          <a:srcRect/>
          <a:stretch/>
        </p:blipFill>
        <p:spPr>
          <a:xfrm>
            <a:off x="1143000" y="2674553"/>
            <a:ext cx="4123842" cy="622288"/>
          </a:xfrm>
          <a:prstGeom prst="rect">
            <a:avLst/>
          </a:prstGeom>
          <a:noFill/>
          <a:ln>
            <a:noFill/>
          </a:ln>
        </p:spPr>
      </p:pic>
      <p:pic>
        <p:nvPicPr>
          <p:cNvPr id="380" name="Google Shape;380;p37" descr="preencoded.png"/>
          <p:cNvPicPr preferRelativeResize="0"/>
          <p:nvPr/>
        </p:nvPicPr>
        <p:blipFill rotWithShape="1">
          <a:blip r:embed="rId10">
            <a:alphaModFix/>
          </a:blip>
          <a:srcRect/>
          <a:stretch/>
        </p:blipFill>
        <p:spPr>
          <a:xfrm>
            <a:off x="1143000" y="2674553"/>
            <a:ext cx="63959" cy="642938"/>
          </a:xfrm>
          <a:prstGeom prst="rect">
            <a:avLst/>
          </a:prstGeom>
          <a:noFill/>
          <a:ln>
            <a:noFill/>
          </a:ln>
        </p:spPr>
      </p:pic>
      <p:pic>
        <p:nvPicPr>
          <p:cNvPr id="381" name="Google Shape;381;p37" descr="preencoded.png"/>
          <p:cNvPicPr preferRelativeResize="0"/>
          <p:nvPr/>
        </p:nvPicPr>
        <p:blipFill rotWithShape="1">
          <a:blip r:embed="rId11">
            <a:alphaModFix/>
          </a:blip>
          <a:srcRect/>
          <a:stretch/>
        </p:blipFill>
        <p:spPr>
          <a:xfrm>
            <a:off x="1115541" y="3682715"/>
            <a:ext cx="1508671" cy="236525"/>
          </a:xfrm>
          <a:prstGeom prst="rect">
            <a:avLst/>
          </a:prstGeom>
          <a:noFill/>
          <a:ln>
            <a:noFill/>
          </a:ln>
        </p:spPr>
      </p:pic>
      <p:pic>
        <p:nvPicPr>
          <p:cNvPr id="382" name="Google Shape;382;p37" descr="preencoded.png"/>
          <p:cNvPicPr preferRelativeResize="0"/>
          <p:nvPr/>
        </p:nvPicPr>
        <p:blipFill rotWithShape="1">
          <a:blip r:embed="rId12">
            <a:alphaModFix/>
          </a:blip>
          <a:srcRect/>
          <a:stretch/>
        </p:blipFill>
        <p:spPr>
          <a:xfrm>
            <a:off x="2697435" y="3682715"/>
            <a:ext cx="1206959" cy="236525"/>
          </a:xfrm>
          <a:prstGeom prst="rect">
            <a:avLst/>
          </a:prstGeom>
          <a:noFill/>
          <a:ln>
            <a:noFill/>
          </a:ln>
        </p:spPr>
      </p:pic>
      <p:pic>
        <p:nvPicPr>
          <p:cNvPr id="383" name="Google Shape;383;p37" descr="preencoded.png"/>
          <p:cNvPicPr preferRelativeResize="0"/>
          <p:nvPr/>
        </p:nvPicPr>
        <p:blipFill rotWithShape="1">
          <a:blip r:embed="rId13">
            <a:alphaModFix/>
          </a:blip>
          <a:srcRect/>
          <a:stretch/>
        </p:blipFill>
        <p:spPr>
          <a:xfrm>
            <a:off x="3977618" y="3682715"/>
            <a:ext cx="1252724" cy="236525"/>
          </a:xfrm>
          <a:prstGeom prst="rect">
            <a:avLst/>
          </a:prstGeom>
          <a:noFill/>
          <a:ln>
            <a:noFill/>
          </a:ln>
        </p:spPr>
      </p:pic>
      <p:pic>
        <p:nvPicPr>
          <p:cNvPr id="384" name="Google Shape;384;p37" descr="preencoded.png"/>
          <p:cNvPicPr preferRelativeResize="0"/>
          <p:nvPr/>
        </p:nvPicPr>
        <p:blipFill rotWithShape="1">
          <a:blip r:embed="rId14">
            <a:alphaModFix/>
          </a:blip>
          <a:srcRect/>
          <a:stretch/>
        </p:blipFill>
        <p:spPr>
          <a:xfrm>
            <a:off x="438900" y="4386825"/>
            <a:ext cx="1928374" cy="236525"/>
          </a:xfrm>
          <a:prstGeom prst="rect">
            <a:avLst/>
          </a:prstGeom>
          <a:noFill/>
          <a:ln>
            <a:noFill/>
          </a:ln>
        </p:spPr>
      </p:pic>
      <p:pic>
        <p:nvPicPr>
          <p:cNvPr id="385" name="Google Shape;385;p37" descr="preencoded.png"/>
          <p:cNvPicPr preferRelativeResize="0"/>
          <p:nvPr/>
        </p:nvPicPr>
        <p:blipFill rotWithShape="1">
          <a:blip r:embed="rId15">
            <a:alphaModFix/>
          </a:blip>
          <a:srcRect/>
          <a:stretch/>
        </p:blipFill>
        <p:spPr>
          <a:xfrm>
            <a:off x="2468837" y="4386821"/>
            <a:ext cx="1435558" cy="237529"/>
          </a:xfrm>
          <a:prstGeom prst="rect">
            <a:avLst/>
          </a:prstGeom>
          <a:noFill/>
          <a:ln>
            <a:noFill/>
          </a:ln>
        </p:spPr>
      </p:pic>
      <p:pic>
        <p:nvPicPr>
          <p:cNvPr id="386" name="Google Shape;386;p37" descr="preencoded.png"/>
          <p:cNvPicPr preferRelativeResize="0"/>
          <p:nvPr/>
        </p:nvPicPr>
        <p:blipFill rotWithShape="1">
          <a:blip r:embed="rId16">
            <a:alphaModFix/>
          </a:blip>
          <a:srcRect/>
          <a:stretch/>
        </p:blipFill>
        <p:spPr>
          <a:xfrm>
            <a:off x="3977618" y="4386821"/>
            <a:ext cx="1709924" cy="237529"/>
          </a:xfrm>
          <a:prstGeom prst="rect">
            <a:avLst/>
          </a:prstGeom>
          <a:noFill/>
          <a:ln>
            <a:noFill/>
          </a:ln>
        </p:spPr>
      </p:pic>
      <p:pic>
        <p:nvPicPr>
          <p:cNvPr id="387" name="Google Shape;387;p37" descr="preencoded.png"/>
          <p:cNvPicPr preferRelativeResize="0"/>
          <p:nvPr/>
        </p:nvPicPr>
        <p:blipFill rotWithShape="1">
          <a:blip r:embed="rId17">
            <a:alphaModFix/>
          </a:blip>
          <a:srcRect/>
          <a:stretch/>
        </p:blipFill>
        <p:spPr>
          <a:xfrm>
            <a:off x="5797265" y="313655"/>
            <a:ext cx="2999147" cy="4454240"/>
          </a:xfrm>
          <a:prstGeom prst="rect">
            <a:avLst/>
          </a:prstGeom>
          <a:noFill/>
          <a:ln>
            <a:noFill/>
          </a:ln>
        </p:spPr>
      </p:pic>
      <p:pic>
        <p:nvPicPr>
          <p:cNvPr id="388" name="Google Shape;388;p37" descr="preencoded.png"/>
          <p:cNvPicPr preferRelativeResize="0"/>
          <p:nvPr/>
        </p:nvPicPr>
        <p:blipFill rotWithShape="1">
          <a:blip r:embed="rId18">
            <a:alphaModFix/>
          </a:blip>
          <a:srcRect/>
          <a:stretch/>
        </p:blipFill>
        <p:spPr>
          <a:xfrm>
            <a:off x="6080671" y="829568"/>
            <a:ext cx="2423071" cy="7144"/>
          </a:xfrm>
          <a:prstGeom prst="rect">
            <a:avLst/>
          </a:prstGeom>
          <a:noFill/>
          <a:ln>
            <a:noFill/>
          </a:ln>
        </p:spPr>
      </p:pic>
      <p:pic>
        <p:nvPicPr>
          <p:cNvPr id="389" name="Google Shape;389;p37" descr="preencoded.png"/>
          <p:cNvPicPr preferRelativeResize="0"/>
          <p:nvPr/>
        </p:nvPicPr>
        <p:blipFill rotWithShape="1">
          <a:blip r:embed="rId19">
            <a:alphaModFix/>
          </a:blip>
          <a:srcRect/>
          <a:stretch/>
        </p:blipFill>
        <p:spPr>
          <a:xfrm>
            <a:off x="6071518" y="995214"/>
            <a:ext cx="832024" cy="257175"/>
          </a:xfrm>
          <a:prstGeom prst="rect">
            <a:avLst/>
          </a:prstGeom>
          <a:noFill/>
          <a:ln>
            <a:noFill/>
          </a:ln>
        </p:spPr>
      </p:pic>
      <p:pic>
        <p:nvPicPr>
          <p:cNvPr id="390" name="Google Shape;390;p37" descr="preencoded.png"/>
          <p:cNvPicPr preferRelativeResize="0"/>
          <p:nvPr/>
        </p:nvPicPr>
        <p:blipFill rotWithShape="1">
          <a:blip r:embed="rId20">
            <a:alphaModFix/>
          </a:blip>
          <a:srcRect/>
          <a:stretch/>
        </p:blipFill>
        <p:spPr>
          <a:xfrm>
            <a:off x="6071518" y="2183309"/>
            <a:ext cx="1197806" cy="262310"/>
          </a:xfrm>
          <a:prstGeom prst="rect">
            <a:avLst/>
          </a:prstGeom>
          <a:noFill/>
          <a:ln>
            <a:noFill/>
          </a:ln>
        </p:spPr>
      </p:pic>
      <p:pic>
        <p:nvPicPr>
          <p:cNvPr id="391" name="Google Shape;391;p37" descr="preencoded.png"/>
          <p:cNvPicPr preferRelativeResize="0"/>
          <p:nvPr/>
        </p:nvPicPr>
        <p:blipFill rotWithShape="1">
          <a:blip r:embed="rId21">
            <a:alphaModFix/>
          </a:blip>
          <a:srcRect/>
          <a:stretch/>
        </p:blipFill>
        <p:spPr>
          <a:xfrm>
            <a:off x="6080671" y="3375645"/>
            <a:ext cx="2423071" cy="7144"/>
          </a:xfrm>
          <a:prstGeom prst="rect">
            <a:avLst/>
          </a:prstGeom>
          <a:noFill/>
          <a:ln>
            <a:noFill/>
          </a:ln>
        </p:spPr>
      </p:pic>
      <p:pic>
        <p:nvPicPr>
          <p:cNvPr id="392" name="Google Shape;392;p37" descr="preencoded.png"/>
          <p:cNvPicPr preferRelativeResize="0"/>
          <p:nvPr/>
        </p:nvPicPr>
        <p:blipFill rotWithShape="1">
          <a:blip r:embed="rId22">
            <a:alphaModFix/>
          </a:blip>
          <a:srcRect/>
          <a:stretch/>
        </p:blipFill>
        <p:spPr>
          <a:xfrm>
            <a:off x="484547" y="3446078"/>
            <a:ext cx="438894" cy="426839"/>
          </a:xfrm>
          <a:prstGeom prst="rect">
            <a:avLst/>
          </a:prstGeom>
          <a:noFill/>
          <a:ln>
            <a:noFill/>
          </a:ln>
        </p:spPr>
      </p:pic>
      <p:pic>
        <p:nvPicPr>
          <p:cNvPr id="393" name="Google Shape;393;p37" descr="preencoded.png"/>
          <p:cNvPicPr preferRelativeResize="0"/>
          <p:nvPr/>
        </p:nvPicPr>
        <p:blipFill rotWithShape="1">
          <a:blip r:embed="rId23">
            <a:alphaModFix/>
          </a:blip>
          <a:srcRect/>
          <a:stretch/>
        </p:blipFill>
        <p:spPr>
          <a:xfrm>
            <a:off x="484547" y="2473970"/>
            <a:ext cx="438894" cy="431974"/>
          </a:xfrm>
          <a:prstGeom prst="rect">
            <a:avLst/>
          </a:prstGeom>
          <a:noFill/>
          <a:ln>
            <a:noFill/>
          </a:ln>
        </p:spPr>
      </p:pic>
      <p:pic>
        <p:nvPicPr>
          <p:cNvPr id="394" name="Google Shape;394;p37" descr="preencoded.png"/>
          <p:cNvPicPr preferRelativeResize="0"/>
          <p:nvPr/>
        </p:nvPicPr>
        <p:blipFill rotWithShape="1">
          <a:blip r:embed="rId24">
            <a:alphaModFix/>
          </a:blip>
          <a:srcRect/>
          <a:stretch/>
        </p:blipFill>
        <p:spPr>
          <a:xfrm>
            <a:off x="484547" y="1697310"/>
            <a:ext cx="438894" cy="437108"/>
          </a:xfrm>
          <a:prstGeom prst="rect">
            <a:avLst/>
          </a:prstGeom>
          <a:noFill/>
          <a:ln>
            <a:noFill/>
          </a:ln>
        </p:spPr>
      </p:pic>
      <p:sp>
        <p:nvSpPr>
          <p:cNvPr id="395" name="Google Shape;395;p37"/>
          <p:cNvSpPr/>
          <p:nvPr/>
        </p:nvSpPr>
        <p:spPr>
          <a:xfrm>
            <a:off x="557771" y="257175"/>
            <a:ext cx="3617595" cy="1028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PRODUCT STRATEGY - 01 OF 04</a:t>
            </a:r>
            <a:endParaRPr sz="800" b="0" i="0" u="none" strike="noStrike" cap="none">
              <a:solidFill>
                <a:schemeClr val="dk1"/>
              </a:solidFill>
              <a:latin typeface="Calibri"/>
              <a:ea typeface="Calibri"/>
              <a:cs typeface="Calibri"/>
              <a:sym typeface="Calibri"/>
            </a:endParaRPr>
          </a:p>
        </p:txBody>
      </p:sp>
      <p:sp>
        <p:nvSpPr>
          <p:cNvPr id="396" name="Google Shape;396;p37"/>
          <p:cNvSpPr/>
          <p:nvPr/>
        </p:nvSpPr>
        <p:spPr>
          <a:xfrm>
            <a:off x="466241" y="503969"/>
            <a:ext cx="8677759" cy="49883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3400"/>
              <a:buFont typeface="Noto Sans Arabic"/>
              <a:buNone/>
            </a:pPr>
            <a:r>
              <a:rPr lang="en" sz="3400" b="1" i="0" u="none" strike="noStrike" cap="none" dirty="0">
                <a:solidFill>
                  <a:srgbClr val="11223E"/>
                </a:solidFill>
                <a:latin typeface="Noto Sans Arabic"/>
                <a:ea typeface="Noto Sans Arabic"/>
                <a:cs typeface="Noto Sans Arabic"/>
                <a:sym typeface="Noto Sans Arabic"/>
              </a:rPr>
              <a:t>Hospitality TRAINING</a:t>
            </a:r>
            <a:endParaRPr sz="3400" b="0" i="0" u="none" strike="noStrike" cap="none" dirty="0">
              <a:solidFill>
                <a:schemeClr val="dk1"/>
              </a:solidFill>
              <a:latin typeface="Calibri"/>
              <a:ea typeface="Calibri"/>
              <a:cs typeface="Calibri"/>
              <a:sym typeface="Calibri"/>
            </a:endParaRPr>
          </a:p>
        </p:txBody>
      </p:sp>
      <p:sp>
        <p:nvSpPr>
          <p:cNvPr id="397" name="Google Shape;397;p37"/>
          <p:cNvSpPr/>
          <p:nvPr/>
        </p:nvSpPr>
        <p:spPr>
          <a:xfrm>
            <a:off x="457200" y="1254956"/>
            <a:ext cx="8686800" cy="17479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Noto Sans Arabic"/>
              <a:buNone/>
            </a:pPr>
            <a:r>
              <a:rPr lang="en-US" dirty="0"/>
              <a:t>Guest Service Excellence &amp; Hotel Operational Standards</a:t>
            </a:r>
            <a:endParaRPr b="0" i="0" u="none" strike="noStrike" cap="none" dirty="0">
              <a:solidFill>
                <a:schemeClr val="dk1"/>
              </a:solidFill>
              <a:latin typeface="Calibri"/>
              <a:ea typeface="Calibri"/>
              <a:cs typeface="Calibri"/>
              <a:sym typeface="Calibri"/>
            </a:endParaRPr>
          </a:p>
        </p:txBody>
      </p:sp>
      <p:sp>
        <p:nvSpPr>
          <p:cNvPr id="398" name="Google Shape;398;p37"/>
          <p:cNvSpPr/>
          <p:nvPr/>
        </p:nvSpPr>
        <p:spPr>
          <a:xfrm>
            <a:off x="1106388" y="1687041"/>
            <a:ext cx="3157538"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Campaign Objective</a:t>
            </a:r>
            <a:endParaRPr sz="1100" b="0" i="0" u="none" strike="noStrike" cap="none">
              <a:solidFill>
                <a:schemeClr val="dk1"/>
              </a:solidFill>
              <a:latin typeface="Calibri"/>
              <a:ea typeface="Calibri"/>
              <a:cs typeface="Calibri"/>
              <a:sym typeface="Calibri"/>
            </a:endParaRPr>
          </a:p>
        </p:txBody>
      </p:sp>
      <p:sp>
        <p:nvSpPr>
          <p:cNvPr id="399" name="Google Shape;399;p37"/>
          <p:cNvSpPr/>
          <p:nvPr/>
        </p:nvSpPr>
        <p:spPr>
          <a:xfrm>
            <a:off x="1097223" y="1897900"/>
            <a:ext cx="4242900" cy="457800"/>
          </a:xfrm>
          <a:prstGeom prst="rect">
            <a:avLst/>
          </a:prstGeom>
          <a:noFill/>
          <a:ln>
            <a:noFill/>
          </a:ln>
        </p:spPr>
        <p:txBody>
          <a:bodyPr spcFirstLastPara="1" wrap="square" lIns="0" tIns="0" rIns="0" bIns="0" anchor="ctr" anchorCtr="0">
            <a:noAutofit/>
          </a:bodyPr>
          <a:lstStyle/>
          <a:p>
            <a:pPr marL="0" marR="0" lvl="0" indent="0" algn="l" rtl="0">
              <a:lnSpc>
                <a:spcPct val="130039"/>
              </a:lnSpc>
              <a:spcBef>
                <a:spcPts val="0"/>
              </a:spcBef>
              <a:spcAft>
                <a:spcPts val="0"/>
              </a:spcAft>
              <a:buClr>
                <a:srgbClr val="555555"/>
              </a:buClr>
              <a:buSzPts val="1000"/>
              <a:buFont typeface="Noto Sans Arabic"/>
              <a:buNone/>
            </a:pPr>
            <a:r>
              <a:rPr lang="en-US" sz="800" dirty="0"/>
              <a:t>Capture enterprise demand for vocational hospitality and guest service training. Target Hotel HR Directors, Operations Heads, and Resort Leads aiming to elevate service scores and staff performance.</a:t>
            </a:r>
            <a:endParaRPr sz="800" b="0" i="0" u="none" strike="noStrike" cap="none" dirty="0">
              <a:solidFill>
                <a:schemeClr val="dk1"/>
              </a:solidFill>
              <a:latin typeface="Calibri"/>
              <a:ea typeface="Calibri"/>
              <a:cs typeface="Calibri"/>
              <a:sym typeface="Calibri"/>
            </a:endParaRPr>
          </a:p>
        </p:txBody>
      </p:sp>
      <p:sp>
        <p:nvSpPr>
          <p:cNvPr id="400" name="Google Shape;400;p37"/>
          <p:cNvSpPr/>
          <p:nvPr/>
        </p:nvSpPr>
        <p:spPr>
          <a:xfrm>
            <a:off x="1106388" y="2468835"/>
            <a:ext cx="2586038"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B2B Ad Message</a:t>
            </a:r>
            <a:endParaRPr sz="1100" b="0" i="0" u="none" strike="noStrike" cap="none">
              <a:solidFill>
                <a:schemeClr val="dk1"/>
              </a:solidFill>
              <a:latin typeface="Calibri"/>
              <a:ea typeface="Calibri"/>
              <a:cs typeface="Calibri"/>
              <a:sym typeface="Calibri"/>
            </a:endParaRPr>
          </a:p>
        </p:txBody>
      </p:sp>
      <p:sp>
        <p:nvSpPr>
          <p:cNvPr id="401" name="Google Shape;401;p37"/>
          <p:cNvSpPr/>
          <p:nvPr/>
        </p:nvSpPr>
        <p:spPr>
          <a:xfrm>
            <a:off x="1252725" y="2761950"/>
            <a:ext cx="3876300" cy="4473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555555"/>
              </a:buClr>
              <a:buSzPts val="900"/>
              <a:buFont typeface="Noto Sans Arabic"/>
              <a:buNone/>
            </a:pPr>
            <a:r>
              <a:rPr lang="en-US" sz="800" dirty="0"/>
              <a:t>Certified Hospitality &amp; Guest Service Training in KSA. Elevate Hotel Service Excellence &amp; Staff Standards. Request a Corporate Proposal</a:t>
            </a:r>
            <a:endParaRPr sz="800" b="0" i="0" u="none" strike="noStrike" cap="none" dirty="0">
              <a:solidFill>
                <a:schemeClr val="dk1"/>
              </a:solidFill>
              <a:latin typeface="Calibri"/>
              <a:ea typeface="Calibri"/>
              <a:cs typeface="Calibri"/>
              <a:sym typeface="Calibri"/>
            </a:endParaRPr>
          </a:p>
        </p:txBody>
      </p:sp>
      <p:sp>
        <p:nvSpPr>
          <p:cNvPr id="402" name="Google Shape;402;p37"/>
          <p:cNvSpPr/>
          <p:nvPr/>
        </p:nvSpPr>
        <p:spPr>
          <a:xfrm>
            <a:off x="1106388" y="3430674"/>
            <a:ext cx="5557837"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3E"/>
              </a:buClr>
              <a:buSzPts val="1100"/>
              <a:buFont typeface="Noto Sans Arabic"/>
              <a:buNone/>
            </a:pPr>
            <a:r>
              <a:rPr lang="en" sz="1100" b="1" i="0" u="none" strike="noStrike" cap="none">
                <a:solidFill>
                  <a:srgbClr val="11223E"/>
                </a:solidFill>
                <a:latin typeface="Noto Sans Arabic"/>
                <a:ea typeface="Noto Sans Arabic"/>
                <a:cs typeface="Noto Sans Arabic"/>
                <a:sym typeface="Noto Sans Arabic"/>
              </a:rPr>
              <a:t>Performance Max Audience Signals</a:t>
            </a:r>
            <a:endParaRPr sz="1100" b="0" i="0" u="none" strike="noStrike" cap="none">
              <a:solidFill>
                <a:schemeClr val="dk1"/>
              </a:solidFill>
              <a:latin typeface="Calibri"/>
              <a:ea typeface="Calibri"/>
              <a:cs typeface="Calibri"/>
              <a:sym typeface="Calibri"/>
            </a:endParaRPr>
          </a:p>
        </p:txBody>
      </p:sp>
      <p:sp>
        <p:nvSpPr>
          <p:cNvPr id="403" name="Google Shape;403;p37"/>
          <p:cNvSpPr/>
          <p:nvPr/>
        </p:nvSpPr>
        <p:spPr>
          <a:xfrm>
            <a:off x="1225265" y="3734172"/>
            <a:ext cx="317754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US" sz="800" b="0" i="0" u="none" strike="noStrike" cap="none" dirty="0">
                <a:solidFill>
                  <a:srgbClr val="FFFFFF"/>
                </a:solidFill>
                <a:latin typeface="Noto Sans Arabic"/>
                <a:ea typeface="Noto Sans Arabic"/>
                <a:cs typeface="Noto Sans Arabic"/>
                <a:sym typeface="Noto Sans Arabic"/>
              </a:rPr>
              <a:t>HOTEL HR &amp; L&amp;D Directors	</a:t>
            </a:r>
            <a:endParaRPr lang="en-US" sz="800" b="0" i="0" u="none" strike="noStrike" cap="none" dirty="0">
              <a:solidFill>
                <a:schemeClr val="dk1"/>
              </a:solidFill>
              <a:latin typeface="Calibri"/>
              <a:ea typeface="Calibri"/>
              <a:cs typeface="Calibri"/>
              <a:sym typeface="Calibri"/>
            </a:endParaRPr>
          </a:p>
        </p:txBody>
      </p:sp>
      <p:sp>
        <p:nvSpPr>
          <p:cNvPr id="404" name="Google Shape;404;p37"/>
          <p:cNvSpPr/>
          <p:nvPr/>
        </p:nvSpPr>
        <p:spPr>
          <a:xfrm>
            <a:off x="2823210" y="3734172"/>
            <a:ext cx="1977390"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dirty="0">
                <a:solidFill>
                  <a:srgbClr val="FFFFFF"/>
                </a:solidFill>
                <a:latin typeface="Noto Sans Arabic"/>
                <a:ea typeface="Noto Sans Arabic"/>
                <a:cs typeface="Noto Sans Arabic"/>
                <a:sym typeface="Noto Sans Arabic"/>
              </a:rPr>
              <a:t>General Managers</a:t>
            </a:r>
            <a:endParaRPr sz="800" b="0" i="0" u="none" strike="noStrike" cap="none" dirty="0">
              <a:solidFill>
                <a:schemeClr val="dk1"/>
              </a:solidFill>
              <a:latin typeface="Calibri"/>
              <a:ea typeface="Calibri"/>
              <a:cs typeface="Calibri"/>
              <a:sym typeface="Calibri"/>
            </a:endParaRPr>
          </a:p>
        </p:txBody>
      </p:sp>
      <p:sp>
        <p:nvSpPr>
          <p:cNvPr id="405" name="Google Shape;405;p37"/>
          <p:cNvSpPr/>
          <p:nvPr/>
        </p:nvSpPr>
        <p:spPr>
          <a:xfrm>
            <a:off x="4089083" y="3734172"/>
            <a:ext cx="2337435"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0" i="0" u="none" strike="noStrike" cap="none" dirty="0">
                <a:solidFill>
                  <a:srgbClr val="FFFFFF"/>
                </a:solidFill>
                <a:latin typeface="Noto Sans Arabic"/>
                <a:ea typeface="Noto Sans Arabic"/>
                <a:cs typeface="Noto Sans Arabic"/>
                <a:sym typeface="Noto Sans Arabic"/>
              </a:rPr>
              <a:t>Hotels &amp; Restaurants</a:t>
            </a:r>
            <a:endParaRPr sz="800" b="0" i="0" u="none" strike="noStrike" cap="none" dirty="0">
              <a:solidFill>
                <a:schemeClr val="dk1"/>
              </a:solidFill>
              <a:latin typeface="Calibri"/>
              <a:ea typeface="Calibri"/>
              <a:cs typeface="Calibri"/>
              <a:sym typeface="Calibri"/>
            </a:endParaRPr>
          </a:p>
        </p:txBody>
      </p:sp>
      <p:sp>
        <p:nvSpPr>
          <p:cNvPr id="406" name="Google Shape;406;p37"/>
          <p:cNvSpPr/>
          <p:nvPr/>
        </p:nvSpPr>
        <p:spPr>
          <a:xfrm>
            <a:off x="420588" y="4191930"/>
            <a:ext cx="2457450" cy="1130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7D6A"/>
              </a:buClr>
              <a:buSzPts val="800"/>
              <a:buFont typeface="Noto Sans Arabic"/>
              <a:buNone/>
            </a:pPr>
            <a:r>
              <a:rPr lang="en" sz="800" b="1" i="0" u="none" strike="noStrike" cap="none">
                <a:solidFill>
                  <a:srgbClr val="2E7D6A"/>
                </a:solidFill>
                <a:latin typeface="Noto Sans Arabic"/>
                <a:ea typeface="Noto Sans Arabic"/>
                <a:cs typeface="Noto Sans Arabic"/>
                <a:sym typeface="Noto Sans Arabic"/>
              </a:rPr>
              <a:t>HIGH-INTENT KEYWORDS</a:t>
            </a:r>
            <a:endParaRPr sz="800" b="0" i="0" u="none" strike="noStrike" cap="none">
              <a:solidFill>
                <a:schemeClr val="dk1"/>
              </a:solidFill>
              <a:latin typeface="Calibri"/>
              <a:ea typeface="Calibri"/>
              <a:cs typeface="Calibri"/>
              <a:sym typeface="Calibri"/>
            </a:endParaRPr>
          </a:p>
        </p:txBody>
      </p:sp>
      <p:sp>
        <p:nvSpPr>
          <p:cNvPr id="407" name="Google Shape;407;p37"/>
          <p:cNvSpPr/>
          <p:nvPr/>
        </p:nvSpPr>
        <p:spPr>
          <a:xfrm>
            <a:off x="502853" y="4443971"/>
            <a:ext cx="4626293"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Hospitality </a:t>
            </a:r>
            <a:r>
              <a:rPr lang="en" sz="700" b="0" i="0" u="none" strike="noStrike" cap="none" dirty="0">
                <a:solidFill>
                  <a:srgbClr val="555555"/>
                </a:solidFill>
                <a:latin typeface="Noto Sans Arabic"/>
                <a:ea typeface="Noto Sans Arabic"/>
                <a:cs typeface="Noto Sans Arabic"/>
                <a:sym typeface="Noto Sans Arabic"/>
              </a:rPr>
              <a:t>training in saudi </a:t>
            </a:r>
            <a:endParaRPr sz="700" b="0" i="0" u="none" strike="noStrike" cap="none" dirty="0">
              <a:solidFill>
                <a:schemeClr val="dk1"/>
              </a:solidFill>
              <a:latin typeface="Calibri"/>
              <a:ea typeface="Calibri"/>
              <a:cs typeface="Calibri"/>
              <a:sym typeface="Calibri"/>
            </a:endParaRPr>
          </a:p>
        </p:txBody>
      </p:sp>
      <p:sp>
        <p:nvSpPr>
          <p:cNvPr id="408" name="Google Shape;408;p37"/>
          <p:cNvSpPr/>
          <p:nvPr/>
        </p:nvSpPr>
        <p:spPr>
          <a:xfrm>
            <a:off x="2578559" y="4443971"/>
            <a:ext cx="340042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HOTEL STAFF Service excellence</a:t>
            </a:r>
            <a:endParaRPr sz="700" b="0" i="0" u="none" strike="noStrike" cap="none" dirty="0">
              <a:solidFill>
                <a:schemeClr val="dk1"/>
              </a:solidFill>
              <a:latin typeface="Calibri"/>
              <a:ea typeface="Calibri"/>
              <a:cs typeface="Calibri"/>
              <a:sym typeface="Calibri"/>
            </a:endParaRPr>
          </a:p>
        </p:txBody>
      </p:sp>
      <p:sp>
        <p:nvSpPr>
          <p:cNvPr id="409" name="Google Shape;409;p37"/>
          <p:cNvSpPr/>
          <p:nvPr/>
        </p:nvSpPr>
        <p:spPr>
          <a:xfrm>
            <a:off x="4105647" y="4443971"/>
            <a:ext cx="384619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700"/>
              <a:buFont typeface="Noto Sans Arabic"/>
              <a:buNone/>
            </a:pPr>
            <a:r>
              <a:rPr lang="en-US" sz="700" b="0" i="0" u="none" strike="noStrike" cap="none" dirty="0">
                <a:solidFill>
                  <a:srgbClr val="555555"/>
                </a:solidFill>
                <a:latin typeface="Noto Sans Arabic"/>
                <a:ea typeface="Noto Sans Arabic"/>
                <a:cs typeface="Noto Sans Arabic"/>
                <a:sym typeface="Noto Sans Arabic"/>
              </a:rPr>
              <a:t>FRONT office Hospitality training</a:t>
            </a:r>
            <a:endParaRPr sz="700" b="0" i="0" u="none" strike="noStrike" cap="none" dirty="0">
              <a:solidFill>
                <a:schemeClr val="dk1"/>
              </a:solidFill>
              <a:latin typeface="Calibri"/>
              <a:ea typeface="Calibri"/>
              <a:cs typeface="Calibri"/>
              <a:sym typeface="Calibri"/>
            </a:endParaRPr>
          </a:p>
        </p:txBody>
      </p:sp>
      <p:sp>
        <p:nvSpPr>
          <p:cNvPr id="410" name="Google Shape;410;p37"/>
          <p:cNvSpPr/>
          <p:nvPr/>
        </p:nvSpPr>
        <p:spPr>
          <a:xfrm>
            <a:off x="6035017" y="524619"/>
            <a:ext cx="2986087" cy="1799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Noto Sans Arabic"/>
              <a:buNone/>
            </a:pPr>
            <a:r>
              <a:rPr lang="en" sz="1100" b="1" i="0" u="none" strike="noStrike" cap="none">
                <a:solidFill>
                  <a:srgbClr val="FFFFFF"/>
                </a:solidFill>
                <a:latin typeface="Noto Sans Arabic"/>
                <a:ea typeface="Noto Sans Arabic"/>
                <a:cs typeface="Noto Sans Arabic"/>
                <a:sym typeface="Noto Sans Arabic"/>
              </a:rPr>
              <a:t>BUDGET ALLOCATION</a:t>
            </a:r>
            <a:endParaRPr sz="1100" b="0" i="0" u="none" strike="noStrike" cap="none">
              <a:solidFill>
                <a:schemeClr val="dk1"/>
              </a:solidFill>
              <a:latin typeface="Calibri"/>
              <a:ea typeface="Calibri"/>
              <a:cs typeface="Calibri"/>
              <a:sym typeface="Calibri"/>
            </a:endParaRPr>
          </a:p>
        </p:txBody>
      </p:sp>
      <p:sp>
        <p:nvSpPr>
          <p:cNvPr id="411" name="Google Shape;411;p37"/>
          <p:cNvSpPr/>
          <p:nvPr/>
        </p:nvSpPr>
        <p:spPr>
          <a:xfrm>
            <a:off x="6117283" y="1059508"/>
            <a:ext cx="1518047"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Search Ads</a:t>
            </a:r>
            <a:endParaRPr sz="1000" b="0" i="0" u="none" strike="noStrike" cap="none">
              <a:solidFill>
                <a:schemeClr val="dk1"/>
              </a:solidFill>
              <a:latin typeface="Calibri"/>
              <a:ea typeface="Calibri"/>
              <a:cs typeface="Calibri"/>
              <a:sym typeface="Calibri"/>
            </a:endParaRPr>
          </a:p>
        </p:txBody>
      </p:sp>
      <p:sp>
        <p:nvSpPr>
          <p:cNvPr id="412" name="Google Shape;412;p37"/>
          <p:cNvSpPr/>
          <p:nvPr/>
        </p:nvSpPr>
        <p:spPr>
          <a:xfrm>
            <a:off x="6025865" y="1326952"/>
            <a:ext cx="3118135" cy="40630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dirty="0">
                <a:solidFill>
                  <a:srgbClr val="FFFFFF"/>
                </a:solidFill>
                <a:latin typeface="Noto Sans Arabic"/>
                <a:ea typeface="Noto Sans Arabic"/>
                <a:cs typeface="Noto Sans Arabic"/>
                <a:sym typeface="Noto Sans Arabic"/>
              </a:rPr>
              <a:t>SAR 6,000</a:t>
            </a:r>
            <a:endParaRPr sz="2900" b="0" i="0" u="none" strike="noStrike" cap="none" dirty="0">
              <a:solidFill>
                <a:schemeClr val="dk1"/>
              </a:solidFill>
              <a:latin typeface="Calibri"/>
              <a:ea typeface="Calibri"/>
              <a:cs typeface="Calibri"/>
              <a:sym typeface="Calibri"/>
            </a:endParaRPr>
          </a:p>
        </p:txBody>
      </p:sp>
      <p:sp>
        <p:nvSpPr>
          <p:cNvPr id="413" name="Google Shape;413;p37"/>
          <p:cNvSpPr/>
          <p:nvPr/>
        </p:nvSpPr>
        <p:spPr>
          <a:xfrm>
            <a:off x="6035017" y="1759036"/>
            <a:ext cx="3108983"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High-Intent Keywords</a:t>
            </a:r>
            <a:endParaRPr sz="1100" b="0" i="0" u="none" strike="noStrike" cap="none">
              <a:solidFill>
                <a:schemeClr val="dk1"/>
              </a:solidFill>
              <a:latin typeface="Calibri"/>
              <a:ea typeface="Calibri"/>
              <a:cs typeface="Calibri"/>
              <a:sym typeface="Calibri"/>
            </a:endParaRPr>
          </a:p>
        </p:txBody>
      </p:sp>
      <p:sp>
        <p:nvSpPr>
          <p:cNvPr id="414" name="Google Shape;414;p37"/>
          <p:cNvSpPr/>
          <p:nvPr/>
        </p:nvSpPr>
        <p:spPr>
          <a:xfrm>
            <a:off x="6126435" y="2247602"/>
            <a:ext cx="2246710"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Performance Max</a:t>
            </a:r>
            <a:endParaRPr sz="1000" b="0" i="0" u="none" strike="noStrike" cap="none">
              <a:solidFill>
                <a:schemeClr val="dk1"/>
              </a:solidFill>
              <a:latin typeface="Calibri"/>
              <a:ea typeface="Calibri"/>
              <a:cs typeface="Calibri"/>
              <a:sym typeface="Calibri"/>
            </a:endParaRPr>
          </a:p>
        </p:txBody>
      </p:sp>
      <p:sp>
        <p:nvSpPr>
          <p:cNvPr id="415" name="Google Shape;415;p37"/>
          <p:cNvSpPr/>
          <p:nvPr/>
        </p:nvSpPr>
        <p:spPr>
          <a:xfrm>
            <a:off x="6025865" y="2530562"/>
            <a:ext cx="3118135" cy="39603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900"/>
              <a:buFont typeface="Noto Sans Arabic"/>
              <a:buNone/>
            </a:pPr>
            <a:r>
              <a:rPr lang="en" sz="2900" b="1" i="0" u="none" strike="noStrike" cap="none">
                <a:solidFill>
                  <a:srgbClr val="FFFFFF"/>
                </a:solidFill>
                <a:latin typeface="Noto Sans Arabic"/>
                <a:ea typeface="Noto Sans Arabic"/>
                <a:cs typeface="Noto Sans Arabic"/>
                <a:sym typeface="Noto Sans Arabic"/>
              </a:rPr>
              <a:t>SAR 2,000</a:t>
            </a:r>
            <a:endParaRPr sz="2900" b="0" i="0" u="none" strike="noStrike" cap="none">
              <a:solidFill>
                <a:schemeClr val="dk1"/>
              </a:solidFill>
              <a:latin typeface="Calibri"/>
              <a:ea typeface="Calibri"/>
              <a:cs typeface="Calibri"/>
              <a:sym typeface="Calibri"/>
            </a:endParaRPr>
          </a:p>
        </p:txBody>
      </p:sp>
      <p:sp>
        <p:nvSpPr>
          <p:cNvPr id="416" name="Google Shape;416;p37"/>
          <p:cNvSpPr/>
          <p:nvPr/>
        </p:nvSpPr>
        <p:spPr>
          <a:xfrm>
            <a:off x="6035017" y="2957513"/>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B2B Audience Signals</a:t>
            </a:r>
            <a:endParaRPr sz="1100" b="0" i="0" u="none" strike="noStrike" cap="none">
              <a:solidFill>
                <a:schemeClr val="dk1"/>
              </a:solidFill>
              <a:latin typeface="Calibri"/>
              <a:ea typeface="Calibri"/>
              <a:cs typeface="Calibri"/>
              <a:sym typeface="Calibri"/>
            </a:endParaRPr>
          </a:p>
        </p:txBody>
      </p:sp>
      <p:sp>
        <p:nvSpPr>
          <p:cNvPr id="417" name="Google Shape;417;p37"/>
          <p:cNvSpPr/>
          <p:nvPr/>
        </p:nvSpPr>
        <p:spPr>
          <a:xfrm>
            <a:off x="6025865" y="3548993"/>
            <a:ext cx="3118135"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9A825"/>
              </a:buClr>
              <a:buSzPts val="1100"/>
              <a:buFont typeface="Noto Sans Arabic"/>
              <a:buNone/>
            </a:pPr>
            <a:r>
              <a:rPr lang="en" sz="1100" b="1" i="0" u="none" strike="noStrike" cap="none">
                <a:solidFill>
                  <a:srgbClr val="F9A825"/>
                </a:solidFill>
                <a:latin typeface="Noto Sans Arabic"/>
                <a:ea typeface="Noto Sans Arabic"/>
                <a:cs typeface="Noto Sans Arabic"/>
                <a:sym typeface="Noto Sans Arabic"/>
              </a:rPr>
              <a:t>PROJECTED B2B LEADS</a:t>
            </a:r>
            <a:endParaRPr sz="1100" b="0" i="0" u="none" strike="noStrike" cap="none">
              <a:solidFill>
                <a:schemeClr val="dk1"/>
              </a:solidFill>
              <a:latin typeface="Calibri"/>
              <a:ea typeface="Calibri"/>
              <a:cs typeface="Calibri"/>
              <a:sym typeface="Calibri"/>
            </a:endParaRPr>
          </a:p>
        </p:txBody>
      </p:sp>
      <p:sp>
        <p:nvSpPr>
          <p:cNvPr id="418" name="Google Shape;418;p37"/>
          <p:cNvSpPr/>
          <p:nvPr/>
        </p:nvSpPr>
        <p:spPr>
          <a:xfrm>
            <a:off x="6053323" y="3816437"/>
            <a:ext cx="3090677" cy="52975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4600"/>
              <a:buFont typeface="Noto Sans Arabic"/>
              <a:buNone/>
            </a:pPr>
            <a:r>
              <a:rPr lang="en" sz="4600" b="1" dirty="0">
                <a:solidFill>
                  <a:srgbClr val="FFFFFF"/>
                </a:solidFill>
                <a:latin typeface="Noto Sans Arabic"/>
                <a:ea typeface="Noto Sans Arabic"/>
                <a:cs typeface="Noto Sans Arabic"/>
                <a:sym typeface="Noto Sans Arabic"/>
              </a:rPr>
              <a:t>30</a:t>
            </a:r>
            <a:r>
              <a:rPr lang="en" sz="4600" b="1" i="0" u="none" strike="noStrike" cap="none" dirty="0">
                <a:solidFill>
                  <a:srgbClr val="FFFFFF"/>
                </a:solidFill>
                <a:latin typeface="Noto Sans Arabic"/>
                <a:ea typeface="Noto Sans Arabic"/>
                <a:cs typeface="Noto Sans Arabic"/>
                <a:sym typeface="Noto Sans Arabic"/>
              </a:rPr>
              <a:t>+</a:t>
            </a:r>
            <a:endParaRPr sz="4600" b="0" i="0" u="none" strike="noStrike" cap="none" dirty="0">
              <a:solidFill>
                <a:schemeClr val="dk1"/>
              </a:solidFill>
              <a:latin typeface="Calibri"/>
              <a:ea typeface="Calibri"/>
              <a:cs typeface="Calibri"/>
              <a:sym typeface="Calibri"/>
            </a:endParaRPr>
          </a:p>
        </p:txBody>
      </p:sp>
      <p:sp>
        <p:nvSpPr>
          <p:cNvPr id="419" name="Google Shape;419;p37"/>
          <p:cNvSpPr/>
          <p:nvPr/>
        </p:nvSpPr>
        <p:spPr>
          <a:xfrm>
            <a:off x="6035017" y="4397648"/>
            <a:ext cx="3108983"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CCCCCC"/>
              </a:buClr>
              <a:buSzPts val="1100"/>
              <a:buFont typeface="Noto Sans Arabic"/>
              <a:buNone/>
            </a:pPr>
            <a:r>
              <a:rPr lang="en" sz="1100" b="0" i="0" u="none" strike="noStrike" cap="none">
                <a:solidFill>
                  <a:srgbClr val="CCCCCC"/>
                </a:solidFill>
                <a:latin typeface="Noto Sans Arabic"/>
                <a:ea typeface="Noto Sans Arabic"/>
                <a:cs typeface="Noto Sans Arabic"/>
                <a:sym typeface="Noto Sans Arabic"/>
              </a:rPr>
              <a:t>Qualified Corporate RFQs</a:t>
            </a:r>
            <a:endParaRPr sz="11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53125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pic>
        <p:nvPicPr>
          <p:cNvPr id="522" name="Google Shape;522;p40"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523" name="Google Shape;523;p40" descr="preencoded.png"/>
          <p:cNvPicPr preferRelativeResize="0"/>
          <p:nvPr/>
        </p:nvPicPr>
        <p:blipFill rotWithShape="1">
          <a:blip r:embed="rId4">
            <a:alphaModFix/>
          </a:blip>
          <a:srcRect/>
          <a:stretch/>
        </p:blipFill>
        <p:spPr>
          <a:xfrm>
            <a:off x="1920218" y="32370"/>
            <a:ext cx="7223671" cy="4487168"/>
          </a:xfrm>
          <a:prstGeom prst="rect">
            <a:avLst/>
          </a:prstGeom>
          <a:noFill/>
          <a:ln>
            <a:noFill/>
          </a:ln>
        </p:spPr>
      </p:pic>
      <p:pic>
        <p:nvPicPr>
          <p:cNvPr id="524" name="Google Shape;524;p40" descr="preencoded.png"/>
          <p:cNvPicPr preferRelativeResize="0"/>
          <p:nvPr/>
        </p:nvPicPr>
        <p:blipFill rotWithShape="1">
          <a:blip r:embed="rId5">
            <a:alphaModFix/>
          </a:blip>
          <a:srcRect/>
          <a:stretch/>
        </p:blipFill>
        <p:spPr>
          <a:xfrm>
            <a:off x="0" y="138857"/>
            <a:ext cx="713147" cy="66861"/>
          </a:xfrm>
          <a:prstGeom prst="rect">
            <a:avLst/>
          </a:prstGeom>
          <a:noFill/>
          <a:ln>
            <a:noFill/>
          </a:ln>
        </p:spPr>
      </p:pic>
      <p:pic>
        <p:nvPicPr>
          <p:cNvPr id="525" name="Google Shape;525;p40" descr="preencoded.png"/>
          <p:cNvPicPr preferRelativeResize="0"/>
          <p:nvPr/>
        </p:nvPicPr>
        <p:blipFill rotWithShape="1">
          <a:blip r:embed="rId6">
            <a:alphaModFix/>
          </a:blip>
          <a:srcRect/>
          <a:stretch/>
        </p:blipFill>
        <p:spPr>
          <a:xfrm>
            <a:off x="445592" y="794680"/>
            <a:ext cx="1463018" cy="2931728"/>
          </a:xfrm>
          <a:prstGeom prst="rect">
            <a:avLst/>
          </a:prstGeom>
          <a:noFill/>
          <a:ln>
            <a:noFill/>
          </a:ln>
        </p:spPr>
      </p:pic>
      <p:pic>
        <p:nvPicPr>
          <p:cNvPr id="526" name="Google Shape;526;p40" descr="preencoded.png"/>
          <p:cNvPicPr preferRelativeResize="0"/>
          <p:nvPr/>
        </p:nvPicPr>
        <p:blipFill rotWithShape="1">
          <a:blip r:embed="rId7">
            <a:alphaModFix/>
          </a:blip>
          <a:srcRect/>
          <a:stretch/>
        </p:blipFill>
        <p:spPr>
          <a:xfrm>
            <a:off x="6949417" y="0"/>
            <a:ext cx="2194471" cy="1645853"/>
          </a:xfrm>
          <a:prstGeom prst="rect">
            <a:avLst/>
          </a:prstGeom>
          <a:noFill/>
          <a:ln>
            <a:noFill/>
          </a:ln>
        </p:spPr>
      </p:pic>
      <p:pic>
        <p:nvPicPr>
          <p:cNvPr id="527" name="Google Shape;527;p40" descr="preencoded.png"/>
          <p:cNvPicPr preferRelativeResize="0"/>
          <p:nvPr/>
        </p:nvPicPr>
        <p:blipFill rotWithShape="1">
          <a:blip r:embed="rId8">
            <a:alphaModFix/>
          </a:blip>
          <a:srcRect/>
          <a:stretch/>
        </p:blipFill>
        <p:spPr>
          <a:xfrm>
            <a:off x="2240235" y="1002916"/>
            <a:ext cx="1051471" cy="87399"/>
          </a:xfrm>
          <a:prstGeom prst="rect">
            <a:avLst/>
          </a:prstGeom>
          <a:noFill/>
          <a:ln>
            <a:noFill/>
          </a:ln>
        </p:spPr>
      </p:pic>
      <p:pic>
        <p:nvPicPr>
          <p:cNvPr id="528" name="Google Shape;528;p40" descr="preencoded.png"/>
          <p:cNvPicPr preferRelativeResize="0"/>
          <p:nvPr/>
        </p:nvPicPr>
        <p:blipFill rotWithShape="1">
          <a:blip r:embed="rId9">
            <a:alphaModFix/>
          </a:blip>
          <a:srcRect/>
          <a:stretch/>
        </p:blipFill>
        <p:spPr>
          <a:xfrm>
            <a:off x="2148818" y="1568722"/>
            <a:ext cx="2834618" cy="2787737"/>
          </a:xfrm>
          <a:prstGeom prst="rect">
            <a:avLst/>
          </a:prstGeom>
          <a:noFill/>
          <a:ln>
            <a:noFill/>
          </a:ln>
        </p:spPr>
      </p:pic>
      <p:pic>
        <p:nvPicPr>
          <p:cNvPr id="529" name="Google Shape;529;p40" descr="preencoded.png"/>
          <p:cNvPicPr preferRelativeResize="0"/>
          <p:nvPr/>
        </p:nvPicPr>
        <p:blipFill rotWithShape="1">
          <a:blip r:embed="rId10">
            <a:alphaModFix/>
          </a:blip>
          <a:srcRect/>
          <a:stretch/>
        </p:blipFill>
        <p:spPr>
          <a:xfrm>
            <a:off x="3562499" y="2108746"/>
            <a:ext cx="7144" cy="462892"/>
          </a:xfrm>
          <a:prstGeom prst="rect">
            <a:avLst/>
          </a:prstGeom>
          <a:noFill/>
          <a:ln>
            <a:noFill/>
          </a:ln>
        </p:spPr>
      </p:pic>
      <p:pic>
        <p:nvPicPr>
          <p:cNvPr id="530" name="Google Shape;530;p40" descr="preencoded.png"/>
          <p:cNvPicPr preferRelativeResize="0"/>
          <p:nvPr/>
        </p:nvPicPr>
        <p:blipFill rotWithShape="1">
          <a:blip r:embed="rId11">
            <a:alphaModFix/>
          </a:blip>
          <a:srcRect/>
          <a:stretch/>
        </p:blipFill>
        <p:spPr>
          <a:xfrm>
            <a:off x="2331653" y="2773896"/>
            <a:ext cx="2468835" cy="7144"/>
          </a:xfrm>
          <a:prstGeom prst="rect">
            <a:avLst/>
          </a:prstGeom>
          <a:noFill/>
          <a:ln>
            <a:noFill/>
          </a:ln>
        </p:spPr>
      </p:pic>
      <p:pic>
        <p:nvPicPr>
          <p:cNvPr id="531" name="Google Shape;531;p40" descr="preencoded.png"/>
          <p:cNvPicPr preferRelativeResize="0"/>
          <p:nvPr/>
        </p:nvPicPr>
        <p:blipFill rotWithShape="1">
          <a:blip r:embed="rId12">
            <a:alphaModFix/>
          </a:blip>
          <a:srcRect/>
          <a:stretch/>
        </p:blipFill>
        <p:spPr>
          <a:xfrm>
            <a:off x="2331653" y="3227524"/>
            <a:ext cx="2011635" cy="231391"/>
          </a:xfrm>
          <a:prstGeom prst="rect">
            <a:avLst/>
          </a:prstGeom>
          <a:noFill/>
          <a:ln>
            <a:noFill/>
          </a:ln>
        </p:spPr>
      </p:pic>
      <p:pic>
        <p:nvPicPr>
          <p:cNvPr id="532" name="Google Shape;532;p40" descr="preencoded.png"/>
          <p:cNvPicPr preferRelativeResize="0"/>
          <p:nvPr/>
        </p:nvPicPr>
        <p:blipFill rotWithShape="1">
          <a:blip r:embed="rId13">
            <a:alphaModFix/>
          </a:blip>
          <a:srcRect/>
          <a:stretch/>
        </p:blipFill>
        <p:spPr>
          <a:xfrm>
            <a:off x="2331653" y="3600450"/>
            <a:ext cx="1783035" cy="231391"/>
          </a:xfrm>
          <a:prstGeom prst="rect">
            <a:avLst/>
          </a:prstGeom>
          <a:noFill/>
          <a:ln>
            <a:noFill/>
          </a:ln>
        </p:spPr>
      </p:pic>
      <p:pic>
        <p:nvPicPr>
          <p:cNvPr id="533" name="Google Shape;533;p40" descr="preencoded.png"/>
          <p:cNvPicPr preferRelativeResize="0"/>
          <p:nvPr/>
        </p:nvPicPr>
        <p:blipFill rotWithShape="1">
          <a:blip r:embed="rId14">
            <a:alphaModFix/>
          </a:blip>
          <a:srcRect/>
          <a:stretch/>
        </p:blipFill>
        <p:spPr>
          <a:xfrm>
            <a:off x="2331653" y="3970697"/>
            <a:ext cx="2423071" cy="231391"/>
          </a:xfrm>
          <a:prstGeom prst="rect">
            <a:avLst/>
          </a:prstGeom>
          <a:noFill/>
          <a:ln>
            <a:noFill/>
          </a:ln>
        </p:spPr>
      </p:pic>
      <p:pic>
        <p:nvPicPr>
          <p:cNvPr id="534" name="Google Shape;534;p40" descr="preencoded.png"/>
          <p:cNvPicPr preferRelativeResize="0"/>
          <p:nvPr/>
        </p:nvPicPr>
        <p:blipFill rotWithShape="1">
          <a:blip r:embed="rId15">
            <a:alphaModFix/>
          </a:blip>
          <a:srcRect/>
          <a:stretch/>
        </p:blipFill>
        <p:spPr>
          <a:xfrm>
            <a:off x="5166271" y="1681907"/>
            <a:ext cx="3749018" cy="2715741"/>
          </a:xfrm>
          <a:prstGeom prst="rect">
            <a:avLst/>
          </a:prstGeom>
          <a:noFill/>
          <a:ln>
            <a:noFill/>
          </a:ln>
        </p:spPr>
      </p:pic>
      <p:pic>
        <p:nvPicPr>
          <p:cNvPr id="535" name="Google Shape;535;p40" descr="preencoded.png"/>
          <p:cNvPicPr preferRelativeResize="0"/>
          <p:nvPr/>
        </p:nvPicPr>
        <p:blipFill rotWithShape="1">
          <a:blip r:embed="rId16">
            <a:alphaModFix/>
          </a:blip>
          <a:srcRect/>
          <a:stretch/>
        </p:blipFill>
        <p:spPr>
          <a:xfrm>
            <a:off x="5349218" y="2196257"/>
            <a:ext cx="73111" cy="797197"/>
          </a:xfrm>
          <a:prstGeom prst="rect">
            <a:avLst/>
          </a:prstGeom>
          <a:noFill/>
          <a:ln>
            <a:noFill/>
          </a:ln>
        </p:spPr>
      </p:pic>
      <p:pic>
        <p:nvPicPr>
          <p:cNvPr id="536" name="Google Shape;536;p40" descr="preencoded.png"/>
          <p:cNvPicPr preferRelativeResize="0"/>
          <p:nvPr/>
        </p:nvPicPr>
        <p:blipFill rotWithShape="1">
          <a:blip r:embed="rId17">
            <a:alphaModFix/>
          </a:blip>
          <a:srcRect/>
          <a:stretch/>
        </p:blipFill>
        <p:spPr>
          <a:xfrm>
            <a:off x="5349217" y="3082528"/>
            <a:ext cx="3383235" cy="7144"/>
          </a:xfrm>
          <a:prstGeom prst="rect">
            <a:avLst/>
          </a:prstGeom>
          <a:noFill/>
          <a:ln>
            <a:noFill/>
          </a:ln>
        </p:spPr>
      </p:pic>
      <p:pic>
        <p:nvPicPr>
          <p:cNvPr id="537" name="Google Shape;537;p40" descr="preencoded.png"/>
          <p:cNvPicPr preferRelativeResize="0"/>
          <p:nvPr/>
        </p:nvPicPr>
        <p:blipFill rotWithShape="1">
          <a:blip r:embed="rId18">
            <a:alphaModFix/>
          </a:blip>
          <a:srcRect/>
          <a:stretch/>
        </p:blipFill>
        <p:spPr>
          <a:xfrm>
            <a:off x="2651671" y="4783410"/>
            <a:ext cx="54806" cy="205718"/>
          </a:xfrm>
          <a:prstGeom prst="rect">
            <a:avLst/>
          </a:prstGeom>
          <a:noFill/>
          <a:ln>
            <a:noFill/>
          </a:ln>
        </p:spPr>
      </p:pic>
      <p:pic>
        <p:nvPicPr>
          <p:cNvPr id="538" name="Google Shape;538;p40" descr="preencoded.png"/>
          <p:cNvPicPr preferRelativeResize="0"/>
          <p:nvPr/>
        </p:nvPicPr>
        <p:blipFill rotWithShape="1">
          <a:blip r:embed="rId19">
            <a:alphaModFix/>
          </a:blip>
          <a:srcRect/>
          <a:stretch/>
        </p:blipFill>
        <p:spPr>
          <a:xfrm>
            <a:off x="7772400" y="3518074"/>
            <a:ext cx="557771" cy="411435"/>
          </a:xfrm>
          <a:prstGeom prst="rect">
            <a:avLst/>
          </a:prstGeom>
          <a:noFill/>
          <a:ln>
            <a:noFill/>
          </a:ln>
        </p:spPr>
      </p:pic>
      <p:pic>
        <p:nvPicPr>
          <p:cNvPr id="539" name="Google Shape;539;p40" descr="preencoded.png"/>
          <p:cNvPicPr preferRelativeResize="0"/>
          <p:nvPr/>
        </p:nvPicPr>
        <p:blipFill rotWithShape="1">
          <a:blip r:embed="rId20">
            <a:alphaModFix/>
          </a:blip>
          <a:srcRect/>
          <a:stretch/>
        </p:blipFill>
        <p:spPr>
          <a:xfrm>
            <a:off x="6638441" y="3518074"/>
            <a:ext cx="448047" cy="411435"/>
          </a:xfrm>
          <a:prstGeom prst="rect">
            <a:avLst/>
          </a:prstGeom>
          <a:noFill/>
          <a:ln>
            <a:noFill/>
          </a:ln>
        </p:spPr>
      </p:pic>
      <p:pic>
        <p:nvPicPr>
          <p:cNvPr id="540" name="Google Shape;540;p40" descr="preencoded.png"/>
          <p:cNvPicPr preferRelativeResize="0"/>
          <p:nvPr/>
        </p:nvPicPr>
        <p:blipFill rotWithShape="1">
          <a:blip r:embed="rId21">
            <a:alphaModFix/>
          </a:blip>
          <a:srcRect/>
          <a:stretch/>
        </p:blipFill>
        <p:spPr>
          <a:xfrm>
            <a:off x="5404024" y="3548993"/>
            <a:ext cx="621730" cy="380516"/>
          </a:xfrm>
          <a:prstGeom prst="rect">
            <a:avLst/>
          </a:prstGeom>
          <a:noFill/>
          <a:ln>
            <a:noFill/>
          </a:ln>
        </p:spPr>
      </p:pic>
      <p:sp>
        <p:nvSpPr>
          <p:cNvPr id="541" name="Google Shape;541;p40"/>
          <p:cNvSpPr/>
          <p:nvPr/>
        </p:nvSpPr>
        <p:spPr>
          <a:xfrm rot="5400000">
            <a:off x="-853622" y="3108592"/>
            <a:ext cx="2360786" cy="2376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Noto Sans Arabic"/>
              <a:buNone/>
            </a:pPr>
            <a:r>
              <a:rPr lang="en" sz="700" b="1" i="0" u="none" strike="noStrike" cap="none">
                <a:solidFill>
                  <a:srgbClr val="FFFFFF"/>
                </a:solidFill>
                <a:latin typeface="Noto Sans Arabic"/>
                <a:ea typeface="Noto Sans Arabic"/>
                <a:cs typeface="Noto Sans Arabic"/>
                <a:sym typeface="Noto Sans Arabic"/>
              </a:rPr>
              <a:t>FLEET RISK MANAGEMENT</a:t>
            </a:r>
            <a:endParaRPr sz="700" b="0" i="0" u="none" strike="noStrike" cap="none">
              <a:solidFill>
                <a:schemeClr val="dk1"/>
              </a:solidFill>
              <a:latin typeface="Calibri"/>
              <a:ea typeface="Calibri"/>
              <a:cs typeface="Calibri"/>
              <a:sym typeface="Calibri"/>
            </a:endParaRPr>
          </a:p>
        </p:txBody>
      </p:sp>
      <p:sp>
        <p:nvSpPr>
          <p:cNvPr id="542" name="Google Shape;542;p40"/>
          <p:cNvSpPr/>
          <p:nvPr/>
        </p:nvSpPr>
        <p:spPr>
          <a:xfrm>
            <a:off x="2212777" y="246794"/>
            <a:ext cx="4384119" cy="14912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965E"/>
              </a:buClr>
              <a:buSzPts val="1000"/>
              <a:buFont typeface="Noto Sans Arabic"/>
              <a:buNone/>
            </a:pPr>
            <a:r>
              <a:rPr lang="en" sz="1000" b="1" i="0" u="none" strike="noStrike" cap="none">
                <a:solidFill>
                  <a:srgbClr val="00965E"/>
                </a:solidFill>
                <a:latin typeface="Noto Sans Arabic"/>
                <a:ea typeface="Noto Sans Arabic"/>
                <a:cs typeface="Noto Sans Arabic"/>
                <a:sym typeface="Noto Sans Arabic"/>
              </a:rPr>
              <a:t>PRODUCT STRATEGY · 04 OF 04</a:t>
            </a:r>
            <a:endParaRPr sz="1000" b="0" i="0" u="none" strike="noStrike" cap="none">
              <a:solidFill>
                <a:schemeClr val="dk1"/>
              </a:solidFill>
              <a:latin typeface="Calibri"/>
              <a:ea typeface="Calibri"/>
              <a:cs typeface="Calibri"/>
              <a:sym typeface="Calibri"/>
            </a:endParaRPr>
          </a:p>
        </p:txBody>
      </p:sp>
      <p:sp>
        <p:nvSpPr>
          <p:cNvPr id="543" name="Google Shape;543;p40"/>
          <p:cNvSpPr/>
          <p:nvPr/>
        </p:nvSpPr>
        <p:spPr>
          <a:xfrm>
            <a:off x="2221930" y="534888"/>
            <a:ext cx="6922070" cy="41657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44"/>
              </a:buClr>
              <a:buSzPts val="2800"/>
              <a:buFont typeface="Noto Sans Arabic"/>
              <a:buNone/>
            </a:pPr>
            <a:r>
              <a:rPr lang="en" sz="2800" b="1" i="0" u="none" strike="noStrike" cap="none">
                <a:solidFill>
                  <a:srgbClr val="112244"/>
                </a:solidFill>
                <a:latin typeface="Noto Sans Arabic"/>
                <a:ea typeface="Noto Sans Arabic"/>
                <a:cs typeface="Noto Sans Arabic"/>
                <a:sym typeface="Noto Sans Arabic"/>
              </a:rPr>
              <a:t>Defensive Driving</a:t>
            </a:r>
            <a:endParaRPr sz="2800" b="0" i="0" u="none" strike="noStrike" cap="none">
              <a:solidFill>
                <a:schemeClr val="dk1"/>
              </a:solidFill>
              <a:latin typeface="Calibri"/>
              <a:ea typeface="Calibri"/>
              <a:cs typeface="Calibri"/>
              <a:sym typeface="Calibri"/>
            </a:endParaRPr>
          </a:p>
        </p:txBody>
      </p:sp>
      <p:sp>
        <p:nvSpPr>
          <p:cNvPr id="544" name="Google Shape;544;p40"/>
          <p:cNvSpPr/>
          <p:nvPr/>
        </p:nvSpPr>
        <p:spPr>
          <a:xfrm>
            <a:off x="2203624" y="1182960"/>
            <a:ext cx="6940376" cy="1850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00"/>
              <a:buFont typeface="Noto Sans Arabic"/>
              <a:buNone/>
            </a:pPr>
            <a:r>
              <a:rPr lang="en" sz="1000" b="1" i="0" u="none" strike="noStrike" cap="none">
                <a:solidFill>
                  <a:srgbClr val="555555"/>
                </a:solidFill>
                <a:latin typeface="Noto Sans Arabic"/>
                <a:ea typeface="Noto Sans Arabic"/>
                <a:cs typeface="Noto Sans Arabic"/>
                <a:sym typeface="Noto Sans Arabic"/>
              </a:rPr>
              <a:t>Fleet Safety &amp; Risk Reduction for Corporate Fleets and Logistics Operations</a:t>
            </a:r>
            <a:endParaRPr sz="1000" b="0" i="0" u="none" strike="noStrike" cap="none">
              <a:solidFill>
                <a:schemeClr val="dk1"/>
              </a:solidFill>
              <a:latin typeface="Calibri"/>
              <a:ea typeface="Calibri"/>
              <a:cs typeface="Calibri"/>
              <a:sym typeface="Calibri"/>
            </a:endParaRPr>
          </a:p>
        </p:txBody>
      </p:sp>
      <p:sp>
        <p:nvSpPr>
          <p:cNvPr id="545" name="Google Shape;545;p40"/>
          <p:cNvSpPr/>
          <p:nvPr/>
        </p:nvSpPr>
        <p:spPr>
          <a:xfrm>
            <a:off x="2331653" y="1769306"/>
            <a:ext cx="2663190" cy="1388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965E"/>
              </a:buClr>
              <a:buSzPts val="900"/>
              <a:buFont typeface="Noto Sans Arabic"/>
              <a:buNone/>
            </a:pPr>
            <a:r>
              <a:rPr lang="en" sz="900" b="1" i="0" u="none" strike="noStrike" cap="none">
                <a:solidFill>
                  <a:srgbClr val="00965E"/>
                </a:solidFill>
                <a:latin typeface="Noto Sans Arabic"/>
                <a:ea typeface="Noto Sans Arabic"/>
                <a:cs typeface="Noto Sans Arabic"/>
                <a:sym typeface="Noto Sans Arabic"/>
              </a:rPr>
              <a:t>CAMPAIGN INVESTMENT</a:t>
            </a:r>
            <a:endParaRPr sz="900" b="0" i="0" u="none" strike="noStrike" cap="none">
              <a:solidFill>
                <a:schemeClr val="dk1"/>
              </a:solidFill>
              <a:latin typeface="Calibri"/>
              <a:ea typeface="Calibri"/>
              <a:cs typeface="Calibri"/>
              <a:sym typeface="Calibri"/>
            </a:endParaRPr>
          </a:p>
        </p:txBody>
      </p:sp>
      <p:sp>
        <p:nvSpPr>
          <p:cNvPr id="546" name="Google Shape;546;p40"/>
          <p:cNvSpPr/>
          <p:nvPr/>
        </p:nvSpPr>
        <p:spPr>
          <a:xfrm>
            <a:off x="2320045" y="2083073"/>
            <a:ext cx="1166217" cy="24679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2244"/>
              </a:buClr>
              <a:buSzPts val="1500"/>
              <a:buFont typeface="Noto Sans Arabic"/>
              <a:buNone/>
            </a:pPr>
            <a:r>
              <a:rPr lang="en" sz="1500" b="1" i="0" u="none" strike="noStrike" cap="none" dirty="0">
                <a:solidFill>
                  <a:srgbClr val="112244"/>
                </a:solidFill>
                <a:latin typeface="Noto Sans Arabic"/>
                <a:ea typeface="Noto Sans Arabic"/>
                <a:cs typeface="Noto Sans Arabic"/>
                <a:sym typeface="Noto Sans Arabic"/>
              </a:rPr>
              <a:t>SAR 6,000</a:t>
            </a:r>
            <a:endParaRPr sz="1500" b="0" i="0" u="none" strike="noStrike" cap="none" dirty="0">
              <a:solidFill>
                <a:schemeClr val="dk1"/>
              </a:solidFill>
              <a:latin typeface="Calibri"/>
              <a:ea typeface="Calibri"/>
              <a:cs typeface="Calibri"/>
              <a:sym typeface="Calibri"/>
            </a:endParaRPr>
          </a:p>
        </p:txBody>
      </p:sp>
      <p:sp>
        <p:nvSpPr>
          <p:cNvPr id="547" name="Google Shape;547;p40"/>
          <p:cNvSpPr/>
          <p:nvPr/>
        </p:nvSpPr>
        <p:spPr>
          <a:xfrm>
            <a:off x="2559137" y="2407109"/>
            <a:ext cx="669727" cy="11820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548" name="Google Shape;548;p40"/>
          <p:cNvSpPr/>
          <p:nvPr/>
        </p:nvSpPr>
        <p:spPr>
          <a:xfrm>
            <a:off x="3709950" y="2088208"/>
            <a:ext cx="1157064" cy="2416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2244"/>
              </a:buClr>
              <a:buSzPts val="1500"/>
              <a:buFont typeface="Noto Sans Arabic"/>
              <a:buNone/>
            </a:pPr>
            <a:r>
              <a:rPr lang="en" sz="1500" b="1" i="0" u="none" strike="noStrike" cap="none">
                <a:solidFill>
                  <a:srgbClr val="112244"/>
                </a:solidFill>
                <a:latin typeface="Noto Sans Arabic"/>
                <a:ea typeface="Noto Sans Arabic"/>
                <a:cs typeface="Noto Sans Arabic"/>
                <a:sym typeface="Noto Sans Arabic"/>
              </a:rPr>
              <a:t>SAR 2,000</a:t>
            </a:r>
            <a:endParaRPr sz="1500" b="0" i="0" u="none" strike="noStrike" cap="none">
              <a:solidFill>
                <a:schemeClr val="dk1"/>
              </a:solidFill>
              <a:latin typeface="Calibri"/>
              <a:ea typeface="Calibri"/>
              <a:cs typeface="Calibri"/>
              <a:sym typeface="Calibri"/>
            </a:endParaRPr>
          </a:p>
        </p:txBody>
      </p:sp>
      <p:sp>
        <p:nvSpPr>
          <p:cNvPr id="549" name="Google Shape;549;p40"/>
          <p:cNvSpPr/>
          <p:nvPr/>
        </p:nvSpPr>
        <p:spPr>
          <a:xfrm>
            <a:off x="3802708" y="2407109"/>
            <a:ext cx="989744" cy="11820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Performance Max</a:t>
            </a:r>
            <a:endParaRPr sz="800" b="0" i="0" u="none" strike="noStrike" cap="none">
              <a:solidFill>
                <a:schemeClr val="dk1"/>
              </a:solidFill>
              <a:latin typeface="Calibri"/>
              <a:ea typeface="Calibri"/>
              <a:cs typeface="Calibri"/>
              <a:sym typeface="Calibri"/>
            </a:endParaRPr>
          </a:p>
        </p:txBody>
      </p:sp>
      <p:sp>
        <p:nvSpPr>
          <p:cNvPr id="550" name="Google Shape;550;p40"/>
          <p:cNvSpPr/>
          <p:nvPr/>
        </p:nvSpPr>
        <p:spPr>
          <a:xfrm>
            <a:off x="2331653" y="2906055"/>
            <a:ext cx="2800350"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965E"/>
              </a:buClr>
              <a:buSzPts val="900"/>
              <a:buFont typeface="Noto Sans Arabic"/>
              <a:buNone/>
            </a:pPr>
            <a:r>
              <a:rPr lang="en" sz="900" b="1" i="0" u="none" strike="noStrike" cap="none">
                <a:solidFill>
                  <a:srgbClr val="00965E"/>
                </a:solidFill>
                <a:latin typeface="Noto Sans Arabic"/>
                <a:ea typeface="Noto Sans Arabic"/>
                <a:cs typeface="Noto Sans Arabic"/>
                <a:sym typeface="Noto Sans Arabic"/>
              </a:rPr>
              <a:t>HIGH-INTENT KEYWORDS</a:t>
            </a:r>
            <a:endParaRPr sz="900" b="0" i="0" u="none" strike="noStrike" cap="none">
              <a:solidFill>
                <a:schemeClr val="dk1"/>
              </a:solidFill>
              <a:latin typeface="Calibri"/>
              <a:ea typeface="Calibri"/>
              <a:cs typeface="Calibri"/>
              <a:sym typeface="Calibri"/>
            </a:endParaRPr>
          </a:p>
        </p:txBody>
      </p:sp>
      <p:sp>
        <p:nvSpPr>
          <p:cNvPr id="551" name="Google Shape;551;p40"/>
          <p:cNvSpPr/>
          <p:nvPr/>
        </p:nvSpPr>
        <p:spPr>
          <a:xfrm>
            <a:off x="2459683" y="3276302"/>
            <a:ext cx="4377690"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Defensive driving corporate training</a:t>
            </a:r>
            <a:endParaRPr sz="800" b="0" i="0" u="none" strike="noStrike" cap="none">
              <a:solidFill>
                <a:schemeClr val="dk1"/>
              </a:solidFill>
              <a:latin typeface="Calibri"/>
              <a:ea typeface="Calibri"/>
              <a:cs typeface="Calibri"/>
              <a:sym typeface="Calibri"/>
            </a:endParaRPr>
          </a:p>
        </p:txBody>
      </p:sp>
      <p:sp>
        <p:nvSpPr>
          <p:cNvPr id="552" name="Google Shape;552;p40"/>
          <p:cNvSpPr/>
          <p:nvPr/>
        </p:nvSpPr>
        <p:spPr>
          <a:xfrm>
            <a:off x="2459683" y="3646661"/>
            <a:ext cx="4017645"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Fleet driver safety certification</a:t>
            </a:r>
            <a:endParaRPr sz="800" b="0" i="0" u="none" strike="noStrike" cap="none">
              <a:solidFill>
                <a:schemeClr val="dk1"/>
              </a:solidFill>
              <a:latin typeface="Calibri"/>
              <a:ea typeface="Calibri"/>
              <a:cs typeface="Calibri"/>
              <a:sym typeface="Calibri"/>
            </a:endParaRPr>
          </a:p>
        </p:txBody>
      </p:sp>
      <p:sp>
        <p:nvSpPr>
          <p:cNvPr id="553" name="Google Shape;553;p40"/>
          <p:cNvSpPr/>
          <p:nvPr/>
        </p:nvSpPr>
        <p:spPr>
          <a:xfrm>
            <a:off x="2459683" y="4017020"/>
            <a:ext cx="5097780" cy="13885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Defensive driving training in Riyadh / KSA</a:t>
            </a:r>
            <a:endParaRPr sz="800" b="0" i="0" u="none" strike="noStrike" cap="none">
              <a:solidFill>
                <a:schemeClr val="dk1"/>
              </a:solidFill>
              <a:latin typeface="Calibri"/>
              <a:ea typeface="Calibri"/>
              <a:cs typeface="Calibri"/>
              <a:sym typeface="Calibri"/>
            </a:endParaRPr>
          </a:p>
        </p:txBody>
      </p:sp>
      <p:sp>
        <p:nvSpPr>
          <p:cNvPr id="554" name="Google Shape;554;p40"/>
          <p:cNvSpPr/>
          <p:nvPr/>
        </p:nvSpPr>
        <p:spPr>
          <a:xfrm>
            <a:off x="5303453" y="1774441"/>
            <a:ext cx="2388870"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965E"/>
              </a:buClr>
              <a:buSzPts val="900"/>
              <a:buFont typeface="Noto Sans Arabic"/>
              <a:buNone/>
            </a:pPr>
            <a:r>
              <a:rPr lang="en" sz="900" b="1" i="0" u="none" strike="noStrike" cap="none">
                <a:solidFill>
                  <a:srgbClr val="00965E"/>
                </a:solidFill>
                <a:latin typeface="Noto Sans Arabic"/>
                <a:ea typeface="Noto Sans Arabic"/>
                <a:cs typeface="Noto Sans Arabic"/>
                <a:sym typeface="Noto Sans Arabic"/>
              </a:rPr>
              <a:t>AD COPY DIRECTION</a:t>
            </a:r>
            <a:endParaRPr sz="900" b="0" i="0" u="none" strike="noStrike" cap="none">
              <a:solidFill>
                <a:schemeClr val="dk1"/>
              </a:solidFill>
              <a:latin typeface="Calibri"/>
              <a:ea typeface="Calibri"/>
              <a:cs typeface="Calibri"/>
              <a:sym typeface="Calibri"/>
            </a:endParaRPr>
          </a:p>
        </p:txBody>
      </p:sp>
      <p:sp>
        <p:nvSpPr>
          <p:cNvPr id="555" name="Google Shape;555;p40"/>
          <p:cNvSpPr/>
          <p:nvPr/>
        </p:nvSpPr>
        <p:spPr>
          <a:xfrm>
            <a:off x="5495441" y="2098477"/>
            <a:ext cx="3648559"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00"/>
              <a:buFont typeface="Noto Sans Arabic"/>
              <a:buNone/>
            </a:pPr>
            <a:r>
              <a:rPr lang="en" sz="1000" b="1" i="0" u="none" strike="noStrike" cap="none">
                <a:solidFill>
                  <a:srgbClr val="555555"/>
                </a:solidFill>
                <a:latin typeface="Noto Sans Arabic"/>
                <a:ea typeface="Noto Sans Arabic"/>
                <a:cs typeface="Noto Sans Arabic"/>
                <a:sym typeface="Noto Sans Arabic"/>
              </a:rPr>
              <a:t>“Reduce Fleet Risk &amp; Liabilities.</a:t>
            </a:r>
            <a:endParaRPr sz="1000" b="0" i="0" u="none" strike="noStrike" cap="none">
              <a:solidFill>
                <a:schemeClr val="dk1"/>
              </a:solidFill>
              <a:latin typeface="Calibri"/>
              <a:ea typeface="Calibri"/>
              <a:cs typeface="Calibri"/>
              <a:sym typeface="Calibri"/>
            </a:endParaRPr>
          </a:p>
        </p:txBody>
      </p:sp>
      <p:sp>
        <p:nvSpPr>
          <p:cNvPr id="556" name="Google Shape;556;p40"/>
          <p:cNvSpPr/>
          <p:nvPr/>
        </p:nvSpPr>
        <p:spPr>
          <a:xfrm>
            <a:off x="5495441" y="2309329"/>
            <a:ext cx="3648559"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00"/>
              <a:buFont typeface="Noto Sans Arabic"/>
              <a:buNone/>
            </a:pPr>
            <a:r>
              <a:rPr lang="en" sz="1000" b="1" i="0" u="none" strike="noStrike" cap="none">
                <a:solidFill>
                  <a:srgbClr val="555555"/>
                </a:solidFill>
                <a:latin typeface="Noto Sans Arabic"/>
                <a:ea typeface="Noto Sans Arabic"/>
                <a:cs typeface="Noto Sans Arabic"/>
                <a:sym typeface="Noto Sans Arabic"/>
              </a:rPr>
              <a:t>Certified B2B Defensive Driving Courses</a:t>
            </a:r>
            <a:endParaRPr sz="1000" b="0" i="0" u="none" strike="noStrike" cap="none">
              <a:solidFill>
                <a:schemeClr val="dk1"/>
              </a:solidFill>
              <a:latin typeface="Calibri"/>
              <a:ea typeface="Calibri"/>
              <a:cs typeface="Calibri"/>
              <a:sym typeface="Calibri"/>
            </a:endParaRPr>
          </a:p>
        </p:txBody>
      </p:sp>
      <p:sp>
        <p:nvSpPr>
          <p:cNvPr id="557" name="Google Shape;557;p40"/>
          <p:cNvSpPr/>
          <p:nvPr/>
        </p:nvSpPr>
        <p:spPr>
          <a:xfrm>
            <a:off x="5495441" y="2515158"/>
            <a:ext cx="3648559"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00"/>
              <a:buFont typeface="Noto Sans Arabic"/>
              <a:buNone/>
            </a:pPr>
            <a:r>
              <a:rPr lang="en" sz="1000" b="1" i="0" u="none" strike="noStrike" cap="none">
                <a:solidFill>
                  <a:srgbClr val="555555"/>
                </a:solidFill>
                <a:latin typeface="Noto Sans Arabic"/>
                <a:ea typeface="Noto Sans Arabic"/>
                <a:cs typeface="Noto Sans Arabic"/>
                <a:sym typeface="Noto Sans Arabic"/>
              </a:rPr>
              <a:t>for Corporate Drivers. Request a Fleet</a:t>
            </a:r>
            <a:endParaRPr sz="1000" b="0" i="0" u="none" strike="noStrike" cap="none">
              <a:solidFill>
                <a:schemeClr val="dk1"/>
              </a:solidFill>
              <a:latin typeface="Calibri"/>
              <a:ea typeface="Calibri"/>
              <a:cs typeface="Calibri"/>
              <a:sym typeface="Calibri"/>
            </a:endParaRPr>
          </a:p>
        </p:txBody>
      </p:sp>
      <p:sp>
        <p:nvSpPr>
          <p:cNvPr id="558" name="Google Shape;558;p40"/>
          <p:cNvSpPr/>
          <p:nvPr/>
        </p:nvSpPr>
        <p:spPr>
          <a:xfrm>
            <a:off x="5495441" y="2715741"/>
            <a:ext cx="2687479"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00"/>
              <a:buFont typeface="Noto Sans Arabic"/>
              <a:buNone/>
            </a:pPr>
            <a:r>
              <a:rPr lang="en" sz="1000" b="1" i="0" u="none" strike="noStrike" cap="none">
                <a:solidFill>
                  <a:srgbClr val="555555"/>
                </a:solidFill>
                <a:latin typeface="Noto Sans Arabic"/>
                <a:ea typeface="Noto Sans Arabic"/>
                <a:cs typeface="Noto Sans Arabic"/>
                <a:sym typeface="Noto Sans Arabic"/>
              </a:rPr>
              <a:t>Proposal Online.”</a:t>
            </a:r>
            <a:endParaRPr sz="1000" b="0" i="0" u="none" strike="noStrike" cap="none">
              <a:solidFill>
                <a:schemeClr val="dk1"/>
              </a:solidFill>
              <a:latin typeface="Calibri"/>
              <a:ea typeface="Calibri"/>
              <a:cs typeface="Calibri"/>
              <a:sym typeface="Calibri"/>
            </a:endParaRPr>
          </a:p>
        </p:txBody>
      </p:sp>
      <p:sp>
        <p:nvSpPr>
          <p:cNvPr id="559" name="Google Shape;559;p40"/>
          <p:cNvSpPr/>
          <p:nvPr/>
        </p:nvSpPr>
        <p:spPr>
          <a:xfrm>
            <a:off x="5303453" y="3250630"/>
            <a:ext cx="3840547"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965E"/>
              </a:buClr>
              <a:buSzPts val="900"/>
              <a:buFont typeface="Noto Sans Arabic"/>
              <a:buNone/>
            </a:pPr>
            <a:r>
              <a:rPr lang="en" sz="900" b="1" i="0" u="none" strike="noStrike" cap="none">
                <a:solidFill>
                  <a:srgbClr val="00965E"/>
                </a:solidFill>
                <a:latin typeface="Noto Sans Arabic"/>
                <a:ea typeface="Noto Sans Arabic"/>
                <a:cs typeface="Noto Sans Arabic"/>
                <a:sym typeface="Noto Sans Arabic"/>
              </a:rPr>
              <a:t>PERFORMANCE MAX AUDIENCE SIGNALS</a:t>
            </a:r>
            <a:endParaRPr sz="900" b="0" i="0" u="none" strike="noStrike" cap="none">
              <a:solidFill>
                <a:schemeClr val="dk1"/>
              </a:solidFill>
              <a:latin typeface="Calibri"/>
              <a:ea typeface="Calibri"/>
              <a:cs typeface="Calibri"/>
              <a:sym typeface="Calibri"/>
            </a:endParaRPr>
          </a:p>
        </p:txBody>
      </p:sp>
      <p:sp>
        <p:nvSpPr>
          <p:cNvPr id="560" name="Google Shape;560;p40"/>
          <p:cNvSpPr/>
          <p:nvPr/>
        </p:nvSpPr>
        <p:spPr>
          <a:xfrm>
            <a:off x="5321759" y="4032424"/>
            <a:ext cx="777218" cy="272579"/>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Logistics Fleet</a:t>
            </a:r>
            <a:endParaRPr sz="800" b="0" i="0" u="none" strike="noStrike" cap="none">
              <a:solidFill>
                <a:schemeClr val="dk1"/>
              </a:solidFill>
              <a:latin typeface="Calibri"/>
              <a:ea typeface="Calibri"/>
              <a:cs typeface="Calibri"/>
              <a:sym typeface="Calibri"/>
            </a:endParaRPr>
          </a:p>
          <a:p>
            <a:pPr marL="0" marR="0" lvl="0" indent="0" algn="ctr" rtl="0">
              <a:lnSpc>
                <a:spcPct val="12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Operators</a:t>
            </a:r>
            <a:endParaRPr sz="800" b="0" i="0" u="none" strike="noStrike" cap="none">
              <a:solidFill>
                <a:schemeClr val="dk1"/>
              </a:solidFill>
              <a:latin typeface="Calibri"/>
              <a:ea typeface="Calibri"/>
              <a:cs typeface="Calibri"/>
              <a:sym typeface="Calibri"/>
            </a:endParaRPr>
          </a:p>
        </p:txBody>
      </p:sp>
      <p:sp>
        <p:nvSpPr>
          <p:cNvPr id="561" name="Google Shape;561;p40"/>
          <p:cNvSpPr/>
          <p:nvPr/>
        </p:nvSpPr>
        <p:spPr>
          <a:xfrm>
            <a:off x="6483065" y="4032424"/>
            <a:ext cx="713147" cy="25717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Supply Chain</a:t>
            </a:r>
            <a:endParaRPr sz="800" b="0" i="0" u="none" strike="noStrike" cap="none">
              <a:solidFill>
                <a:schemeClr val="dk1"/>
              </a:solidFill>
              <a:latin typeface="Calibri"/>
              <a:ea typeface="Calibri"/>
              <a:cs typeface="Calibri"/>
              <a:sym typeface="Calibri"/>
            </a:endParaRPr>
          </a:p>
          <a:p>
            <a:pPr marL="0" marR="0" lvl="0" indent="0" algn="ctr" rtl="0">
              <a:lnSpc>
                <a:spcPct val="12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Directors</a:t>
            </a:r>
            <a:endParaRPr sz="800" b="0" i="0" u="none" strike="noStrike" cap="none">
              <a:solidFill>
                <a:schemeClr val="dk1"/>
              </a:solidFill>
              <a:latin typeface="Calibri"/>
              <a:ea typeface="Calibri"/>
              <a:cs typeface="Calibri"/>
              <a:sym typeface="Calibri"/>
            </a:endParaRPr>
          </a:p>
        </p:txBody>
      </p:sp>
      <p:sp>
        <p:nvSpPr>
          <p:cNvPr id="562" name="Google Shape;562;p40"/>
          <p:cNvSpPr/>
          <p:nvPr/>
        </p:nvSpPr>
        <p:spPr>
          <a:xfrm>
            <a:off x="7479730" y="4032424"/>
            <a:ext cx="1152041" cy="26231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Transport Managers ·</a:t>
            </a:r>
            <a:endParaRPr sz="800" b="0" i="0" u="none" strike="noStrike" cap="none">
              <a:solidFill>
                <a:schemeClr val="dk1"/>
              </a:solidFill>
              <a:latin typeface="Calibri"/>
              <a:ea typeface="Calibri"/>
              <a:cs typeface="Calibri"/>
              <a:sym typeface="Calibri"/>
            </a:endParaRPr>
          </a:p>
          <a:p>
            <a:pPr marL="0" marR="0" lvl="0" indent="0" algn="ctr" rtl="0">
              <a:lnSpc>
                <a:spcPct val="120000"/>
              </a:lnSpc>
              <a:spcBef>
                <a:spcPts val="0"/>
              </a:spcBef>
              <a:spcAft>
                <a:spcPts val="0"/>
              </a:spcAft>
              <a:buClr>
                <a:srgbClr val="112244"/>
              </a:buClr>
              <a:buSzPts val="800"/>
              <a:buFont typeface="Noto Sans Arabic"/>
              <a:buNone/>
            </a:pPr>
            <a:r>
              <a:rPr lang="en" sz="800" b="1" i="0" u="none" strike="noStrike" cap="none">
                <a:solidFill>
                  <a:srgbClr val="112244"/>
                </a:solidFill>
                <a:latin typeface="Noto Sans Arabic"/>
                <a:ea typeface="Noto Sans Arabic"/>
                <a:cs typeface="Noto Sans Arabic"/>
                <a:sym typeface="Noto Sans Arabic"/>
              </a:rPr>
              <a:t>Industrial Cities</a:t>
            </a:r>
            <a:endParaRPr sz="800" b="0" i="0" u="none" strike="noStrike" cap="none">
              <a:solidFill>
                <a:schemeClr val="dk1"/>
              </a:solidFill>
              <a:latin typeface="Calibri"/>
              <a:ea typeface="Calibri"/>
              <a:cs typeface="Calibri"/>
              <a:sym typeface="Calibri"/>
            </a:endParaRPr>
          </a:p>
        </p:txBody>
      </p:sp>
      <p:sp>
        <p:nvSpPr>
          <p:cNvPr id="563" name="Google Shape;563;p40"/>
          <p:cNvSpPr/>
          <p:nvPr/>
        </p:nvSpPr>
        <p:spPr>
          <a:xfrm>
            <a:off x="219447" y="4798814"/>
            <a:ext cx="2754630" cy="14399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900"/>
              <a:buFont typeface="Noto Sans Arabic"/>
              <a:buNone/>
            </a:pPr>
            <a:r>
              <a:rPr lang="en" sz="900" b="1" i="0" u="none" strike="noStrike" cap="none">
                <a:solidFill>
                  <a:srgbClr val="FFFFFF"/>
                </a:solidFill>
                <a:latin typeface="Noto Sans Arabic"/>
                <a:ea typeface="Noto Sans Arabic"/>
                <a:cs typeface="Noto Sans Arabic"/>
                <a:sym typeface="Noto Sans Arabic"/>
              </a:rPr>
              <a:t>PROJECTED B2B LEADS</a:t>
            </a:r>
            <a:endParaRPr sz="900" b="0" i="0" u="none" strike="noStrike" cap="none">
              <a:solidFill>
                <a:schemeClr val="dk1"/>
              </a:solidFill>
              <a:latin typeface="Calibri"/>
              <a:ea typeface="Calibri"/>
              <a:cs typeface="Calibri"/>
              <a:sym typeface="Calibri"/>
            </a:endParaRPr>
          </a:p>
        </p:txBody>
      </p:sp>
      <p:sp>
        <p:nvSpPr>
          <p:cNvPr id="564" name="Google Shape;564;p40"/>
          <p:cNvSpPr/>
          <p:nvPr/>
        </p:nvSpPr>
        <p:spPr>
          <a:xfrm>
            <a:off x="1912449" y="4742334"/>
            <a:ext cx="1588056" cy="24679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FFCC"/>
              </a:buClr>
              <a:buSzPts val="2200"/>
              <a:buFont typeface="Noto Sans Arabic"/>
              <a:buNone/>
            </a:pPr>
            <a:r>
              <a:rPr lang="en" sz="2200" b="1" i="0" u="none" strike="noStrike" cap="none" dirty="0">
                <a:solidFill>
                  <a:srgbClr val="99FFCC"/>
                </a:solidFill>
                <a:latin typeface="Noto Sans Arabic"/>
                <a:ea typeface="Noto Sans Arabic"/>
                <a:cs typeface="Noto Sans Arabic"/>
                <a:sym typeface="Noto Sans Arabic"/>
              </a:rPr>
              <a:t>30+</a:t>
            </a:r>
            <a:endParaRPr sz="2200" b="0" i="0" u="none" strike="noStrike" cap="none" dirty="0">
              <a:solidFill>
                <a:schemeClr val="dk1"/>
              </a:solidFill>
              <a:latin typeface="Calibri"/>
              <a:ea typeface="Calibri"/>
              <a:cs typeface="Calibri"/>
              <a:sym typeface="Calibri"/>
            </a:endParaRPr>
          </a:p>
        </p:txBody>
      </p:sp>
      <p:sp>
        <p:nvSpPr>
          <p:cNvPr id="565" name="Google Shape;565;p40"/>
          <p:cNvSpPr/>
          <p:nvPr/>
        </p:nvSpPr>
        <p:spPr>
          <a:xfrm>
            <a:off x="2871118" y="4798814"/>
            <a:ext cx="6272882" cy="1542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Noto Sans Arabic"/>
              <a:buNone/>
            </a:pPr>
            <a:r>
              <a:rPr lang="en" sz="1000" b="1" i="0" u="none" strike="noStrike" cap="none">
                <a:solidFill>
                  <a:srgbClr val="FFFFFF"/>
                </a:solidFill>
                <a:latin typeface="Noto Sans Arabic"/>
                <a:ea typeface="Noto Sans Arabic"/>
                <a:cs typeface="Noto Sans Arabic"/>
                <a:sym typeface="Noto Sans Arabic"/>
              </a:rPr>
              <a:t>Fleet &amp; Logistics Sector · Saudi Arabia · Industrial Hubs</a:t>
            </a:r>
            <a:endParaRPr sz="1000" b="0" i="0" u="none" strike="noStrike" cap="none">
              <a:solidFill>
                <a:schemeClr val="dk1"/>
              </a:solidFill>
              <a:latin typeface="Calibri"/>
              <a:ea typeface="Calibri"/>
              <a:cs typeface="Calibri"/>
              <a:sym typeface="Calibri"/>
            </a:endParaRPr>
          </a:p>
        </p:txBody>
      </p:sp>
      <p:sp>
        <p:nvSpPr>
          <p:cNvPr id="566" name="Google Shape;566;p40"/>
          <p:cNvSpPr/>
          <p:nvPr/>
        </p:nvSpPr>
        <p:spPr>
          <a:xfrm>
            <a:off x="7711679" y="4803949"/>
            <a:ext cx="1103040" cy="13372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FF99"/>
              </a:buClr>
              <a:buSzPts val="1000"/>
              <a:buFont typeface="Noto Sans Arabic"/>
              <a:buNone/>
            </a:pPr>
            <a:r>
              <a:rPr lang="en" sz="1000" b="1" i="0" u="none" strike="noStrike" cap="none">
                <a:solidFill>
                  <a:srgbClr val="00FF99"/>
                </a:solidFill>
                <a:latin typeface="Noto Sans Arabic"/>
                <a:ea typeface="Noto Sans Arabic"/>
                <a:cs typeface="Noto Sans Arabic"/>
                <a:sym typeface="Noto Sans Arabic"/>
              </a:rPr>
              <a:t>Search + PMax</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pic>
        <p:nvPicPr>
          <p:cNvPr id="572" name="Google Shape;572;p41" descr="preencoded.png"/>
          <p:cNvPicPr preferRelativeResize="0"/>
          <p:nvPr/>
        </p:nvPicPr>
        <p:blipFill rotWithShape="1">
          <a:blip r:embed="rId3">
            <a:alphaModFix/>
          </a:blip>
          <a:srcRect/>
          <a:stretch/>
        </p:blipFill>
        <p:spPr>
          <a:xfrm>
            <a:off x="-2558675" y="12825"/>
            <a:ext cx="530312" cy="2288790"/>
          </a:xfrm>
          <a:prstGeom prst="rect">
            <a:avLst/>
          </a:prstGeom>
          <a:noFill/>
          <a:ln>
            <a:noFill/>
          </a:ln>
        </p:spPr>
      </p:pic>
      <p:pic>
        <p:nvPicPr>
          <p:cNvPr id="573" name="Google Shape;573;p41" descr="preencoded.png"/>
          <p:cNvPicPr preferRelativeResize="0"/>
          <p:nvPr/>
        </p:nvPicPr>
        <p:blipFill rotWithShape="1">
          <a:blip r:embed="rId4">
            <a:alphaModFix/>
          </a:blip>
          <a:srcRect/>
          <a:stretch/>
        </p:blipFill>
        <p:spPr>
          <a:xfrm>
            <a:off x="310864" y="781794"/>
            <a:ext cx="859483" cy="82265"/>
          </a:xfrm>
          <a:prstGeom prst="rect">
            <a:avLst/>
          </a:prstGeom>
          <a:noFill/>
          <a:ln>
            <a:noFill/>
          </a:ln>
        </p:spPr>
      </p:pic>
      <p:pic>
        <p:nvPicPr>
          <p:cNvPr id="574" name="Google Shape;574;p41" descr="preencoded.png"/>
          <p:cNvPicPr preferRelativeResize="0"/>
          <p:nvPr/>
        </p:nvPicPr>
        <p:blipFill rotWithShape="1">
          <a:blip r:embed="rId5">
            <a:alphaModFix/>
          </a:blip>
          <a:srcRect/>
          <a:stretch/>
        </p:blipFill>
        <p:spPr>
          <a:xfrm>
            <a:off x="1169161" y="1121234"/>
            <a:ext cx="1984177" cy="2669419"/>
          </a:xfrm>
          <a:prstGeom prst="rect">
            <a:avLst/>
          </a:prstGeom>
          <a:noFill/>
          <a:ln>
            <a:noFill/>
          </a:ln>
        </p:spPr>
      </p:pic>
      <p:pic>
        <p:nvPicPr>
          <p:cNvPr id="575" name="Google Shape;575;p41" descr="preencoded.png"/>
          <p:cNvPicPr preferRelativeResize="0"/>
          <p:nvPr/>
        </p:nvPicPr>
        <p:blipFill rotWithShape="1">
          <a:blip r:embed="rId6">
            <a:alphaModFix/>
          </a:blip>
          <a:srcRect/>
          <a:stretch/>
        </p:blipFill>
        <p:spPr>
          <a:xfrm>
            <a:off x="1169161" y="1121234"/>
            <a:ext cx="1984177" cy="71995"/>
          </a:xfrm>
          <a:prstGeom prst="rect">
            <a:avLst/>
          </a:prstGeom>
          <a:noFill/>
          <a:ln>
            <a:noFill/>
          </a:ln>
        </p:spPr>
      </p:pic>
      <p:pic>
        <p:nvPicPr>
          <p:cNvPr id="576" name="Google Shape;576;p41" descr="preencoded.png"/>
          <p:cNvPicPr preferRelativeResize="0"/>
          <p:nvPr/>
        </p:nvPicPr>
        <p:blipFill rotWithShape="1">
          <a:blip r:embed="rId7">
            <a:alphaModFix/>
          </a:blip>
          <a:srcRect/>
          <a:stretch/>
        </p:blipFill>
        <p:spPr>
          <a:xfrm>
            <a:off x="1416067" y="2597423"/>
            <a:ext cx="960053" cy="133722"/>
          </a:xfrm>
          <a:prstGeom prst="rect">
            <a:avLst/>
          </a:prstGeom>
          <a:noFill/>
          <a:ln>
            <a:noFill/>
          </a:ln>
        </p:spPr>
      </p:pic>
      <p:pic>
        <p:nvPicPr>
          <p:cNvPr id="577" name="Google Shape;577;p41" descr="preencoded.png"/>
          <p:cNvPicPr preferRelativeResize="0"/>
          <p:nvPr/>
        </p:nvPicPr>
        <p:blipFill rotWithShape="1">
          <a:blip r:embed="rId8">
            <a:alphaModFix/>
          </a:blip>
          <a:srcRect/>
          <a:stretch/>
        </p:blipFill>
        <p:spPr>
          <a:xfrm>
            <a:off x="2376121" y="2597423"/>
            <a:ext cx="530312" cy="133722"/>
          </a:xfrm>
          <a:prstGeom prst="rect">
            <a:avLst/>
          </a:prstGeom>
          <a:noFill/>
          <a:ln>
            <a:noFill/>
          </a:ln>
        </p:spPr>
      </p:pic>
      <p:pic>
        <p:nvPicPr>
          <p:cNvPr id="578" name="Google Shape;578;p41" descr="preencoded.png"/>
          <p:cNvPicPr preferRelativeResize="0"/>
          <p:nvPr/>
        </p:nvPicPr>
        <p:blipFill rotWithShape="1">
          <a:blip r:embed="rId9">
            <a:alphaModFix/>
          </a:blip>
          <a:srcRect/>
          <a:stretch/>
        </p:blipFill>
        <p:spPr>
          <a:xfrm>
            <a:off x="1416067" y="3262461"/>
            <a:ext cx="1490365" cy="7144"/>
          </a:xfrm>
          <a:prstGeom prst="rect">
            <a:avLst/>
          </a:prstGeom>
          <a:noFill/>
          <a:ln>
            <a:noFill/>
          </a:ln>
        </p:spPr>
      </p:pic>
      <p:pic>
        <p:nvPicPr>
          <p:cNvPr id="579" name="Google Shape;579;p41" descr="preencoded.png"/>
          <p:cNvPicPr preferRelativeResize="0"/>
          <p:nvPr/>
        </p:nvPicPr>
        <p:blipFill rotWithShape="1">
          <a:blip r:embed="rId10">
            <a:alphaModFix/>
          </a:blip>
          <a:srcRect/>
          <a:stretch/>
        </p:blipFill>
        <p:spPr>
          <a:xfrm>
            <a:off x="1416067" y="3407569"/>
            <a:ext cx="1490365" cy="251929"/>
          </a:xfrm>
          <a:prstGeom prst="rect">
            <a:avLst/>
          </a:prstGeom>
          <a:noFill/>
          <a:ln>
            <a:noFill/>
          </a:ln>
        </p:spPr>
      </p:pic>
      <p:pic>
        <p:nvPicPr>
          <p:cNvPr id="580" name="Google Shape;580;p41" descr="preencoded.png"/>
          <p:cNvPicPr preferRelativeResize="0"/>
          <p:nvPr/>
        </p:nvPicPr>
        <p:blipFill rotWithShape="1">
          <a:blip r:embed="rId11">
            <a:alphaModFix/>
          </a:blip>
          <a:srcRect/>
          <a:stretch/>
        </p:blipFill>
        <p:spPr>
          <a:xfrm>
            <a:off x="3290521" y="1121234"/>
            <a:ext cx="1984177" cy="2659149"/>
          </a:xfrm>
          <a:prstGeom prst="rect">
            <a:avLst/>
          </a:prstGeom>
          <a:noFill/>
          <a:ln>
            <a:noFill/>
          </a:ln>
        </p:spPr>
      </p:pic>
      <p:pic>
        <p:nvPicPr>
          <p:cNvPr id="581" name="Google Shape;581;p41" descr="preencoded.png"/>
          <p:cNvPicPr preferRelativeResize="0"/>
          <p:nvPr/>
        </p:nvPicPr>
        <p:blipFill rotWithShape="1">
          <a:blip r:embed="rId12">
            <a:alphaModFix/>
          </a:blip>
          <a:srcRect/>
          <a:stretch/>
        </p:blipFill>
        <p:spPr>
          <a:xfrm>
            <a:off x="3290521" y="1121234"/>
            <a:ext cx="1984177" cy="71995"/>
          </a:xfrm>
          <a:prstGeom prst="rect">
            <a:avLst/>
          </a:prstGeom>
          <a:noFill/>
          <a:ln>
            <a:noFill/>
          </a:ln>
        </p:spPr>
      </p:pic>
      <p:pic>
        <p:nvPicPr>
          <p:cNvPr id="582" name="Google Shape;582;p41" descr="preencoded.png"/>
          <p:cNvPicPr preferRelativeResize="0"/>
          <p:nvPr/>
        </p:nvPicPr>
        <p:blipFill rotWithShape="1">
          <a:blip r:embed="rId13">
            <a:alphaModFix/>
          </a:blip>
          <a:srcRect/>
          <a:stretch/>
        </p:blipFill>
        <p:spPr>
          <a:xfrm>
            <a:off x="3446009" y="2597423"/>
            <a:ext cx="960053" cy="133722"/>
          </a:xfrm>
          <a:prstGeom prst="rect">
            <a:avLst/>
          </a:prstGeom>
          <a:noFill/>
          <a:ln>
            <a:noFill/>
          </a:ln>
        </p:spPr>
      </p:pic>
      <p:pic>
        <p:nvPicPr>
          <p:cNvPr id="583" name="Google Shape;583;p41" descr="preencoded.png"/>
          <p:cNvPicPr preferRelativeResize="0"/>
          <p:nvPr/>
        </p:nvPicPr>
        <p:blipFill rotWithShape="1">
          <a:blip r:embed="rId14">
            <a:alphaModFix/>
          </a:blip>
          <a:srcRect/>
          <a:stretch/>
        </p:blipFill>
        <p:spPr>
          <a:xfrm>
            <a:off x="4406062" y="2597423"/>
            <a:ext cx="621730" cy="133722"/>
          </a:xfrm>
          <a:prstGeom prst="rect">
            <a:avLst/>
          </a:prstGeom>
          <a:noFill/>
          <a:ln>
            <a:noFill/>
          </a:ln>
        </p:spPr>
      </p:pic>
      <p:pic>
        <p:nvPicPr>
          <p:cNvPr id="584" name="Google Shape;584;p41" descr="preencoded.png"/>
          <p:cNvPicPr preferRelativeResize="0"/>
          <p:nvPr/>
        </p:nvPicPr>
        <p:blipFill rotWithShape="1">
          <a:blip r:embed="rId15">
            <a:alphaModFix/>
          </a:blip>
          <a:srcRect/>
          <a:stretch/>
        </p:blipFill>
        <p:spPr>
          <a:xfrm>
            <a:off x="3446009" y="3262461"/>
            <a:ext cx="1581894" cy="7144"/>
          </a:xfrm>
          <a:prstGeom prst="rect">
            <a:avLst/>
          </a:prstGeom>
          <a:noFill/>
          <a:ln>
            <a:noFill/>
          </a:ln>
        </p:spPr>
      </p:pic>
      <p:pic>
        <p:nvPicPr>
          <p:cNvPr id="585" name="Google Shape;585;p41" descr="preencoded.png"/>
          <p:cNvPicPr preferRelativeResize="0"/>
          <p:nvPr/>
        </p:nvPicPr>
        <p:blipFill rotWithShape="1">
          <a:blip r:embed="rId16">
            <a:alphaModFix/>
          </a:blip>
          <a:srcRect/>
          <a:stretch/>
        </p:blipFill>
        <p:spPr>
          <a:xfrm>
            <a:off x="3446009" y="3407569"/>
            <a:ext cx="1581894" cy="251929"/>
          </a:xfrm>
          <a:prstGeom prst="rect">
            <a:avLst/>
          </a:prstGeom>
          <a:noFill/>
          <a:ln>
            <a:noFill/>
          </a:ln>
        </p:spPr>
      </p:pic>
      <p:pic>
        <p:nvPicPr>
          <p:cNvPr id="586" name="Google Shape;586;p41" descr="preencoded.png"/>
          <p:cNvPicPr preferRelativeResize="0"/>
          <p:nvPr/>
        </p:nvPicPr>
        <p:blipFill rotWithShape="1">
          <a:blip r:embed="rId17">
            <a:alphaModFix/>
          </a:blip>
          <a:srcRect/>
          <a:stretch/>
        </p:blipFill>
        <p:spPr>
          <a:xfrm>
            <a:off x="5411991" y="1121234"/>
            <a:ext cx="1984177" cy="2669419"/>
          </a:xfrm>
          <a:prstGeom prst="rect">
            <a:avLst/>
          </a:prstGeom>
          <a:noFill/>
          <a:ln>
            <a:noFill/>
          </a:ln>
        </p:spPr>
      </p:pic>
      <p:pic>
        <p:nvPicPr>
          <p:cNvPr id="587" name="Google Shape;587;p41" descr="preencoded.png"/>
          <p:cNvPicPr preferRelativeResize="0"/>
          <p:nvPr/>
        </p:nvPicPr>
        <p:blipFill rotWithShape="1">
          <a:blip r:embed="rId18">
            <a:alphaModFix/>
          </a:blip>
          <a:srcRect/>
          <a:stretch/>
        </p:blipFill>
        <p:spPr>
          <a:xfrm>
            <a:off x="5411991" y="1121234"/>
            <a:ext cx="1984177" cy="71995"/>
          </a:xfrm>
          <a:prstGeom prst="rect">
            <a:avLst/>
          </a:prstGeom>
          <a:noFill/>
          <a:ln>
            <a:noFill/>
          </a:ln>
        </p:spPr>
      </p:pic>
      <p:pic>
        <p:nvPicPr>
          <p:cNvPr id="588" name="Google Shape;588;p41" descr="preencoded.png"/>
          <p:cNvPicPr preferRelativeResize="0"/>
          <p:nvPr/>
        </p:nvPicPr>
        <p:blipFill rotWithShape="1">
          <a:blip r:embed="rId13">
            <a:alphaModFix/>
          </a:blip>
          <a:srcRect/>
          <a:stretch/>
        </p:blipFill>
        <p:spPr>
          <a:xfrm>
            <a:off x="5567368" y="2597423"/>
            <a:ext cx="960053" cy="133722"/>
          </a:xfrm>
          <a:prstGeom prst="rect">
            <a:avLst/>
          </a:prstGeom>
          <a:noFill/>
          <a:ln>
            <a:noFill/>
          </a:ln>
        </p:spPr>
      </p:pic>
      <p:pic>
        <p:nvPicPr>
          <p:cNvPr id="589" name="Google Shape;589;p41" descr="preencoded.png"/>
          <p:cNvPicPr preferRelativeResize="0"/>
          <p:nvPr/>
        </p:nvPicPr>
        <p:blipFill rotWithShape="1">
          <a:blip r:embed="rId19">
            <a:alphaModFix/>
          </a:blip>
          <a:srcRect/>
          <a:stretch/>
        </p:blipFill>
        <p:spPr>
          <a:xfrm>
            <a:off x="6527532" y="2597423"/>
            <a:ext cx="621730" cy="133722"/>
          </a:xfrm>
          <a:prstGeom prst="rect">
            <a:avLst/>
          </a:prstGeom>
          <a:noFill/>
          <a:ln>
            <a:noFill/>
          </a:ln>
        </p:spPr>
      </p:pic>
      <p:pic>
        <p:nvPicPr>
          <p:cNvPr id="590" name="Google Shape;590;p41" descr="preencoded.png"/>
          <p:cNvPicPr preferRelativeResize="0"/>
          <p:nvPr/>
        </p:nvPicPr>
        <p:blipFill rotWithShape="1">
          <a:blip r:embed="rId15">
            <a:alphaModFix/>
          </a:blip>
          <a:srcRect/>
          <a:stretch/>
        </p:blipFill>
        <p:spPr>
          <a:xfrm>
            <a:off x="5567368" y="3262461"/>
            <a:ext cx="1581894" cy="7144"/>
          </a:xfrm>
          <a:prstGeom prst="rect">
            <a:avLst/>
          </a:prstGeom>
          <a:noFill/>
          <a:ln>
            <a:noFill/>
          </a:ln>
        </p:spPr>
      </p:pic>
      <p:pic>
        <p:nvPicPr>
          <p:cNvPr id="591" name="Google Shape;591;p41" descr="preencoded.png"/>
          <p:cNvPicPr preferRelativeResize="0"/>
          <p:nvPr/>
        </p:nvPicPr>
        <p:blipFill rotWithShape="1">
          <a:blip r:embed="rId16">
            <a:alphaModFix/>
          </a:blip>
          <a:srcRect/>
          <a:stretch/>
        </p:blipFill>
        <p:spPr>
          <a:xfrm>
            <a:off x="5567368" y="3407569"/>
            <a:ext cx="1581894" cy="251929"/>
          </a:xfrm>
          <a:prstGeom prst="rect">
            <a:avLst/>
          </a:prstGeom>
          <a:noFill/>
          <a:ln>
            <a:noFill/>
          </a:ln>
        </p:spPr>
      </p:pic>
      <p:pic>
        <p:nvPicPr>
          <p:cNvPr id="592" name="Google Shape;592;p41" descr="preencoded.png"/>
          <p:cNvPicPr preferRelativeResize="0"/>
          <p:nvPr/>
        </p:nvPicPr>
        <p:blipFill rotWithShape="1">
          <a:blip r:embed="rId15">
            <a:alphaModFix/>
          </a:blip>
          <a:srcRect/>
          <a:stretch/>
        </p:blipFill>
        <p:spPr>
          <a:xfrm>
            <a:off x="7688838" y="3262461"/>
            <a:ext cx="1581894" cy="7144"/>
          </a:xfrm>
          <a:prstGeom prst="rect">
            <a:avLst/>
          </a:prstGeom>
          <a:noFill/>
          <a:ln>
            <a:noFill/>
          </a:ln>
        </p:spPr>
      </p:pic>
      <p:pic>
        <p:nvPicPr>
          <p:cNvPr id="593" name="Google Shape;593;p41" descr="preencoded.png"/>
          <p:cNvPicPr preferRelativeResize="0"/>
          <p:nvPr/>
        </p:nvPicPr>
        <p:blipFill rotWithShape="1">
          <a:blip r:embed="rId20">
            <a:alphaModFix/>
          </a:blip>
          <a:srcRect/>
          <a:stretch/>
        </p:blipFill>
        <p:spPr>
          <a:xfrm>
            <a:off x="292559" y="4196507"/>
            <a:ext cx="8586118" cy="787933"/>
          </a:xfrm>
          <a:prstGeom prst="rect">
            <a:avLst/>
          </a:prstGeom>
          <a:noFill/>
          <a:ln>
            <a:noFill/>
          </a:ln>
        </p:spPr>
      </p:pic>
      <p:pic>
        <p:nvPicPr>
          <p:cNvPr id="594" name="Google Shape;594;p41" descr="preencoded.png"/>
          <p:cNvPicPr preferRelativeResize="0"/>
          <p:nvPr/>
        </p:nvPicPr>
        <p:blipFill rotWithShape="1">
          <a:blip r:embed="rId21">
            <a:alphaModFix/>
          </a:blip>
          <a:srcRect/>
          <a:stretch/>
        </p:blipFill>
        <p:spPr>
          <a:xfrm>
            <a:off x="3220603" y="4289599"/>
            <a:ext cx="14288" cy="524619"/>
          </a:xfrm>
          <a:prstGeom prst="rect">
            <a:avLst/>
          </a:prstGeom>
          <a:noFill/>
          <a:ln>
            <a:noFill/>
          </a:ln>
        </p:spPr>
      </p:pic>
      <p:pic>
        <p:nvPicPr>
          <p:cNvPr id="595" name="Google Shape;595;p41" descr="preencoded.png"/>
          <p:cNvPicPr preferRelativeResize="0"/>
          <p:nvPr/>
        </p:nvPicPr>
        <p:blipFill rotWithShape="1">
          <a:blip r:embed="rId22">
            <a:alphaModFix/>
          </a:blip>
          <a:srcRect/>
          <a:stretch/>
        </p:blipFill>
        <p:spPr>
          <a:xfrm>
            <a:off x="5945498" y="4289599"/>
            <a:ext cx="14288" cy="524619"/>
          </a:xfrm>
          <a:prstGeom prst="rect">
            <a:avLst/>
          </a:prstGeom>
          <a:noFill/>
          <a:ln>
            <a:noFill/>
          </a:ln>
        </p:spPr>
      </p:pic>
      <p:pic>
        <p:nvPicPr>
          <p:cNvPr id="596" name="Google Shape;596;p41" descr="preencoded.png"/>
          <p:cNvPicPr preferRelativeResize="0"/>
          <p:nvPr/>
        </p:nvPicPr>
        <p:blipFill rotWithShape="1">
          <a:blip r:embed="rId23">
            <a:alphaModFix/>
          </a:blip>
          <a:srcRect/>
          <a:stretch/>
        </p:blipFill>
        <p:spPr>
          <a:xfrm>
            <a:off x="4568603" y="3878163"/>
            <a:ext cx="191988" cy="179933"/>
          </a:xfrm>
          <a:prstGeom prst="rect">
            <a:avLst/>
          </a:prstGeom>
          <a:noFill/>
          <a:ln>
            <a:noFill/>
          </a:ln>
        </p:spPr>
      </p:pic>
      <p:pic>
        <p:nvPicPr>
          <p:cNvPr id="597" name="Google Shape;597;p41" descr="preencoded.png"/>
          <p:cNvPicPr preferRelativeResize="0"/>
          <p:nvPr/>
        </p:nvPicPr>
        <p:blipFill rotWithShape="1">
          <a:blip r:embed="rId24">
            <a:alphaModFix/>
          </a:blip>
          <a:srcRect/>
          <a:stretch/>
        </p:blipFill>
        <p:spPr>
          <a:xfrm>
            <a:off x="2947478" y="3878163"/>
            <a:ext cx="228600" cy="179933"/>
          </a:xfrm>
          <a:prstGeom prst="rect">
            <a:avLst/>
          </a:prstGeom>
          <a:noFill/>
          <a:ln>
            <a:noFill/>
          </a:ln>
        </p:spPr>
      </p:pic>
      <p:sp>
        <p:nvSpPr>
          <p:cNvPr id="601" name="Google Shape;601;p41"/>
          <p:cNvSpPr/>
          <p:nvPr/>
        </p:nvSpPr>
        <p:spPr>
          <a:xfrm>
            <a:off x="301712" y="200583"/>
            <a:ext cx="2663100" cy="12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900"/>
              <a:buFont typeface="Noto Sans Arabic"/>
              <a:buNone/>
            </a:pPr>
            <a:r>
              <a:rPr lang="en" sz="900" b="1" i="0" u="none" strike="noStrike" cap="none">
                <a:solidFill>
                  <a:srgbClr val="27A770"/>
                </a:solidFill>
                <a:latin typeface="Noto Sans Arabic"/>
                <a:ea typeface="Noto Sans Arabic"/>
                <a:cs typeface="Noto Sans Arabic"/>
                <a:sym typeface="Noto Sans Arabic"/>
              </a:rPr>
              <a:t>INVESTMENT OVERVIEW</a:t>
            </a:r>
            <a:endParaRPr sz="900" b="0" i="0" u="none" strike="noStrike" cap="none">
              <a:solidFill>
                <a:schemeClr val="dk1"/>
              </a:solidFill>
              <a:latin typeface="Calibri"/>
              <a:ea typeface="Calibri"/>
              <a:cs typeface="Calibri"/>
              <a:sym typeface="Calibri"/>
            </a:endParaRPr>
          </a:p>
        </p:txBody>
      </p:sp>
      <p:sp>
        <p:nvSpPr>
          <p:cNvPr id="602" name="Google Shape;602;p41"/>
          <p:cNvSpPr/>
          <p:nvPr/>
        </p:nvSpPr>
        <p:spPr>
          <a:xfrm>
            <a:off x="301711" y="380516"/>
            <a:ext cx="8842200" cy="31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900"/>
              <a:buFont typeface="Noto Sans Arabic"/>
              <a:buNone/>
            </a:pPr>
            <a:r>
              <a:rPr lang="en" sz="1900" b="1" i="0" u="none" strike="noStrike" cap="none">
                <a:solidFill>
                  <a:srgbClr val="0D1B3E"/>
                </a:solidFill>
                <a:latin typeface="Noto Sans Arabic"/>
                <a:ea typeface="Noto Sans Arabic"/>
                <a:cs typeface="Noto Sans Arabic"/>
                <a:sym typeface="Noto Sans Arabic"/>
              </a:rPr>
              <a:t>Budget Allocation &amp; Lead Projection</a:t>
            </a:r>
            <a:endParaRPr sz="1900" b="0" i="0" u="none" strike="noStrike" cap="none">
              <a:solidFill>
                <a:schemeClr val="dk1"/>
              </a:solidFill>
              <a:latin typeface="Calibri"/>
              <a:ea typeface="Calibri"/>
              <a:cs typeface="Calibri"/>
              <a:sym typeface="Calibri"/>
            </a:endParaRPr>
          </a:p>
        </p:txBody>
      </p:sp>
      <p:sp>
        <p:nvSpPr>
          <p:cNvPr id="603" name="Google Shape;603;p41"/>
          <p:cNvSpPr/>
          <p:nvPr/>
        </p:nvSpPr>
        <p:spPr>
          <a:xfrm>
            <a:off x="5539402" y="236525"/>
            <a:ext cx="1703100" cy="14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900"/>
              <a:buFont typeface="Noto Sans Arabic"/>
              <a:buNone/>
            </a:pPr>
            <a:r>
              <a:rPr lang="en" sz="900" b="1" i="0" u="none" strike="noStrike" cap="none">
                <a:solidFill>
                  <a:srgbClr val="27A770"/>
                </a:solidFill>
                <a:latin typeface="Noto Sans Arabic"/>
                <a:ea typeface="Noto Sans Arabic"/>
                <a:cs typeface="Noto Sans Arabic"/>
                <a:sym typeface="Noto Sans Arabic"/>
              </a:rPr>
              <a:t>Total Budget</a:t>
            </a:r>
            <a:endParaRPr sz="900" b="0" i="0" u="none" strike="noStrike" cap="none">
              <a:solidFill>
                <a:schemeClr val="dk1"/>
              </a:solidFill>
              <a:latin typeface="Calibri"/>
              <a:ea typeface="Calibri"/>
              <a:cs typeface="Calibri"/>
              <a:sym typeface="Calibri"/>
            </a:endParaRPr>
          </a:p>
        </p:txBody>
      </p:sp>
      <p:sp>
        <p:nvSpPr>
          <p:cNvPr id="604" name="Google Shape;604;p41"/>
          <p:cNvSpPr/>
          <p:nvPr/>
        </p:nvSpPr>
        <p:spPr>
          <a:xfrm>
            <a:off x="5210232" y="503969"/>
            <a:ext cx="3209700" cy="267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900"/>
              <a:buFont typeface="Noto Sans Arabic"/>
              <a:buNone/>
            </a:pPr>
            <a:r>
              <a:rPr lang="en" sz="1900" b="1" i="0" u="none" strike="noStrike" cap="none" dirty="0">
                <a:solidFill>
                  <a:srgbClr val="0D1B3E"/>
                </a:solidFill>
                <a:latin typeface="Noto Sans Arabic"/>
                <a:ea typeface="Noto Sans Arabic"/>
                <a:cs typeface="Noto Sans Arabic"/>
                <a:sym typeface="Noto Sans Arabic"/>
              </a:rPr>
              <a:t>SAR </a:t>
            </a:r>
            <a:r>
              <a:rPr lang="en" sz="1900" b="1" dirty="0">
                <a:solidFill>
                  <a:srgbClr val="0D1B3E"/>
                </a:solidFill>
                <a:latin typeface="Noto Sans Arabic"/>
                <a:ea typeface="Noto Sans Arabic"/>
                <a:cs typeface="Noto Sans Arabic"/>
                <a:sym typeface="Noto Sans Arabic"/>
              </a:rPr>
              <a:t>24</a:t>
            </a:r>
            <a:r>
              <a:rPr lang="en" sz="1900" b="1" i="0" u="none" strike="noStrike" cap="none" dirty="0">
                <a:solidFill>
                  <a:srgbClr val="0D1B3E"/>
                </a:solidFill>
                <a:latin typeface="Noto Sans Arabic"/>
                <a:ea typeface="Noto Sans Arabic"/>
                <a:cs typeface="Noto Sans Arabic"/>
                <a:sym typeface="Noto Sans Arabic"/>
              </a:rPr>
              <a:t>,000 </a:t>
            </a:r>
            <a:r>
              <a:rPr lang="en" sz="1000" b="1" i="0" u="none" strike="noStrike" cap="none" dirty="0">
                <a:solidFill>
                  <a:srgbClr val="0D1B3E"/>
                </a:solidFill>
                <a:latin typeface="Noto Sans Arabic"/>
                <a:ea typeface="Noto Sans Arabic"/>
                <a:cs typeface="Noto Sans Arabic"/>
                <a:sym typeface="Noto Sans Arabic"/>
              </a:rPr>
              <a:t>(30</a:t>
            </a:r>
            <a:r>
              <a:rPr lang="en" sz="1000" b="1" dirty="0">
                <a:solidFill>
                  <a:srgbClr val="0D1B3E"/>
                </a:solidFill>
                <a:latin typeface="Noto Sans Arabic"/>
                <a:ea typeface="Noto Sans Arabic"/>
                <a:cs typeface="Noto Sans Arabic"/>
                <a:sym typeface="Noto Sans Arabic"/>
              </a:rPr>
              <a:t> Days</a:t>
            </a:r>
            <a:r>
              <a:rPr lang="en" sz="1000" b="1" i="0" u="none" strike="noStrike" cap="none" dirty="0">
                <a:solidFill>
                  <a:srgbClr val="0D1B3E"/>
                </a:solidFill>
                <a:latin typeface="Noto Sans Arabic"/>
                <a:ea typeface="Noto Sans Arabic"/>
                <a:cs typeface="Noto Sans Arabic"/>
                <a:sym typeface="Noto Sans Arabic"/>
              </a:rPr>
              <a:t>)</a:t>
            </a:r>
            <a:endParaRPr sz="1000" b="0" i="0" u="none" strike="noStrike" cap="none" dirty="0">
              <a:solidFill>
                <a:schemeClr val="dk1"/>
              </a:solidFill>
              <a:latin typeface="Calibri"/>
              <a:ea typeface="Calibri"/>
              <a:cs typeface="Calibri"/>
              <a:sym typeface="Calibri"/>
            </a:endParaRPr>
          </a:p>
        </p:txBody>
      </p:sp>
      <p:sp>
        <p:nvSpPr>
          <p:cNvPr id="605" name="Google Shape;605;p41"/>
          <p:cNvSpPr/>
          <p:nvPr/>
        </p:nvSpPr>
        <p:spPr>
          <a:xfrm>
            <a:off x="7927777" y="241660"/>
            <a:ext cx="1216223"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Projected B2B</a:t>
            </a:r>
            <a:endParaRPr sz="800" b="0" i="0" u="none" strike="noStrike" cap="none">
              <a:solidFill>
                <a:schemeClr val="dk1"/>
              </a:solidFill>
              <a:latin typeface="Calibri"/>
              <a:ea typeface="Calibri"/>
              <a:cs typeface="Calibri"/>
              <a:sym typeface="Calibri"/>
            </a:endParaRPr>
          </a:p>
        </p:txBody>
      </p:sp>
      <p:sp>
        <p:nvSpPr>
          <p:cNvPr id="606" name="Google Shape;606;p41"/>
          <p:cNvSpPr/>
          <p:nvPr/>
        </p:nvSpPr>
        <p:spPr>
          <a:xfrm>
            <a:off x="7547723" y="359692"/>
            <a:ext cx="1426500" cy="47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A770"/>
              </a:buClr>
              <a:buSzPts val="1600"/>
              <a:buFont typeface="Noto Sans Arabic"/>
              <a:buNone/>
            </a:pPr>
            <a:r>
              <a:rPr lang="en" sz="1600" b="1" dirty="0">
                <a:solidFill>
                  <a:srgbClr val="27A770"/>
                </a:solidFill>
                <a:latin typeface="Noto Sans Arabic"/>
                <a:ea typeface="Noto Sans Arabic"/>
                <a:cs typeface="Noto Sans Arabic"/>
                <a:sym typeface="Noto Sans Arabic"/>
              </a:rPr>
              <a:t>120</a:t>
            </a:r>
            <a:r>
              <a:rPr lang="en" sz="1600" b="1" i="0" u="none" strike="noStrike" cap="none" dirty="0">
                <a:solidFill>
                  <a:srgbClr val="27A770"/>
                </a:solidFill>
                <a:latin typeface="Noto Sans Arabic"/>
                <a:ea typeface="Noto Sans Arabic"/>
                <a:cs typeface="Noto Sans Arabic"/>
                <a:sym typeface="Noto Sans Arabic"/>
              </a:rPr>
              <a:t>+ Leads</a:t>
            </a:r>
            <a:br>
              <a:rPr lang="en" sz="1600" b="1" i="0" u="none" strike="noStrike" cap="none" dirty="0">
                <a:solidFill>
                  <a:srgbClr val="27A770"/>
                </a:solidFill>
                <a:latin typeface="Noto Sans Arabic"/>
                <a:ea typeface="Noto Sans Arabic"/>
                <a:cs typeface="Noto Sans Arabic"/>
                <a:sym typeface="Noto Sans Arabic"/>
              </a:rPr>
            </a:br>
            <a:r>
              <a:rPr lang="en" sz="800" b="1" i="0" u="none" strike="noStrike" cap="none" dirty="0">
                <a:solidFill>
                  <a:schemeClr val="dk1"/>
                </a:solidFill>
                <a:latin typeface="Noto Sans Arabic"/>
                <a:ea typeface="Noto Sans Arabic"/>
                <a:cs typeface="Noto Sans Arabic"/>
                <a:sym typeface="Noto Sans Arabic"/>
              </a:rPr>
              <a:t>TBD</a:t>
            </a:r>
            <a:endParaRPr sz="800" b="0" i="0" u="none" strike="noStrike" cap="none" dirty="0">
              <a:solidFill>
                <a:schemeClr val="dk1"/>
              </a:solidFill>
              <a:latin typeface="Calibri"/>
              <a:ea typeface="Calibri"/>
              <a:cs typeface="Calibri"/>
              <a:sym typeface="Calibri"/>
            </a:endParaRPr>
          </a:p>
        </p:txBody>
      </p:sp>
      <p:sp>
        <p:nvSpPr>
          <p:cNvPr id="607" name="Google Shape;607;p41"/>
          <p:cNvSpPr/>
          <p:nvPr/>
        </p:nvSpPr>
        <p:spPr>
          <a:xfrm>
            <a:off x="1516638" y="1789844"/>
            <a:ext cx="3150300" cy="17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000"/>
              <a:buFont typeface="Noto Sans Arabic"/>
              <a:buNone/>
            </a:pPr>
            <a:r>
              <a:rPr lang="en" sz="1000" b="1" i="0" u="none" strike="noStrike" cap="none" dirty="0">
                <a:solidFill>
                  <a:srgbClr val="0D1B3E"/>
                </a:solidFill>
                <a:latin typeface="Noto Sans Arabic"/>
                <a:ea typeface="Noto Sans Arabic"/>
                <a:cs typeface="Noto Sans Arabic"/>
                <a:sym typeface="Noto Sans Arabic"/>
              </a:rPr>
              <a:t>PASMA			</a:t>
            </a:r>
            <a:endParaRPr sz="1000" b="0" i="0" u="none" strike="noStrike" cap="none" dirty="0">
              <a:solidFill>
                <a:schemeClr val="dk1"/>
              </a:solidFill>
              <a:latin typeface="Calibri"/>
              <a:ea typeface="Calibri"/>
              <a:cs typeface="Calibri"/>
              <a:sym typeface="Calibri"/>
            </a:endParaRPr>
          </a:p>
        </p:txBody>
      </p:sp>
      <p:sp>
        <p:nvSpPr>
          <p:cNvPr id="608" name="Google Shape;608;p41"/>
          <p:cNvSpPr/>
          <p:nvPr/>
        </p:nvSpPr>
        <p:spPr>
          <a:xfrm>
            <a:off x="1443415" y="2155069"/>
            <a:ext cx="1257300" cy="12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609" name="Google Shape;609;p41"/>
          <p:cNvSpPr/>
          <p:nvPr/>
        </p:nvSpPr>
        <p:spPr>
          <a:xfrm>
            <a:off x="2403580" y="2160203"/>
            <a:ext cx="14574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6000</a:t>
            </a:r>
            <a:endParaRPr sz="800" b="0" i="0" u="none" strike="noStrike" cap="none" dirty="0">
              <a:solidFill>
                <a:schemeClr val="dk1"/>
              </a:solidFill>
              <a:latin typeface="Calibri"/>
              <a:ea typeface="Calibri"/>
              <a:cs typeface="Calibri"/>
              <a:sym typeface="Calibri"/>
            </a:endParaRPr>
          </a:p>
        </p:txBody>
      </p:sp>
      <p:sp>
        <p:nvSpPr>
          <p:cNvPr id="610" name="Google Shape;610;p41"/>
          <p:cNvSpPr/>
          <p:nvPr/>
        </p:nvSpPr>
        <p:spPr>
          <a:xfrm>
            <a:off x="1452568" y="2335113"/>
            <a:ext cx="1137300" cy="10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Perf. Max</a:t>
            </a:r>
            <a:endParaRPr sz="800" b="0" i="0" u="none" strike="noStrike" cap="none">
              <a:solidFill>
                <a:schemeClr val="dk1"/>
              </a:solidFill>
              <a:latin typeface="Calibri"/>
              <a:ea typeface="Calibri"/>
              <a:cs typeface="Calibri"/>
              <a:sym typeface="Calibri"/>
            </a:endParaRPr>
          </a:p>
        </p:txBody>
      </p:sp>
      <p:sp>
        <p:nvSpPr>
          <p:cNvPr id="611" name="Google Shape;611;p41"/>
          <p:cNvSpPr/>
          <p:nvPr/>
        </p:nvSpPr>
        <p:spPr>
          <a:xfrm>
            <a:off x="2403580" y="2335113"/>
            <a:ext cx="1457400" cy="10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2000</a:t>
            </a:r>
            <a:endParaRPr sz="800" b="0" i="0" u="none" strike="noStrike" cap="none" dirty="0">
              <a:solidFill>
                <a:schemeClr val="dk1"/>
              </a:solidFill>
              <a:latin typeface="Calibri"/>
              <a:ea typeface="Calibri"/>
              <a:cs typeface="Calibri"/>
              <a:sym typeface="Calibri"/>
            </a:endParaRPr>
          </a:p>
        </p:txBody>
      </p:sp>
      <p:sp>
        <p:nvSpPr>
          <p:cNvPr id="612" name="Google Shape;612;p41"/>
          <p:cNvSpPr/>
          <p:nvPr/>
        </p:nvSpPr>
        <p:spPr>
          <a:xfrm>
            <a:off x="1790891" y="2844328"/>
            <a:ext cx="2071800" cy="16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100"/>
              <a:buFont typeface="Noto Sans Arabic"/>
              <a:buNone/>
            </a:pPr>
            <a:r>
              <a:rPr lang="en" sz="1100" b="1" i="0" u="none" strike="noStrike" cap="none" dirty="0">
                <a:solidFill>
                  <a:srgbClr val="0D1B3E"/>
                </a:solidFill>
                <a:latin typeface="Noto Sans Arabic"/>
                <a:ea typeface="Noto Sans Arabic"/>
                <a:cs typeface="Noto Sans Arabic"/>
                <a:sym typeface="Noto Sans Arabic"/>
              </a:rPr>
              <a:t>SAR </a:t>
            </a:r>
            <a:r>
              <a:rPr lang="en" sz="1100" b="1" dirty="0">
                <a:solidFill>
                  <a:srgbClr val="0D1B3E"/>
                </a:solidFill>
                <a:latin typeface="Noto Sans Arabic"/>
                <a:ea typeface="Noto Sans Arabic"/>
                <a:cs typeface="Noto Sans Arabic"/>
                <a:sym typeface="Noto Sans Arabic"/>
              </a:rPr>
              <a:t>8</a:t>
            </a:r>
            <a:r>
              <a:rPr lang="en" sz="1100" b="1" i="0" u="none" strike="noStrike" cap="none" dirty="0">
                <a:solidFill>
                  <a:srgbClr val="0D1B3E"/>
                </a:solidFill>
                <a:latin typeface="Noto Sans Arabic"/>
                <a:ea typeface="Noto Sans Arabic"/>
                <a:cs typeface="Noto Sans Arabic"/>
                <a:sym typeface="Noto Sans Arabic"/>
              </a:rPr>
              <a:t>,000</a:t>
            </a:r>
            <a:endParaRPr sz="1100" b="0" i="0" u="none" strike="noStrike" cap="none" dirty="0">
              <a:solidFill>
                <a:schemeClr val="dk1"/>
              </a:solidFill>
              <a:latin typeface="Calibri"/>
              <a:ea typeface="Calibri"/>
              <a:cs typeface="Calibri"/>
              <a:sym typeface="Calibri"/>
            </a:endParaRPr>
          </a:p>
        </p:txBody>
      </p:sp>
      <p:sp>
        <p:nvSpPr>
          <p:cNvPr id="613" name="Google Shape;613;p41"/>
          <p:cNvSpPr/>
          <p:nvPr/>
        </p:nvSpPr>
        <p:spPr>
          <a:xfrm>
            <a:off x="1726932" y="3204307"/>
            <a:ext cx="1743000" cy="97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600"/>
              <a:buFont typeface="Noto Sans Arabic"/>
              <a:buNone/>
            </a:pPr>
            <a:r>
              <a:rPr lang="en" sz="600" b="1" i="0" u="none" strike="noStrike" cap="none">
                <a:solidFill>
                  <a:srgbClr val="777777"/>
                </a:solidFill>
                <a:latin typeface="Noto Sans Arabic"/>
                <a:ea typeface="Noto Sans Arabic"/>
                <a:cs typeface="Noto Sans Arabic"/>
                <a:sym typeface="Noto Sans Arabic"/>
              </a:rPr>
              <a:t>PROJECTED B2B LEADS</a:t>
            </a:r>
            <a:endParaRPr sz="600" b="0" i="0" u="none" strike="noStrike" cap="none">
              <a:solidFill>
                <a:schemeClr val="dk1"/>
              </a:solidFill>
              <a:latin typeface="Calibri"/>
              <a:ea typeface="Calibri"/>
              <a:cs typeface="Calibri"/>
              <a:sym typeface="Calibri"/>
            </a:endParaRPr>
          </a:p>
        </p:txBody>
      </p:sp>
      <p:sp>
        <p:nvSpPr>
          <p:cNvPr id="614" name="Google Shape;614;p41"/>
          <p:cNvSpPr/>
          <p:nvPr/>
        </p:nvSpPr>
        <p:spPr>
          <a:xfrm>
            <a:off x="1818350" y="3456347"/>
            <a:ext cx="1843200" cy="15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1100"/>
              <a:buFont typeface="Noto Sans Arabic"/>
              <a:buNone/>
            </a:pPr>
            <a:r>
              <a:rPr lang="en" sz="1100" b="1" dirty="0">
                <a:solidFill>
                  <a:srgbClr val="27A770"/>
                </a:solidFill>
                <a:latin typeface="Noto Sans Arabic"/>
                <a:ea typeface="Noto Sans Arabic"/>
                <a:cs typeface="Noto Sans Arabic"/>
                <a:sym typeface="Noto Sans Arabic"/>
              </a:rPr>
              <a:t>30</a:t>
            </a:r>
            <a:r>
              <a:rPr lang="en" sz="1100" b="1" i="0" u="none" strike="noStrike" cap="none" dirty="0">
                <a:solidFill>
                  <a:srgbClr val="27A770"/>
                </a:solidFill>
                <a:latin typeface="Noto Sans Arabic"/>
                <a:ea typeface="Noto Sans Arabic"/>
                <a:cs typeface="Noto Sans Arabic"/>
                <a:sym typeface="Noto Sans Arabic"/>
              </a:rPr>
              <a:t>+ Leads</a:t>
            </a:r>
            <a:endParaRPr sz="1100" b="0" i="0" u="none" strike="noStrike" cap="none" dirty="0">
              <a:solidFill>
                <a:schemeClr val="dk1"/>
              </a:solidFill>
              <a:latin typeface="Calibri"/>
              <a:ea typeface="Calibri"/>
              <a:cs typeface="Calibri"/>
              <a:sym typeface="Calibri"/>
            </a:endParaRPr>
          </a:p>
        </p:txBody>
      </p:sp>
      <p:sp>
        <p:nvSpPr>
          <p:cNvPr id="615" name="Google Shape;615;p41"/>
          <p:cNvSpPr/>
          <p:nvPr/>
        </p:nvSpPr>
        <p:spPr>
          <a:xfrm>
            <a:off x="3628844" y="1789844"/>
            <a:ext cx="2841900" cy="17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000"/>
              <a:buFont typeface="Noto Sans Arabic"/>
              <a:buNone/>
            </a:pPr>
            <a:r>
              <a:rPr lang="en" sz="1000" b="1" i="0" u="none" strike="noStrike" cap="none" dirty="0">
                <a:solidFill>
                  <a:srgbClr val="0D1B3E"/>
                </a:solidFill>
                <a:latin typeface="Noto Sans Arabic"/>
                <a:ea typeface="Noto Sans Arabic"/>
                <a:cs typeface="Noto Sans Arabic"/>
                <a:sym typeface="Noto Sans Arabic"/>
              </a:rPr>
              <a:t>IPAF</a:t>
            </a:r>
            <a:endParaRPr sz="1000" b="0" i="0" u="none" strike="noStrike" cap="none" dirty="0">
              <a:solidFill>
                <a:schemeClr val="dk1"/>
              </a:solidFill>
              <a:latin typeface="Calibri"/>
              <a:ea typeface="Calibri"/>
              <a:cs typeface="Calibri"/>
              <a:sym typeface="Calibri"/>
            </a:endParaRPr>
          </a:p>
        </p:txBody>
      </p:sp>
      <p:sp>
        <p:nvSpPr>
          <p:cNvPr id="616" name="Google Shape;616;p41"/>
          <p:cNvSpPr/>
          <p:nvPr/>
        </p:nvSpPr>
        <p:spPr>
          <a:xfrm>
            <a:off x="3473468" y="2160203"/>
            <a:ext cx="1257300" cy="118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617" name="Google Shape;617;p41"/>
          <p:cNvSpPr/>
          <p:nvPr/>
        </p:nvSpPr>
        <p:spPr>
          <a:xfrm>
            <a:off x="3473468" y="2329979"/>
            <a:ext cx="1137300" cy="10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Perf. Max</a:t>
            </a:r>
            <a:endParaRPr sz="800" b="0" i="0" u="none" strike="noStrike" cap="none">
              <a:solidFill>
                <a:schemeClr val="dk1"/>
              </a:solidFill>
              <a:latin typeface="Calibri"/>
              <a:ea typeface="Calibri"/>
              <a:cs typeface="Calibri"/>
              <a:sym typeface="Calibri"/>
            </a:endParaRPr>
          </a:p>
        </p:txBody>
      </p:sp>
      <p:sp>
        <p:nvSpPr>
          <p:cNvPr id="618" name="Google Shape;618;p41"/>
          <p:cNvSpPr/>
          <p:nvPr/>
        </p:nvSpPr>
        <p:spPr>
          <a:xfrm>
            <a:off x="4424368" y="2160203"/>
            <a:ext cx="1457400" cy="118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6000</a:t>
            </a:r>
            <a:endParaRPr sz="800" b="0" i="0" u="none" strike="noStrike" cap="none" dirty="0">
              <a:solidFill>
                <a:schemeClr val="dk1"/>
              </a:solidFill>
              <a:latin typeface="Calibri"/>
              <a:ea typeface="Calibri"/>
              <a:cs typeface="Calibri"/>
              <a:sym typeface="Calibri"/>
            </a:endParaRPr>
          </a:p>
        </p:txBody>
      </p:sp>
      <p:sp>
        <p:nvSpPr>
          <p:cNvPr id="619" name="Google Shape;619;p41"/>
          <p:cNvSpPr/>
          <p:nvPr/>
        </p:nvSpPr>
        <p:spPr>
          <a:xfrm>
            <a:off x="4424368" y="2329979"/>
            <a:ext cx="14574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2000</a:t>
            </a:r>
            <a:endParaRPr sz="800" b="0" i="0" u="none" strike="noStrike" cap="none" dirty="0">
              <a:solidFill>
                <a:schemeClr val="dk1"/>
              </a:solidFill>
              <a:latin typeface="Calibri"/>
              <a:ea typeface="Calibri"/>
              <a:cs typeface="Calibri"/>
              <a:sym typeface="Calibri"/>
            </a:endParaRPr>
          </a:p>
        </p:txBody>
      </p:sp>
      <p:sp>
        <p:nvSpPr>
          <p:cNvPr id="620" name="Google Shape;620;p41"/>
          <p:cNvSpPr/>
          <p:nvPr/>
        </p:nvSpPr>
        <p:spPr>
          <a:xfrm>
            <a:off x="3811791" y="2844328"/>
            <a:ext cx="2071800" cy="17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100"/>
              <a:buFont typeface="Noto Sans Arabic"/>
              <a:buNone/>
            </a:pPr>
            <a:r>
              <a:rPr lang="en" sz="1100" b="1" i="0" u="none" strike="noStrike" cap="none" dirty="0">
                <a:solidFill>
                  <a:srgbClr val="0D1B3E"/>
                </a:solidFill>
                <a:latin typeface="Noto Sans Arabic"/>
                <a:ea typeface="Noto Sans Arabic"/>
                <a:cs typeface="Noto Sans Arabic"/>
                <a:sym typeface="Noto Sans Arabic"/>
              </a:rPr>
              <a:t>SAR </a:t>
            </a:r>
            <a:r>
              <a:rPr lang="en" sz="1100" b="1" dirty="0">
                <a:solidFill>
                  <a:srgbClr val="0D1B3E"/>
                </a:solidFill>
                <a:latin typeface="Noto Sans Arabic"/>
                <a:ea typeface="Noto Sans Arabic"/>
                <a:cs typeface="Noto Sans Arabic"/>
                <a:sym typeface="Noto Sans Arabic"/>
              </a:rPr>
              <a:t>8</a:t>
            </a:r>
            <a:r>
              <a:rPr lang="en" sz="1100" b="1" i="0" u="none" strike="noStrike" cap="none" dirty="0">
                <a:solidFill>
                  <a:srgbClr val="0D1B3E"/>
                </a:solidFill>
                <a:latin typeface="Noto Sans Arabic"/>
                <a:ea typeface="Noto Sans Arabic"/>
                <a:cs typeface="Noto Sans Arabic"/>
                <a:sym typeface="Noto Sans Arabic"/>
              </a:rPr>
              <a:t>,000</a:t>
            </a:r>
            <a:endParaRPr sz="1100" b="0" i="0" u="none" strike="noStrike" cap="none" dirty="0">
              <a:solidFill>
                <a:schemeClr val="dk1"/>
              </a:solidFill>
              <a:latin typeface="Calibri"/>
              <a:ea typeface="Calibri"/>
              <a:cs typeface="Calibri"/>
              <a:sym typeface="Calibri"/>
            </a:endParaRPr>
          </a:p>
        </p:txBody>
      </p:sp>
      <p:sp>
        <p:nvSpPr>
          <p:cNvPr id="621" name="Google Shape;621;p41"/>
          <p:cNvSpPr/>
          <p:nvPr/>
        </p:nvSpPr>
        <p:spPr>
          <a:xfrm>
            <a:off x="3747721" y="3204307"/>
            <a:ext cx="1743000" cy="92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600"/>
              <a:buFont typeface="Noto Sans Arabic"/>
              <a:buNone/>
            </a:pPr>
            <a:r>
              <a:rPr lang="en" sz="600" b="1" i="0" u="none" strike="noStrike" cap="none">
                <a:solidFill>
                  <a:srgbClr val="777777"/>
                </a:solidFill>
                <a:latin typeface="Noto Sans Arabic"/>
                <a:ea typeface="Noto Sans Arabic"/>
                <a:cs typeface="Noto Sans Arabic"/>
                <a:sym typeface="Noto Sans Arabic"/>
              </a:rPr>
              <a:t>PROJECTED B2B LEADS</a:t>
            </a:r>
            <a:endParaRPr sz="600" b="0" i="0" u="none" strike="noStrike" cap="none">
              <a:solidFill>
                <a:schemeClr val="dk1"/>
              </a:solidFill>
              <a:latin typeface="Calibri"/>
              <a:ea typeface="Calibri"/>
              <a:cs typeface="Calibri"/>
              <a:sym typeface="Calibri"/>
            </a:endParaRPr>
          </a:p>
        </p:txBody>
      </p:sp>
      <p:sp>
        <p:nvSpPr>
          <p:cNvPr id="622" name="Google Shape;622;p41"/>
          <p:cNvSpPr/>
          <p:nvPr/>
        </p:nvSpPr>
        <p:spPr>
          <a:xfrm>
            <a:off x="3839138" y="3456347"/>
            <a:ext cx="1843200" cy="15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1100"/>
              <a:buFont typeface="Noto Sans Arabic"/>
              <a:buNone/>
            </a:pPr>
            <a:r>
              <a:rPr lang="en" sz="1100" b="1" dirty="0">
                <a:solidFill>
                  <a:srgbClr val="27A770"/>
                </a:solidFill>
                <a:latin typeface="Noto Sans Arabic"/>
                <a:ea typeface="Noto Sans Arabic"/>
                <a:cs typeface="Noto Sans Arabic"/>
                <a:sym typeface="Noto Sans Arabic"/>
              </a:rPr>
              <a:t>30</a:t>
            </a:r>
            <a:r>
              <a:rPr lang="en" sz="1100" b="1" i="0" u="none" strike="noStrike" cap="none" dirty="0">
                <a:solidFill>
                  <a:srgbClr val="27A770"/>
                </a:solidFill>
                <a:latin typeface="Noto Sans Arabic"/>
                <a:ea typeface="Noto Sans Arabic"/>
                <a:cs typeface="Noto Sans Arabic"/>
                <a:sym typeface="Noto Sans Arabic"/>
              </a:rPr>
              <a:t>+ Leads</a:t>
            </a:r>
            <a:endParaRPr sz="1100" b="0" i="0" u="none" strike="noStrike" cap="none" dirty="0">
              <a:solidFill>
                <a:schemeClr val="dk1"/>
              </a:solidFill>
              <a:latin typeface="Calibri"/>
              <a:ea typeface="Calibri"/>
              <a:cs typeface="Calibri"/>
              <a:sym typeface="Calibri"/>
            </a:endParaRPr>
          </a:p>
        </p:txBody>
      </p:sp>
      <p:sp>
        <p:nvSpPr>
          <p:cNvPr id="623" name="Google Shape;623;p41"/>
          <p:cNvSpPr/>
          <p:nvPr/>
        </p:nvSpPr>
        <p:spPr>
          <a:xfrm>
            <a:off x="5722856" y="1712714"/>
            <a:ext cx="1344694" cy="3189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D1B3E"/>
              </a:buClr>
              <a:buSzPts val="1000"/>
              <a:buFont typeface="Noto Sans Arabic"/>
              <a:buNone/>
            </a:pPr>
            <a:r>
              <a:rPr lang="en-US" sz="1000" b="1" i="0" u="none" strike="noStrike" cap="none" dirty="0">
                <a:solidFill>
                  <a:srgbClr val="0D1B3E"/>
                </a:solidFill>
                <a:latin typeface="Noto Sans Arabic"/>
                <a:ea typeface="Noto Sans Arabic"/>
                <a:cs typeface="Noto Sans Arabic"/>
                <a:sym typeface="Noto Sans Arabic"/>
              </a:rPr>
              <a:t>Defensive Driving</a:t>
            </a:r>
            <a:endParaRPr sz="1000" b="0" i="0" u="none" strike="noStrike" cap="none" dirty="0">
              <a:solidFill>
                <a:schemeClr val="dk1"/>
              </a:solidFill>
              <a:latin typeface="Calibri"/>
              <a:ea typeface="Calibri"/>
              <a:cs typeface="Calibri"/>
              <a:sym typeface="Calibri"/>
            </a:endParaRPr>
          </a:p>
        </p:txBody>
      </p:sp>
      <p:sp>
        <p:nvSpPr>
          <p:cNvPr id="624" name="Google Shape;624;p41"/>
          <p:cNvSpPr/>
          <p:nvPr/>
        </p:nvSpPr>
        <p:spPr>
          <a:xfrm>
            <a:off x="5512562" y="2160203"/>
            <a:ext cx="12573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625" name="Google Shape;625;p41"/>
          <p:cNvSpPr/>
          <p:nvPr/>
        </p:nvSpPr>
        <p:spPr>
          <a:xfrm>
            <a:off x="5512562" y="2329979"/>
            <a:ext cx="1137300" cy="10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Perf. Max</a:t>
            </a:r>
            <a:endParaRPr sz="800" b="0" i="0" u="none" strike="noStrike" cap="none">
              <a:solidFill>
                <a:schemeClr val="dk1"/>
              </a:solidFill>
              <a:latin typeface="Calibri"/>
              <a:ea typeface="Calibri"/>
              <a:cs typeface="Calibri"/>
              <a:sym typeface="Calibri"/>
            </a:endParaRPr>
          </a:p>
        </p:txBody>
      </p:sp>
      <p:sp>
        <p:nvSpPr>
          <p:cNvPr id="626" name="Google Shape;626;p41"/>
          <p:cNvSpPr/>
          <p:nvPr/>
        </p:nvSpPr>
        <p:spPr>
          <a:xfrm>
            <a:off x="6472615" y="2160203"/>
            <a:ext cx="14574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6000</a:t>
            </a:r>
            <a:endParaRPr sz="800" b="0" i="0" u="none" strike="noStrike" cap="none" dirty="0">
              <a:solidFill>
                <a:schemeClr val="dk1"/>
              </a:solidFill>
              <a:latin typeface="Calibri"/>
              <a:ea typeface="Calibri"/>
              <a:cs typeface="Calibri"/>
              <a:sym typeface="Calibri"/>
            </a:endParaRPr>
          </a:p>
        </p:txBody>
      </p:sp>
      <p:sp>
        <p:nvSpPr>
          <p:cNvPr id="627" name="Google Shape;627;p41"/>
          <p:cNvSpPr/>
          <p:nvPr/>
        </p:nvSpPr>
        <p:spPr>
          <a:xfrm>
            <a:off x="6472615" y="2329979"/>
            <a:ext cx="14574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2000</a:t>
            </a:r>
            <a:endParaRPr sz="800" b="0" i="0" u="none" strike="noStrike" cap="none" dirty="0">
              <a:solidFill>
                <a:schemeClr val="dk1"/>
              </a:solidFill>
              <a:latin typeface="Calibri"/>
              <a:ea typeface="Calibri"/>
              <a:cs typeface="Calibri"/>
              <a:sym typeface="Calibri"/>
            </a:endParaRPr>
          </a:p>
        </p:txBody>
      </p:sp>
      <p:sp>
        <p:nvSpPr>
          <p:cNvPr id="628" name="Google Shape;628;p41"/>
          <p:cNvSpPr/>
          <p:nvPr/>
        </p:nvSpPr>
        <p:spPr>
          <a:xfrm>
            <a:off x="5860038" y="2844328"/>
            <a:ext cx="2071800" cy="17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100"/>
              <a:buFont typeface="Noto Sans Arabic"/>
              <a:buNone/>
            </a:pPr>
            <a:r>
              <a:rPr lang="en" sz="1100" b="1" i="0" u="none" strike="noStrike" cap="none" dirty="0">
                <a:solidFill>
                  <a:srgbClr val="0D1B3E"/>
                </a:solidFill>
                <a:latin typeface="Noto Sans Arabic"/>
                <a:ea typeface="Noto Sans Arabic"/>
                <a:cs typeface="Noto Sans Arabic"/>
                <a:sym typeface="Noto Sans Arabic"/>
              </a:rPr>
              <a:t>SAR </a:t>
            </a:r>
            <a:r>
              <a:rPr lang="en" sz="1100" b="1" dirty="0">
                <a:solidFill>
                  <a:srgbClr val="0D1B3E"/>
                </a:solidFill>
                <a:latin typeface="Noto Sans Arabic"/>
                <a:ea typeface="Noto Sans Arabic"/>
                <a:cs typeface="Noto Sans Arabic"/>
                <a:sym typeface="Noto Sans Arabic"/>
              </a:rPr>
              <a:t>8</a:t>
            </a:r>
            <a:r>
              <a:rPr lang="en" sz="1100" b="1" i="0" u="none" strike="noStrike" cap="none" dirty="0">
                <a:solidFill>
                  <a:srgbClr val="0D1B3E"/>
                </a:solidFill>
                <a:latin typeface="Noto Sans Arabic"/>
                <a:ea typeface="Noto Sans Arabic"/>
                <a:cs typeface="Noto Sans Arabic"/>
                <a:sym typeface="Noto Sans Arabic"/>
              </a:rPr>
              <a:t>,000</a:t>
            </a:r>
            <a:endParaRPr sz="1100" b="0" i="0" u="none" strike="noStrike" cap="none" dirty="0">
              <a:solidFill>
                <a:schemeClr val="dk1"/>
              </a:solidFill>
              <a:latin typeface="Calibri"/>
              <a:ea typeface="Calibri"/>
              <a:cs typeface="Calibri"/>
              <a:sym typeface="Calibri"/>
            </a:endParaRPr>
          </a:p>
        </p:txBody>
      </p:sp>
      <p:sp>
        <p:nvSpPr>
          <p:cNvPr id="629" name="Google Shape;629;p41"/>
          <p:cNvSpPr/>
          <p:nvPr/>
        </p:nvSpPr>
        <p:spPr>
          <a:xfrm>
            <a:off x="5795968" y="3204307"/>
            <a:ext cx="1743000" cy="92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600"/>
              <a:buFont typeface="Noto Sans Arabic"/>
              <a:buNone/>
            </a:pPr>
            <a:r>
              <a:rPr lang="en" sz="600" b="1" i="0" u="none" strike="noStrike" cap="none">
                <a:solidFill>
                  <a:srgbClr val="777777"/>
                </a:solidFill>
                <a:latin typeface="Noto Sans Arabic"/>
                <a:ea typeface="Noto Sans Arabic"/>
                <a:cs typeface="Noto Sans Arabic"/>
                <a:sym typeface="Noto Sans Arabic"/>
              </a:rPr>
              <a:t>PROJECTED B2B LEADS</a:t>
            </a:r>
            <a:endParaRPr sz="600" b="0" i="0" u="none" strike="noStrike" cap="none">
              <a:solidFill>
                <a:schemeClr val="dk1"/>
              </a:solidFill>
              <a:latin typeface="Calibri"/>
              <a:ea typeface="Calibri"/>
              <a:cs typeface="Calibri"/>
              <a:sym typeface="Calibri"/>
            </a:endParaRPr>
          </a:p>
        </p:txBody>
      </p:sp>
      <p:sp>
        <p:nvSpPr>
          <p:cNvPr id="630" name="Google Shape;630;p41"/>
          <p:cNvSpPr/>
          <p:nvPr/>
        </p:nvSpPr>
        <p:spPr>
          <a:xfrm>
            <a:off x="5887497" y="3456347"/>
            <a:ext cx="1843200" cy="15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1100"/>
              <a:buFont typeface="Noto Sans Arabic"/>
              <a:buNone/>
            </a:pPr>
            <a:r>
              <a:rPr lang="en" sz="1100" b="1" dirty="0">
                <a:solidFill>
                  <a:srgbClr val="27A770"/>
                </a:solidFill>
                <a:latin typeface="Noto Sans Arabic"/>
                <a:ea typeface="Noto Sans Arabic"/>
                <a:cs typeface="Noto Sans Arabic"/>
                <a:sym typeface="Noto Sans Arabic"/>
              </a:rPr>
              <a:t>30</a:t>
            </a:r>
            <a:r>
              <a:rPr lang="en" sz="1100" b="1" i="0" u="none" strike="noStrike" cap="none" dirty="0">
                <a:solidFill>
                  <a:srgbClr val="27A770"/>
                </a:solidFill>
                <a:latin typeface="Noto Sans Arabic"/>
                <a:ea typeface="Noto Sans Arabic"/>
                <a:cs typeface="Noto Sans Arabic"/>
                <a:sym typeface="Noto Sans Arabic"/>
              </a:rPr>
              <a:t>+ Leads</a:t>
            </a:r>
            <a:endParaRPr sz="1100" b="0" i="0" u="none" strike="noStrike" cap="none" dirty="0">
              <a:solidFill>
                <a:schemeClr val="dk1"/>
              </a:solidFill>
              <a:latin typeface="Calibri"/>
              <a:ea typeface="Calibri"/>
              <a:cs typeface="Calibri"/>
              <a:sym typeface="Calibri"/>
            </a:endParaRPr>
          </a:p>
        </p:txBody>
      </p:sp>
      <p:sp>
        <p:nvSpPr>
          <p:cNvPr id="631" name="Google Shape;631;p41"/>
          <p:cNvSpPr/>
          <p:nvPr/>
        </p:nvSpPr>
        <p:spPr>
          <a:xfrm>
            <a:off x="3240037" y="3908971"/>
            <a:ext cx="13431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632" name="Google Shape;632;p41"/>
          <p:cNvSpPr/>
          <p:nvPr/>
        </p:nvSpPr>
        <p:spPr>
          <a:xfrm>
            <a:off x="4842967" y="3908971"/>
            <a:ext cx="19860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Performance Max</a:t>
            </a:r>
            <a:endParaRPr sz="800" b="0" i="0" u="none" strike="noStrike" cap="none">
              <a:solidFill>
                <a:schemeClr val="dk1"/>
              </a:solidFill>
              <a:latin typeface="Calibri"/>
              <a:ea typeface="Calibri"/>
              <a:cs typeface="Calibri"/>
              <a:sym typeface="Calibri"/>
            </a:endParaRPr>
          </a:p>
        </p:txBody>
      </p:sp>
      <p:sp>
        <p:nvSpPr>
          <p:cNvPr id="633" name="Google Shape;633;p41"/>
          <p:cNvSpPr/>
          <p:nvPr/>
        </p:nvSpPr>
        <p:spPr>
          <a:xfrm>
            <a:off x="1325835" y="4253657"/>
            <a:ext cx="1977390"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SEARCH ADS TOTAL</a:t>
            </a:r>
            <a:endParaRPr sz="800" b="0" i="0" u="none" strike="noStrike" cap="none">
              <a:solidFill>
                <a:schemeClr val="dk1"/>
              </a:solidFill>
              <a:latin typeface="Calibri"/>
              <a:ea typeface="Calibri"/>
              <a:cs typeface="Calibri"/>
              <a:sym typeface="Calibri"/>
            </a:endParaRPr>
          </a:p>
        </p:txBody>
      </p:sp>
      <p:sp>
        <p:nvSpPr>
          <p:cNvPr id="634" name="Google Shape;634;p41"/>
          <p:cNvSpPr/>
          <p:nvPr/>
        </p:nvSpPr>
        <p:spPr>
          <a:xfrm>
            <a:off x="1143000" y="4454240"/>
            <a:ext cx="4007644" cy="28284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900"/>
              <a:buFont typeface="Noto Sans Arabic"/>
              <a:buNone/>
            </a:pPr>
            <a:r>
              <a:rPr lang="en" sz="1900" b="1" i="0" u="none" strike="noStrike" cap="none" dirty="0">
                <a:solidFill>
                  <a:srgbClr val="FFFFFF"/>
                </a:solidFill>
                <a:latin typeface="Noto Sans Arabic"/>
                <a:ea typeface="Noto Sans Arabic"/>
                <a:cs typeface="Noto Sans Arabic"/>
                <a:sym typeface="Noto Sans Arabic"/>
              </a:rPr>
              <a:t>SAR </a:t>
            </a:r>
            <a:r>
              <a:rPr lang="en" sz="1900" b="1" dirty="0">
                <a:solidFill>
                  <a:srgbClr val="FFFFFF"/>
                </a:solidFill>
                <a:latin typeface="Noto Sans Arabic"/>
                <a:ea typeface="Noto Sans Arabic"/>
                <a:cs typeface="Noto Sans Arabic"/>
                <a:sym typeface="Noto Sans Arabic"/>
              </a:rPr>
              <a:t>24000</a:t>
            </a:r>
            <a:endParaRPr sz="1900" b="0" i="0" u="none" strike="noStrike" cap="none" dirty="0">
              <a:solidFill>
                <a:schemeClr val="dk1"/>
              </a:solidFill>
              <a:latin typeface="Calibri"/>
              <a:ea typeface="Calibri"/>
              <a:cs typeface="Calibri"/>
              <a:sym typeface="Calibri"/>
            </a:endParaRPr>
          </a:p>
        </p:txBody>
      </p:sp>
      <p:sp>
        <p:nvSpPr>
          <p:cNvPr id="636" name="Google Shape;636;p41"/>
          <p:cNvSpPr/>
          <p:nvPr/>
        </p:nvSpPr>
        <p:spPr>
          <a:xfrm>
            <a:off x="3675794" y="4253657"/>
            <a:ext cx="257746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PERFORMANCE MAX TOTAL</a:t>
            </a:r>
            <a:endParaRPr sz="800" b="0" i="0" u="none" strike="noStrike" cap="none">
              <a:solidFill>
                <a:schemeClr val="dk1"/>
              </a:solidFill>
              <a:latin typeface="Calibri"/>
              <a:ea typeface="Calibri"/>
              <a:cs typeface="Calibri"/>
              <a:sym typeface="Calibri"/>
            </a:endParaRPr>
          </a:p>
        </p:txBody>
      </p:sp>
      <p:sp>
        <p:nvSpPr>
          <p:cNvPr id="637" name="Google Shape;637;p41"/>
          <p:cNvSpPr/>
          <p:nvPr/>
        </p:nvSpPr>
        <p:spPr>
          <a:xfrm>
            <a:off x="3749018" y="4454240"/>
            <a:ext cx="3521869" cy="28284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900"/>
              <a:buFont typeface="Noto Sans Arabic"/>
              <a:buNone/>
            </a:pPr>
            <a:r>
              <a:rPr lang="en" sz="1900" b="1" i="0" u="none" strike="noStrike" cap="none" dirty="0">
                <a:solidFill>
                  <a:srgbClr val="FFFFFF"/>
                </a:solidFill>
                <a:latin typeface="Noto Sans Arabic"/>
                <a:ea typeface="Noto Sans Arabic"/>
                <a:cs typeface="Noto Sans Arabic"/>
                <a:sym typeface="Noto Sans Arabic"/>
              </a:rPr>
              <a:t>SAR </a:t>
            </a:r>
            <a:r>
              <a:rPr lang="en" sz="1900" b="1" dirty="0">
                <a:solidFill>
                  <a:srgbClr val="FFFFFF"/>
                </a:solidFill>
                <a:latin typeface="Noto Sans Arabic"/>
                <a:ea typeface="Noto Sans Arabic"/>
                <a:cs typeface="Noto Sans Arabic"/>
                <a:sym typeface="Noto Sans Arabic"/>
              </a:rPr>
              <a:t>10000</a:t>
            </a:r>
            <a:endParaRPr sz="1900" b="0" i="0" u="none" strike="noStrike" cap="none" dirty="0">
              <a:solidFill>
                <a:schemeClr val="dk1"/>
              </a:solidFill>
              <a:latin typeface="Calibri"/>
              <a:ea typeface="Calibri"/>
              <a:cs typeface="Calibri"/>
              <a:sym typeface="Calibri"/>
            </a:endParaRPr>
          </a:p>
        </p:txBody>
      </p:sp>
      <p:sp>
        <p:nvSpPr>
          <p:cNvPr id="639" name="Google Shape;639;p41"/>
          <p:cNvSpPr/>
          <p:nvPr/>
        </p:nvSpPr>
        <p:spPr>
          <a:xfrm>
            <a:off x="6483065" y="4253657"/>
            <a:ext cx="1977390"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TOTAL INVESTMENT</a:t>
            </a:r>
            <a:endParaRPr sz="800" b="0" i="0" u="none" strike="noStrike" cap="none">
              <a:solidFill>
                <a:schemeClr val="dk1"/>
              </a:solidFill>
              <a:latin typeface="Calibri"/>
              <a:ea typeface="Calibri"/>
              <a:cs typeface="Calibri"/>
              <a:sym typeface="Calibri"/>
            </a:endParaRPr>
          </a:p>
        </p:txBody>
      </p:sp>
      <p:sp>
        <p:nvSpPr>
          <p:cNvPr id="640" name="Google Shape;640;p41"/>
          <p:cNvSpPr/>
          <p:nvPr/>
        </p:nvSpPr>
        <p:spPr>
          <a:xfrm>
            <a:off x="6272771" y="4454240"/>
            <a:ext cx="2871230" cy="28284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1900"/>
              <a:buFont typeface="Noto Sans Arabic"/>
              <a:buNone/>
            </a:pPr>
            <a:r>
              <a:rPr lang="en" sz="1900" b="1" i="0" u="none" strike="noStrike" cap="none" dirty="0">
                <a:solidFill>
                  <a:srgbClr val="27A770"/>
                </a:solidFill>
                <a:latin typeface="Noto Sans Arabic"/>
                <a:ea typeface="Noto Sans Arabic"/>
                <a:cs typeface="Noto Sans Arabic"/>
                <a:sym typeface="Noto Sans Arabic"/>
              </a:rPr>
              <a:t>SAR </a:t>
            </a:r>
            <a:r>
              <a:rPr lang="en" sz="1900" b="1" dirty="0">
                <a:solidFill>
                  <a:srgbClr val="27A770"/>
                </a:solidFill>
                <a:latin typeface="Noto Sans Arabic"/>
                <a:ea typeface="Noto Sans Arabic"/>
                <a:cs typeface="Noto Sans Arabic"/>
                <a:sym typeface="Noto Sans Arabic"/>
              </a:rPr>
              <a:t>24</a:t>
            </a:r>
            <a:r>
              <a:rPr lang="en" sz="1900" b="1" i="0" u="none" strike="noStrike" cap="none" dirty="0">
                <a:solidFill>
                  <a:srgbClr val="27A770"/>
                </a:solidFill>
                <a:latin typeface="Noto Sans Arabic"/>
                <a:ea typeface="Noto Sans Arabic"/>
                <a:cs typeface="Noto Sans Arabic"/>
                <a:sym typeface="Noto Sans Arabic"/>
              </a:rPr>
              <a:t>,000</a:t>
            </a:r>
            <a:endParaRPr sz="1900" b="0" i="0" u="none" strike="noStrike" cap="none" dirty="0">
              <a:solidFill>
                <a:schemeClr val="dk1"/>
              </a:solidFill>
              <a:latin typeface="Calibri"/>
              <a:ea typeface="Calibri"/>
              <a:cs typeface="Calibri"/>
              <a:sym typeface="Calibri"/>
            </a:endParaRPr>
          </a:p>
        </p:txBody>
      </p:sp>
      <p:sp>
        <p:nvSpPr>
          <p:cNvPr id="641" name="Google Shape;641;p41"/>
          <p:cNvSpPr/>
          <p:nvPr/>
        </p:nvSpPr>
        <p:spPr>
          <a:xfrm>
            <a:off x="6300118" y="4783410"/>
            <a:ext cx="2843882" cy="14399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800"/>
              <a:buFont typeface="Noto Sans Arabic"/>
              <a:buNone/>
            </a:pPr>
            <a:r>
              <a:rPr lang="en" sz="800" dirty="0">
                <a:solidFill>
                  <a:srgbClr val="27A770"/>
                </a:solidFill>
                <a:latin typeface="Noto Sans Arabic"/>
                <a:ea typeface="Noto Sans Arabic"/>
                <a:cs typeface="Noto Sans Arabic"/>
                <a:sym typeface="Noto Sans Arabic"/>
              </a:rPr>
              <a:t>90</a:t>
            </a:r>
            <a:r>
              <a:rPr lang="en" sz="800" b="0" i="0" u="none" strike="noStrike" cap="none" dirty="0">
                <a:solidFill>
                  <a:srgbClr val="27A770"/>
                </a:solidFill>
                <a:latin typeface="Noto Sans Arabic"/>
                <a:ea typeface="Noto Sans Arabic"/>
                <a:cs typeface="Noto Sans Arabic"/>
                <a:sym typeface="Noto Sans Arabic"/>
              </a:rPr>
              <a:t>+ Projected B2B Leads</a:t>
            </a:r>
            <a:endParaRPr sz="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pic>
        <p:nvPicPr>
          <p:cNvPr id="572" name="Google Shape;572;p41" descr="preencoded.png"/>
          <p:cNvPicPr preferRelativeResize="0"/>
          <p:nvPr/>
        </p:nvPicPr>
        <p:blipFill rotWithShape="1">
          <a:blip r:embed="rId3">
            <a:alphaModFix/>
          </a:blip>
          <a:srcRect/>
          <a:stretch/>
        </p:blipFill>
        <p:spPr>
          <a:xfrm>
            <a:off x="-2558675" y="12825"/>
            <a:ext cx="530312" cy="2288790"/>
          </a:xfrm>
          <a:prstGeom prst="rect">
            <a:avLst/>
          </a:prstGeom>
          <a:noFill/>
          <a:ln>
            <a:noFill/>
          </a:ln>
        </p:spPr>
      </p:pic>
      <p:pic>
        <p:nvPicPr>
          <p:cNvPr id="573" name="Google Shape;573;p41" descr="preencoded.png"/>
          <p:cNvPicPr preferRelativeResize="0"/>
          <p:nvPr/>
        </p:nvPicPr>
        <p:blipFill rotWithShape="1">
          <a:blip r:embed="rId4">
            <a:alphaModFix/>
          </a:blip>
          <a:srcRect/>
          <a:stretch/>
        </p:blipFill>
        <p:spPr>
          <a:xfrm>
            <a:off x="310864" y="781794"/>
            <a:ext cx="859483" cy="82265"/>
          </a:xfrm>
          <a:prstGeom prst="rect">
            <a:avLst/>
          </a:prstGeom>
          <a:noFill/>
          <a:ln>
            <a:noFill/>
          </a:ln>
        </p:spPr>
      </p:pic>
      <p:pic>
        <p:nvPicPr>
          <p:cNvPr id="574" name="Google Shape;574;p41" descr="preencoded.png"/>
          <p:cNvPicPr preferRelativeResize="0"/>
          <p:nvPr/>
        </p:nvPicPr>
        <p:blipFill rotWithShape="1">
          <a:blip r:embed="rId5">
            <a:alphaModFix/>
          </a:blip>
          <a:srcRect/>
          <a:stretch/>
        </p:blipFill>
        <p:spPr>
          <a:xfrm>
            <a:off x="1169161" y="1121234"/>
            <a:ext cx="1984177" cy="2669419"/>
          </a:xfrm>
          <a:prstGeom prst="rect">
            <a:avLst/>
          </a:prstGeom>
          <a:noFill/>
          <a:ln>
            <a:noFill/>
          </a:ln>
        </p:spPr>
      </p:pic>
      <p:pic>
        <p:nvPicPr>
          <p:cNvPr id="575" name="Google Shape;575;p41" descr="preencoded.png"/>
          <p:cNvPicPr preferRelativeResize="0"/>
          <p:nvPr/>
        </p:nvPicPr>
        <p:blipFill rotWithShape="1">
          <a:blip r:embed="rId6">
            <a:alphaModFix/>
          </a:blip>
          <a:srcRect/>
          <a:stretch/>
        </p:blipFill>
        <p:spPr>
          <a:xfrm>
            <a:off x="1169161" y="1121234"/>
            <a:ext cx="1984177" cy="71995"/>
          </a:xfrm>
          <a:prstGeom prst="rect">
            <a:avLst/>
          </a:prstGeom>
          <a:noFill/>
          <a:ln>
            <a:noFill/>
          </a:ln>
        </p:spPr>
      </p:pic>
      <p:pic>
        <p:nvPicPr>
          <p:cNvPr id="576" name="Google Shape;576;p41" descr="preencoded.png"/>
          <p:cNvPicPr preferRelativeResize="0"/>
          <p:nvPr/>
        </p:nvPicPr>
        <p:blipFill rotWithShape="1">
          <a:blip r:embed="rId7">
            <a:alphaModFix/>
          </a:blip>
          <a:srcRect/>
          <a:stretch/>
        </p:blipFill>
        <p:spPr>
          <a:xfrm>
            <a:off x="1416067" y="2597423"/>
            <a:ext cx="960053" cy="133722"/>
          </a:xfrm>
          <a:prstGeom prst="rect">
            <a:avLst/>
          </a:prstGeom>
          <a:noFill/>
          <a:ln>
            <a:noFill/>
          </a:ln>
        </p:spPr>
      </p:pic>
      <p:pic>
        <p:nvPicPr>
          <p:cNvPr id="577" name="Google Shape;577;p41" descr="preencoded.png"/>
          <p:cNvPicPr preferRelativeResize="0"/>
          <p:nvPr/>
        </p:nvPicPr>
        <p:blipFill rotWithShape="1">
          <a:blip r:embed="rId8">
            <a:alphaModFix/>
          </a:blip>
          <a:srcRect/>
          <a:stretch/>
        </p:blipFill>
        <p:spPr>
          <a:xfrm>
            <a:off x="2376121" y="2597423"/>
            <a:ext cx="530312" cy="133722"/>
          </a:xfrm>
          <a:prstGeom prst="rect">
            <a:avLst/>
          </a:prstGeom>
          <a:noFill/>
          <a:ln>
            <a:noFill/>
          </a:ln>
        </p:spPr>
      </p:pic>
      <p:pic>
        <p:nvPicPr>
          <p:cNvPr id="578" name="Google Shape;578;p41" descr="preencoded.png"/>
          <p:cNvPicPr preferRelativeResize="0"/>
          <p:nvPr/>
        </p:nvPicPr>
        <p:blipFill rotWithShape="1">
          <a:blip r:embed="rId9">
            <a:alphaModFix/>
          </a:blip>
          <a:srcRect/>
          <a:stretch/>
        </p:blipFill>
        <p:spPr>
          <a:xfrm>
            <a:off x="1416067" y="3262461"/>
            <a:ext cx="1490365" cy="7144"/>
          </a:xfrm>
          <a:prstGeom prst="rect">
            <a:avLst/>
          </a:prstGeom>
          <a:noFill/>
          <a:ln>
            <a:noFill/>
          </a:ln>
        </p:spPr>
      </p:pic>
      <p:pic>
        <p:nvPicPr>
          <p:cNvPr id="579" name="Google Shape;579;p41" descr="preencoded.png"/>
          <p:cNvPicPr preferRelativeResize="0"/>
          <p:nvPr/>
        </p:nvPicPr>
        <p:blipFill rotWithShape="1">
          <a:blip r:embed="rId10">
            <a:alphaModFix/>
          </a:blip>
          <a:srcRect/>
          <a:stretch/>
        </p:blipFill>
        <p:spPr>
          <a:xfrm>
            <a:off x="1416067" y="3407569"/>
            <a:ext cx="1490365" cy="251929"/>
          </a:xfrm>
          <a:prstGeom prst="rect">
            <a:avLst/>
          </a:prstGeom>
          <a:noFill/>
          <a:ln>
            <a:noFill/>
          </a:ln>
        </p:spPr>
      </p:pic>
      <p:pic>
        <p:nvPicPr>
          <p:cNvPr id="580" name="Google Shape;580;p41" descr="preencoded.png"/>
          <p:cNvPicPr preferRelativeResize="0"/>
          <p:nvPr/>
        </p:nvPicPr>
        <p:blipFill rotWithShape="1">
          <a:blip r:embed="rId11">
            <a:alphaModFix/>
          </a:blip>
          <a:srcRect/>
          <a:stretch/>
        </p:blipFill>
        <p:spPr>
          <a:xfrm>
            <a:off x="3290521" y="1121234"/>
            <a:ext cx="1984177" cy="2659149"/>
          </a:xfrm>
          <a:prstGeom prst="rect">
            <a:avLst/>
          </a:prstGeom>
          <a:noFill/>
          <a:ln>
            <a:noFill/>
          </a:ln>
        </p:spPr>
      </p:pic>
      <p:pic>
        <p:nvPicPr>
          <p:cNvPr id="581" name="Google Shape;581;p41" descr="preencoded.png"/>
          <p:cNvPicPr preferRelativeResize="0"/>
          <p:nvPr/>
        </p:nvPicPr>
        <p:blipFill rotWithShape="1">
          <a:blip r:embed="rId12">
            <a:alphaModFix/>
          </a:blip>
          <a:srcRect/>
          <a:stretch/>
        </p:blipFill>
        <p:spPr>
          <a:xfrm>
            <a:off x="3290521" y="1121234"/>
            <a:ext cx="1984177" cy="71995"/>
          </a:xfrm>
          <a:prstGeom prst="rect">
            <a:avLst/>
          </a:prstGeom>
          <a:noFill/>
          <a:ln>
            <a:noFill/>
          </a:ln>
        </p:spPr>
      </p:pic>
      <p:pic>
        <p:nvPicPr>
          <p:cNvPr id="582" name="Google Shape;582;p41" descr="preencoded.png"/>
          <p:cNvPicPr preferRelativeResize="0"/>
          <p:nvPr/>
        </p:nvPicPr>
        <p:blipFill rotWithShape="1">
          <a:blip r:embed="rId13">
            <a:alphaModFix/>
          </a:blip>
          <a:srcRect/>
          <a:stretch/>
        </p:blipFill>
        <p:spPr>
          <a:xfrm>
            <a:off x="3446009" y="2597423"/>
            <a:ext cx="960053" cy="133722"/>
          </a:xfrm>
          <a:prstGeom prst="rect">
            <a:avLst/>
          </a:prstGeom>
          <a:noFill/>
          <a:ln>
            <a:noFill/>
          </a:ln>
        </p:spPr>
      </p:pic>
      <p:pic>
        <p:nvPicPr>
          <p:cNvPr id="583" name="Google Shape;583;p41" descr="preencoded.png"/>
          <p:cNvPicPr preferRelativeResize="0"/>
          <p:nvPr/>
        </p:nvPicPr>
        <p:blipFill rotWithShape="1">
          <a:blip r:embed="rId14">
            <a:alphaModFix/>
          </a:blip>
          <a:srcRect/>
          <a:stretch/>
        </p:blipFill>
        <p:spPr>
          <a:xfrm>
            <a:off x="4406062" y="2597423"/>
            <a:ext cx="621730" cy="133722"/>
          </a:xfrm>
          <a:prstGeom prst="rect">
            <a:avLst/>
          </a:prstGeom>
          <a:noFill/>
          <a:ln>
            <a:noFill/>
          </a:ln>
        </p:spPr>
      </p:pic>
      <p:pic>
        <p:nvPicPr>
          <p:cNvPr id="584" name="Google Shape;584;p41" descr="preencoded.png"/>
          <p:cNvPicPr preferRelativeResize="0"/>
          <p:nvPr/>
        </p:nvPicPr>
        <p:blipFill rotWithShape="1">
          <a:blip r:embed="rId15">
            <a:alphaModFix/>
          </a:blip>
          <a:srcRect/>
          <a:stretch/>
        </p:blipFill>
        <p:spPr>
          <a:xfrm>
            <a:off x="3446009" y="3262461"/>
            <a:ext cx="1581894" cy="7144"/>
          </a:xfrm>
          <a:prstGeom prst="rect">
            <a:avLst/>
          </a:prstGeom>
          <a:noFill/>
          <a:ln>
            <a:noFill/>
          </a:ln>
        </p:spPr>
      </p:pic>
      <p:pic>
        <p:nvPicPr>
          <p:cNvPr id="585" name="Google Shape;585;p41" descr="preencoded.png"/>
          <p:cNvPicPr preferRelativeResize="0"/>
          <p:nvPr/>
        </p:nvPicPr>
        <p:blipFill rotWithShape="1">
          <a:blip r:embed="rId16">
            <a:alphaModFix/>
          </a:blip>
          <a:srcRect/>
          <a:stretch/>
        </p:blipFill>
        <p:spPr>
          <a:xfrm>
            <a:off x="3446009" y="3407569"/>
            <a:ext cx="1581894" cy="251929"/>
          </a:xfrm>
          <a:prstGeom prst="rect">
            <a:avLst/>
          </a:prstGeom>
          <a:noFill/>
          <a:ln>
            <a:noFill/>
          </a:ln>
        </p:spPr>
      </p:pic>
      <p:pic>
        <p:nvPicPr>
          <p:cNvPr id="587" name="Google Shape;587;p41" descr="preencoded.png"/>
          <p:cNvPicPr preferRelativeResize="0"/>
          <p:nvPr/>
        </p:nvPicPr>
        <p:blipFill rotWithShape="1">
          <a:blip r:embed="rId17">
            <a:alphaModFix/>
          </a:blip>
          <a:srcRect/>
          <a:stretch/>
        </p:blipFill>
        <p:spPr>
          <a:xfrm>
            <a:off x="5411991" y="1121234"/>
            <a:ext cx="1984177" cy="71995"/>
          </a:xfrm>
          <a:prstGeom prst="rect">
            <a:avLst/>
          </a:prstGeom>
          <a:noFill/>
          <a:ln>
            <a:noFill/>
          </a:ln>
        </p:spPr>
      </p:pic>
      <p:pic>
        <p:nvPicPr>
          <p:cNvPr id="590" name="Google Shape;590;p41" descr="preencoded.png"/>
          <p:cNvPicPr preferRelativeResize="0"/>
          <p:nvPr/>
        </p:nvPicPr>
        <p:blipFill rotWithShape="1">
          <a:blip r:embed="rId15">
            <a:alphaModFix/>
          </a:blip>
          <a:srcRect/>
          <a:stretch/>
        </p:blipFill>
        <p:spPr>
          <a:xfrm>
            <a:off x="5567368" y="3262461"/>
            <a:ext cx="1581894" cy="7144"/>
          </a:xfrm>
          <a:prstGeom prst="rect">
            <a:avLst/>
          </a:prstGeom>
          <a:noFill/>
          <a:ln>
            <a:noFill/>
          </a:ln>
        </p:spPr>
      </p:pic>
      <p:pic>
        <p:nvPicPr>
          <p:cNvPr id="592" name="Google Shape;592;p41" descr="preencoded.png"/>
          <p:cNvPicPr preferRelativeResize="0"/>
          <p:nvPr/>
        </p:nvPicPr>
        <p:blipFill rotWithShape="1">
          <a:blip r:embed="rId15">
            <a:alphaModFix/>
          </a:blip>
          <a:srcRect/>
          <a:stretch/>
        </p:blipFill>
        <p:spPr>
          <a:xfrm>
            <a:off x="7688838" y="3262461"/>
            <a:ext cx="1581894" cy="7144"/>
          </a:xfrm>
          <a:prstGeom prst="rect">
            <a:avLst/>
          </a:prstGeom>
          <a:noFill/>
          <a:ln>
            <a:noFill/>
          </a:ln>
        </p:spPr>
      </p:pic>
      <p:pic>
        <p:nvPicPr>
          <p:cNvPr id="593" name="Google Shape;593;p41" descr="preencoded.png"/>
          <p:cNvPicPr preferRelativeResize="0"/>
          <p:nvPr/>
        </p:nvPicPr>
        <p:blipFill rotWithShape="1">
          <a:blip r:embed="rId18">
            <a:alphaModFix/>
          </a:blip>
          <a:srcRect/>
          <a:stretch/>
        </p:blipFill>
        <p:spPr>
          <a:xfrm>
            <a:off x="292559" y="4196507"/>
            <a:ext cx="8586118" cy="787933"/>
          </a:xfrm>
          <a:prstGeom prst="rect">
            <a:avLst/>
          </a:prstGeom>
          <a:noFill/>
          <a:ln>
            <a:noFill/>
          </a:ln>
        </p:spPr>
      </p:pic>
      <p:pic>
        <p:nvPicPr>
          <p:cNvPr id="594" name="Google Shape;594;p41" descr="preencoded.png"/>
          <p:cNvPicPr preferRelativeResize="0"/>
          <p:nvPr/>
        </p:nvPicPr>
        <p:blipFill rotWithShape="1">
          <a:blip r:embed="rId19">
            <a:alphaModFix/>
          </a:blip>
          <a:srcRect/>
          <a:stretch/>
        </p:blipFill>
        <p:spPr>
          <a:xfrm>
            <a:off x="3220603" y="4289599"/>
            <a:ext cx="14288" cy="524619"/>
          </a:xfrm>
          <a:prstGeom prst="rect">
            <a:avLst/>
          </a:prstGeom>
          <a:noFill/>
          <a:ln>
            <a:noFill/>
          </a:ln>
        </p:spPr>
      </p:pic>
      <p:pic>
        <p:nvPicPr>
          <p:cNvPr id="595" name="Google Shape;595;p41" descr="preencoded.png"/>
          <p:cNvPicPr preferRelativeResize="0"/>
          <p:nvPr/>
        </p:nvPicPr>
        <p:blipFill rotWithShape="1">
          <a:blip r:embed="rId20">
            <a:alphaModFix/>
          </a:blip>
          <a:srcRect/>
          <a:stretch/>
        </p:blipFill>
        <p:spPr>
          <a:xfrm>
            <a:off x="5945498" y="4289599"/>
            <a:ext cx="14288" cy="524619"/>
          </a:xfrm>
          <a:prstGeom prst="rect">
            <a:avLst/>
          </a:prstGeom>
          <a:noFill/>
          <a:ln>
            <a:noFill/>
          </a:ln>
        </p:spPr>
      </p:pic>
      <p:pic>
        <p:nvPicPr>
          <p:cNvPr id="596" name="Google Shape;596;p41" descr="preencoded.png"/>
          <p:cNvPicPr preferRelativeResize="0"/>
          <p:nvPr/>
        </p:nvPicPr>
        <p:blipFill rotWithShape="1">
          <a:blip r:embed="rId21">
            <a:alphaModFix/>
          </a:blip>
          <a:srcRect/>
          <a:stretch/>
        </p:blipFill>
        <p:spPr>
          <a:xfrm>
            <a:off x="4568603" y="3878163"/>
            <a:ext cx="191988" cy="179933"/>
          </a:xfrm>
          <a:prstGeom prst="rect">
            <a:avLst/>
          </a:prstGeom>
          <a:noFill/>
          <a:ln>
            <a:noFill/>
          </a:ln>
        </p:spPr>
      </p:pic>
      <p:pic>
        <p:nvPicPr>
          <p:cNvPr id="597" name="Google Shape;597;p41" descr="preencoded.png"/>
          <p:cNvPicPr preferRelativeResize="0"/>
          <p:nvPr/>
        </p:nvPicPr>
        <p:blipFill rotWithShape="1">
          <a:blip r:embed="rId22">
            <a:alphaModFix/>
          </a:blip>
          <a:srcRect/>
          <a:stretch/>
        </p:blipFill>
        <p:spPr>
          <a:xfrm>
            <a:off x="2947478" y="3878163"/>
            <a:ext cx="228600" cy="179933"/>
          </a:xfrm>
          <a:prstGeom prst="rect">
            <a:avLst/>
          </a:prstGeom>
          <a:noFill/>
          <a:ln>
            <a:noFill/>
          </a:ln>
        </p:spPr>
      </p:pic>
      <p:sp>
        <p:nvSpPr>
          <p:cNvPr id="601" name="Google Shape;601;p41"/>
          <p:cNvSpPr/>
          <p:nvPr/>
        </p:nvSpPr>
        <p:spPr>
          <a:xfrm>
            <a:off x="301712" y="200583"/>
            <a:ext cx="2663100" cy="12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900"/>
              <a:buFont typeface="Noto Sans Arabic"/>
              <a:buNone/>
            </a:pPr>
            <a:r>
              <a:rPr lang="en" sz="900" b="1" i="0" u="none" strike="noStrike" cap="none">
                <a:solidFill>
                  <a:srgbClr val="27A770"/>
                </a:solidFill>
                <a:latin typeface="Noto Sans Arabic"/>
                <a:ea typeface="Noto Sans Arabic"/>
                <a:cs typeface="Noto Sans Arabic"/>
                <a:sym typeface="Noto Sans Arabic"/>
              </a:rPr>
              <a:t>INVESTMENT OVERVIEW</a:t>
            </a:r>
            <a:endParaRPr sz="900" b="0" i="0" u="none" strike="noStrike" cap="none">
              <a:solidFill>
                <a:schemeClr val="dk1"/>
              </a:solidFill>
              <a:latin typeface="Calibri"/>
              <a:ea typeface="Calibri"/>
              <a:cs typeface="Calibri"/>
              <a:sym typeface="Calibri"/>
            </a:endParaRPr>
          </a:p>
        </p:txBody>
      </p:sp>
      <p:sp>
        <p:nvSpPr>
          <p:cNvPr id="602" name="Google Shape;602;p41"/>
          <p:cNvSpPr/>
          <p:nvPr/>
        </p:nvSpPr>
        <p:spPr>
          <a:xfrm>
            <a:off x="301711" y="380516"/>
            <a:ext cx="8842200" cy="31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900"/>
              <a:buFont typeface="Noto Sans Arabic"/>
              <a:buNone/>
            </a:pPr>
            <a:r>
              <a:rPr lang="en" sz="1900" b="1" i="0" u="none" strike="noStrike" cap="none">
                <a:solidFill>
                  <a:srgbClr val="0D1B3E"/>
                </a:solidFill>
                <a:latin typeface="Noto Sans Arabic"/>
                <a:ea typeface="Noto Sans Arabic"/>
                <a:cs typeface="Noto Sans Arabic"/>
                <a:sym typeface="Noto Sans Arabic"/>
              </a:rPr>
              <a:t>Budget Allocation &amp; Lead Projection</a:t>
            </a:r>
            <a:endParaRPr sz="1900" b="0" i="0" u="none" strike="noStrike" cap="none">
              <a:solidFill>
                <a:schemeClr val="dk1"/>
              </a:solidFill>
              <a:latin typeface="Calibri"/>
              <a:ea typeface="Calibri"/>
              <a:cs typeface="Calibri"/>
              <a:sym typeface="Calibri"/>
            </a:endParaRPr>
          </a:p>
        </p:txBody>
      </p:sp>
      <p:sp>
        <p:nvSpPr>
          <p:cNvPr id="603" name="Google Shape;603;p41"/>
          <p:cNvSpPr/>
          <p:nvPr/>
        </p:nvSpPr>
        <p:spPr>
          <a:xfrm>
            <a:off x="5539402" y="236525"/>
            <a:ext cx="1703100" cy="14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900"/>
              <a:buFont typeface="Noto Sans Arabic"/>
              <a:buNone/>
            </a:pPr>
            <a:r>
              <a:rPr lang="en" sz="900" b="1" i="0" u="none" strike="noStrike" cap="none">
                <a:solidFill>
                  <a:srgbClr val="27A770"/>
                </a:solidFill>
                <a:latin typeface="Noto Sans Arabic"/>
                <a:ea typeface="Noto Sans Arabic"/>
                <a:cs typeface="Noto Sans Arabic"/>
                <a:sym typeface="Noto Sans Arabic"/>
              </a:rPr>
              <a:t>Total Budget</a:t>
            </a:r>
            <a:endParaRPr sz="900" b="0" i="0" u="none" strike="noStrike" cap="none">
              <a:solidFill>
                <a:schemeClr val="dk1"/>
              </a:solidFill>
              <a:latin typeface="Calibri"/>
              <a:ea typeface="Calibri"/>
              <a:cs typeface="Calibri"/>
              <a:sym typeface="Calibri"/>
            </a:endParaRPr>
          </a:p>
        </p:txBody>
      </p:sp>
      <p:sp>
        <p:nvSpPr>
          <p:cNvPr id="604" name="Google Shape;604;p41"/>
          <p:cNvSpPr/>
          <p:nvPr/>
        </p:nvSpPr>
        <p:spPr>
          <a:xfrm>
            <a:off x="5210232" y="503969"/>
            <a:ext cx="3209700" cy="267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900"/>
              <a:buFont typeface="Noto Sans Arabic"/>
              <a:buNone/>
            </a:pPr>
            <a:r>
              <a:rPr lang="en" sz="1900" b="1" i="0" u="none" strike="noStrike" cap="none" dirty="0">
                <a:solidFill>
                  <a:srgbClr val="0D1B3E"/>
                </a:solidFill>
                <a:latin typeface="Noto Sans Arabic"/>
                <a:ea typeface="Noto Sans Arabic"/>
                <a:cs typeface="Noto Sans Arabic"/>
                <a:sym typeface="Noto Sans Arabic"/>
              </a:rPr>
              <a:t>SAR </a:t>
            </a:r>
            <a:r>
              <a:rPr lang="en" sz="1900" b="1" dirty="0">
                <a:solidFill>
                  <a:srgbClr val="0D1B3E"/>
                </a:solidFill>
                <a:latin typeface="Noto Sans Arabic"/>
                <a:ea typeface="Noto Sans Arabic"/>
                <a:cs typeface="Noto Sans Arabic"/>
                <a:sym typeface="Noto Sans Arabic"/>
              </a:rPr>
              <a:t>16</a:t>
            </a:r>
            <a:r>
              <a:rPr lang="en" sz="1900" b="1" i="0" u="none" strike="noStrike" cap="none" dirty="0">
                <a:solidFill>
                  <a:srgbClr val="0D1B3E"/>
                </a:solidFill>
                <a:latin typeface="Noto Sans Arabic"/>
                <a:ea typeface="Noto Sans Arabic"/>
                <a:cs typeface="Noto Sans Arabic"/>
                <a:sym typeface="Noto Sans Arabic"/>
              </a:rPr>
              <a:t>,000 </a:t>
            </a:r>
            <a:r>
              <a:rPr lang="en" sz="1000" b="1" i="0" u="none" strike="noStrike" cap="none" dirty="0">
                <a:solidFill>
                  <a:srgbClr val="0D1B3E"/>
                </a:solidFill>
                <a:latin typeface="Noto Sans Arabic"/>
                <a:ea typeface="Noto Sans Arabic"/>
                <a:cs typeface="Noto Sans Arabic"/>
                <a:sym typeface="Noto Sans Arabic"/>
              </a:rPr>
              <a:t>(30</a:t>
            </a:r>
            <a:r>
              <a:rPr lang="en" sz="1000" b="1" dirty="0">
                <a:solidFill>
                  <a:srgbClr val="0D1B3E"/>
                </a:solidFill>
                <a:latin typeface="Noto Sans Arabic"/>
                <a:ea typeface="Noto Sans Arabic"/>
                <a:cs typeface="Noto Sans Arabic"/>
                <a:sym typeface="Noto Sans Arabic"/>
              </a:rPr>
              <a:t> Days</a:t>
            </a:r>
            <a:r>
              <a:rPr lang="en" sz="1000" b="1" i="0" u="none" strike="noStrike" cap="none" dirty="0">
                <a:solidFill>
                  <a:srgbClr val="0D1B3E"/>
                </a:solidFill>
                <a:latin typeface="Noto Sans Arabic"/>
                <a:ea typeface="Noto Sans Arabic"/>
                <a:cs typeface="Noto Sans Arabic"/>
                <a:sym typeface="Noto Sans Arabic"/>
              </a:rPr>
              <a:t>)</a:t>
            </a:r>
            <a:endParaRPr sz="1000" b="0" i="0" u="none" strike="noStrike" cap="none" dirty="0">
              <a:solidFill>
                <a:schemeClr val="dk1"/>
              </a:solidFill>
              <a:latin typeface="Calibri"/>
              <a:ea typeface="Calibri"/>
              <a:cs typeface="Calibri"/>
              <a:sym typeface="Calibri"/>
            </a:endParaRPr>
          </a:p>
        </p:txBody>
      </p:sp>
      <p:sp>
        <p:nvSpPr>
          <p:cNvPr id="605" name="Google Shape;605;p41"/>
          <p:cNvSpPr/>
          <p:nvPr/>
        </p:nvSpPr>
        <p:spPr>
          <a:xfrm>
            <a:off x="7927777" y="241660"/>
            <a:ext cx="1216223"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Projected B2B</a:t>
            </a:r>
            <a:endParaRPr sz="800" b="0" i="0" u="none" strike="noStrike" cap="none">
              <a:solidFill>
                <a:schemeClr val="dk1"/>
              </a:solidFill>
              <a:latin typeface="Calibri"/>
              <a:ea typeface="Calibri"/>
              <a:cs typeface="Calibri"/>
              <a:sym typeface="Calibri"/>
            </a:endParaRPr>
          </a:p>
        </p:txBody>
      </p:sp>
      <p:sp>
        <p:nvSpPr>
          <p:cNvPr id="606" name="Google Shape;606;p41"/>
          <p:cNvSpPr/>
          <p:nvPr/>
        </p:nvSpPr>
        <p:spPr>
          <a:xfrm>
            <a:off x="7547723" y="359692"/>
            <a:ext cx="1426500" cy="47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A770"/>
              </a:buClr>
              <a:buSzPts val="1600"/>
              <a:buFont typeface="Noto Sans Arabic"/>
              <a:buNone/>
            </a:pPr>
            <a:r>
              <a:rPr lang="en" sz="1600" b="1" dirty="0">
                <a:solidFill>
                  <a:srgbClr val="27A770"/>
                </a:solidFill>
                <a:latin typeface="Noto Sans Arabic"/>
                <a:ea typeface="Noto Sans Arabic"/>
                <a:cs typeface="Noto Sans Arabic"/>
                <a:sym typeface="Noto Sans Arabic"/>
              </a:rPr>
              <a:t>60</a:t>
            </a:r>
            <a:r>
              <a:rPr lang="en" sz="1600" b="1" i="0" u="none" strike="noStrike" cap="none" dirty="0">
                <a:solidFill>
                  <a:srgbClr val="27A770"/>
                </a:solidFill>
                <a:latin typeface="Noto Sans Arabic"/>
                <a:ea typeface="Noto Sans Arabic"/>
                <a:cs typeface="Noto Sans Arabic"/>
                <a:sym typeface="Noto Sans Arabic"/>
              </a:rPr>
              <a:t>+ Leads</a:t>
            </a:r>
            <a:br>
              <a:rPr lang="en" sz="1600" b="1" i="0" u="none" strike="noStrike" cap="none" dirty="0">
                <a:solidFill>
                  <a:srgbClr val="27A770"/>
                </a:solidFill>
                <a:latin typeface="Noto Sans Arabic"/>
                <a:ea typeface="Noto Sans Arabic"/>
                <a:cs typeface="Noto Sans Arabic"/>
                <a:sym typeface="Noto Sans Arabic"/>
              </a:rPr>
            </a:br>
            <a:r>
              <a:rPr lang="en" sz="800" b="1" i="0" u="none" strike="noStrike" cap="none" dirty="0">
                <a:solidFill>
                  <a:schemeClr val="dk1"/>
                </a:solidFill>
                <a:latin typeface="Noto Sans Arabic"/>
                <a:ea typeface="Noto Sans Arabic"/>
                <a:cs typeface="Noto Sans Arabic"/>
                <a:sym typeface="Noto Sans Arabic"/>
              </a:rPr>
              <a:t>TBD</a:t>
            </a:r>
            <a:endParaRPr sz="800" b="0" i="0" u="none" strike="noStrike" cap="none" dirty="0">
              <a:solidFill>
                <a:schemeClr val="dk1"/>
              </a:solidFill>
              <a:latin typeface="Calibri"/>
              <a:ea typeface="Calibri"/>
              <a:cs typeface="Calibri"/>
              <a:sym typeface="Calibri"/>
            </a:endParaRPr>
          </a:p>
        </p:txBody>
      </p:sp>
      <p:sp>
        <p:nvSpPr>
          <p:cNvPr id="607" name="Google Shape;607;p41"/>
          <p:cNvSpPr/>
          <p:nvPr/>
        </p:nvSpPr>
        <p:spPr>
          <a:xfrm>
            <a:off x="1516638" y="1789844"/>
            <a:ext cx="3150300" cy="17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000"/>
              <a:buFont typeface="Noto Sans Arabic"/>
              <a:buNone/>
            </a:pPr>
            <a:r>
              <a:rPr lang="en" sz="1000" b="1" i="0" u="none" strike="noStrike" cap="none" dirty="0">
                <a:solidFill>
                  <a:srgbClr val="0D1B3E"/>
                </a:solidFill>
                <a:latin typeface="Noto Sans Arabic"/>
                <a:ea typeface="Noto Sans Arabic"/>
                <a:cs typeface="Noto Sans Arabic"/>
                <a:sym typeface="Noto Sans Arabic"/>
              </a:rPr>
              <a:t>Food Safety			</a:t>
            </a:r>
            <a:endParaRPr sz="1000" b="0" i="0" u="none" strike="noStrike" cap="none" dirty="0">
              <a:solidFill>
                <a:schemeClr val="dk1"/>
              </a:solidFill>
              <a:latin typeface="Calibri"/>
              <a:ea typeface="Calibri"/>
              <a:cs typeface="Calibri"/>
              <a:sym typeface="Calibri"/>
            </a:endParaRPr>
          </a:p>
        </p:txBody>
      </p:sp>
      <p:sp>
        <p:nvSpPr>
          <p:cNvPr id="608" name="Google Shape;608;p41"/>
          <p:cNvSpPr/>
          <p:nvPr/>
        </p:nvSpPr>
        <p:spPr>
          <a:xfrm>
            <a:off x="1443415" y="2155069"/>
            <a:ext cx="1257300" cy="12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609" name="Google Shape;609;p41"/>
          <p:cNvSpPr/>
          <p:nvPr/>
        </p:nvSpPr>
        <p:spPr>
          <a:xfrm>
            <a:off x="2403580" y="2160203"/>
            <a:ext cx="14574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6000</a:t>
            </a:r>
            <a:endParaRPr sz="800" b="0" i="0" u="none" strike="noStrike" cap="none" dirty="0">
              <a:solidFill>
                <a:schemeClr val="dk1"/>
              </a:solidFill>
              <a:latin typeface="Calibri"/>
              <a:ea typeface="Calibri"/>
              <a:cs typeface="Calibri"/>
              <a:sym typeface="Calibri"/>
            </a:endParaRPr>
          </a:p>
        </p:txBody>
      </p:sp>
      <p:sp>
        <p:nvSpPr>
          <p:cNvPr id="610" name="Google Shape;610;p41"/>
          <p:cNvSpPr/>
          <p:nvPr/>
        </p:nvSpPr>
        <p:spPr>
          <a:xfrm>
            <a:off x="1452568" y="2335113"/>
            <a:ext cx="1137300" cy="10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Perf. Max</a:t>
            </a:r>
            <a:endParaRPr sz="800" b="0" i="0" u="none" strike="noStrike" cap="none">
              <a:solidFill>
                <a:schemeClr val="dk1"/>
              </a:solidFill>
              <a:latin typeface="Calibri"/>
              <a:ea typeface="Calibri"/>
              <a:cs typeface="Calibri"/>
              <a:sym typeface="Calibri"/>
            </a:endParaRPr>
          </a:p>
        </p:txBody>
      </p:sp>
      <p:sp>
        <p:nvSpPr>
          <p:cNvPr id="611" name="Google Shape;611;p41"/>
          <p:cNvSpPr/>
          <p:nvPr/>
        </p:nvSpPr>
        <p:spPr>
          <a:xfrm>
            <a:off x="2403580" y="2335113"/>
            <a:ext cx="1457400" cy="10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2000</a:t>
            </a:r>
            <a:endParaRPr sz="800" b="0" i="0" u="none" strike="noStrike" cap="none" dirty="0">
              <a:solidFill>
                <a:schemeClr val="dk1"/>
              </a:solidFill>
              <a:latin typeface="Calibri"/>
              <a:ea typeface="Calibri"/>
              <a:cs typeface="Calibri"/>
              <a:sym typeface="Calibri"/>
            </a:endParaRPr>
          </a:p>
        </p:txBody>
      </p:sp>
      <p:sp>
        <p:nvSpPr>
          <p:cNvPr id="612" name="Google Shape;612;p41"/>
          <p:cNvSpPr/>
          <p:nvPr/>
        </p:nvSpPr>
        <p:spPr>
          <a:xfrm>
            <a:off x="1790891" y="2844328"/>
            <a:ext cx="2071800" cy="16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100"/>
              <a:buFont typeface="Noto Sans Arabic"/>
              <a:buNone/>
            </a:pPr>
            <a:r>
              <a:rPr lang="en" sz="1100" b="1" i="0" u="none" strike="noStrike" cap="none" dirty="0">
                <a:solidFill>
                  <a:srgbClr val="0D1B3E"/>
                </a:solidFill>
                <a:latin typeface="Noto Sans Arabic"/>
                <a:ea typeface="Noto Sans Arabic"/>
                <a:cs typeface="Noto Sans Arabic"/>
                <a:sym typeface="Noto Sans Arabic"/>
              </a:rPr>
              <a:t>SAR </a:t>
            </a:r>
            <a:r>
              <a:rPr lang="en" sz="1100" b="1" dirty="0">
                <a:solidFill>
                  <a:srgbClr val="0D1B3E"/>
                </a:solidFill>
                <a:latin typeface="Noto Sans Arabic"/>
                <a:ea typeface="Noto Sans Arabic"/>
                <a:cs typeface="Noto Sans Arabic"/>
                <a:sym typeface="Noto Sans Arabic"/>
              </a:rPr>
              <a:t>8</a:t>
            </a:r>
            <a:r>
              <a:rPr lang="en" sz="1100" b="1" i="0" u="none" strike="noStrike" cap="none" dirty="0">
                <a:solidFill>
                  <a:srgbClr val="0D1B3E"/>
                </a:solidFill>
                <a:latin typeface="Noto Sans Arabic"/>
                <a:ea typeface="Noto Sans Arabic"/>
                <a:cs typeface="Noto Sans Arabic"/>
                <a:sym typeface="Noto Sans Arabic"/>
              </a:rPr>
              <a:t>,000</a:t>
            </a:r>
            <a:endParaRPr sz="1100" b="0" i="0" u="none" strike="noStrike" cap="none" dirty="0">
              <a:solidFill>
                <a:schemeClr val="dk1"/>
              </a:solidFill>
              <a:latin typeface="Calibri"/>
              <a:ea typeface="Calibri"/>
              <a:cs typeface="Calibri"/>
              <a:sym typeface="Calibri"/>
            </a:endParaRPr>
          </a:p>
        </p:txBody>
      </p:sp>
      <p:sp>
        <p:nvSpPr>
          <p:cNvPr id="613" name="Google Shape;613;p41"/>
          <p:cNvSpPr/>
          <p:nvPr/>
        </p:nvSpPr>
        <p:spPr>
          <a:xfrm>
            <a:off x="1726932" y="3204307"/>
            <a:ext cx="1743000" cy="97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600"/>
              <a:buFont typeface="Noto Sans Arabic"/>
              <a:buNone/>
            </a:pPr>
            <a:r>
              <a:rPr lang="en" sz="600" b="1" i="0" u="none" strike="noStrike" cap="none">
                <a:solidFill>
                  <a:srgbClr val="777777"/>
                </a:solidFill>
                <a:latin typeface="Noto Sans Arabic"/>
                <a:ea typeface="Noto Sans Arabic"/>
                <a:cs typeface="Noto Sans Arabic"/>
                <a:sym typeface="Noto Sans Arabic"/>
              </a:rPr>
              <a:t>PROJECTED B2B LEADS</a:t>
            </a:r>
            <a:endParaRPr sz="600" b="0" i="0" u="none" strike="noStrike" cap="none">
              <a:solidFill>
                <a:schemeClr val="dk1"/>
              </a:solidFill>
              <a:latin typeface="Calibri"/>
              <a:ea typeface="Calibri"/>
              <a:cs typeface="Calibri"/>
              <a:sym typeface="Calibri"/>
            </a:endParaRPr>
          </a:p>
        </p:txBody>
      </p:sp>
      <p:sp>
        <p:nvSpPr>
          <p:cNvPr id="614" name="Google Shape;614;p41"/>
          <p:cNvSpPr/>
          <p:nvPr/>
        </p:nvSpPr>
        <p:spPr>
          <a:xfrm>
            <a:off x="1818350" y="3456347"/>
            <a:ext cx="1843200" cy="15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1100"/>
              <a:buFont typeface="Noto Sans Arabic"/>
              <a:buNone/>
            </a:pPr>
            <a:r>
              <a:rPr lang="en" sz="1100" b="1" dirty="0">
                <a:solidFill>
                  <a:srgbClr val="27A770"/>
                </a:solidFill>
                <a:latin typeface="Noto Sans Arabic"/>
                <a:ea typeface="Noto Sans Arabic"/>
                <a:cs typeface="Noto Sans Arabic"/>
                <a:sym typeface="Noto Sans Arabic"/>
              </a:rPr>
              <a:t>30</a:t>
            </a:r>
            <a:r>
              <a:rPr lang="en" sz="1100" b="1" i="0" u="none" strike="noStrike" cap="none" dirty="0">
                <a:solidFill>
                  <a:srgbClr val="27A770"/>
                </a:solidFill>
                <a:latin typeface="Noto Sans Arabic"/>
                <a:ea typeface="Noto Sans Arabic"/>
                <a:cs typeface="Noto Sans Arabic"/>
                <a:sym typeface="Noto Sans Arabic"/>
              </a:rPr>
              <a:t>+ Leads</a:t>
            </a:r>
            <a:endParaRPr sz="1100" b="0" i="0" u="none" strike="noStrike" cap="none" dirty="0">
              <a:solidFill>
                <a:schemeClr val="dk1"/>
              </a:solidFill>
              <a:latin typeface="Calibri"/>
              <a:ea typeface="Calibri"/>
              <a:cs typeface="Calibri"/>
              <a:sym typeface="Calibri"/>
            </a:endParaRPr>
          </a:p>
        </p:txBody>
      </p:sp>
      <p:sp>
        <p:nvSpPr>
          <p:cNvPr id="615" name="Google Shape;615;p41"/>
          <p:cNvSpPr/>
          <p:nvPr/>
        </p:nvSpPr>
        <p:spPr>
          <a:xfrm>
            <a:off x="3628844" y="1789844"/>
            <a:ext cx="2841900" cy="17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000"/>
              <a:buFont typeface="Noto Sans Arabic"/>
              <a:buNone/>
            </a:pPr>
            <a:r>
              <a:rPr lang="en" sz="1000" b="1" i="0" u="none" strike="noStrike" cap="none" dirty="0">
                <a:solidFill>
                  <a:srgbClr val="0D1B3E"/>
                </a:solidFill>
                <a:latin typeface="Noto Sans Arabic"/>
                <a:ea typeface="Noto Sans Arabic"/>
                <a:cs typeface="Noto Sans Arabic"/>
                <a:sym typeface="Noto Sans Arabic"/>
              </a:rPr>
              <a:t>Hospitality</a:t>
            </a:r>
            <a:endParaRPr sz="1000" b="0" i="0" u="none" strike="noStrike" cap="none" dirty="0">
              <a:solidFill>
                <a:schemeClr val="dk1"/>
              </a:solidFill>
              <a:latin typeface="Calibri"/>
              <a:ea typeface="Calibri"/>
              <a:cs typeface="Calibri"/>
              <a:sym typeface="Calibri"/>
            </a:endParaRPr>
          </a:p>
        </p:txBody>
      </p:sp>
      <p:sp>
        <p:nvSpPr>
          <p:cNvPr id="616" name="Google Shape;616;p41"/>
          <p:cNvSpPr/>
          <p:nvPr/>
        </p:nvSpPr>
        <p:spPr>
          <a:xfrm>
            <a:off x="3473468" y="2160203"/>
            <a:ext cx="1257300" cy="118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617" name="Google Shape;617;p41"/>
          <p:cNvSpPr/>
          <p:nvPr/>
        </p:nvSpPr>
        <p:spPr>
          <a:xfrm>
            <a:off x="3473468" y="2329979"/>
            <a:ext cx="1137300" cy="10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800"/>
              <a:buFont typeface="Noto Sans Arabic"/>
              <a:buNone/>
            </a:pPr>
            <a:r>
              <a:rPr lang="en" sz="800" b="0" i="0" u="none" strike="noStrike" cap="none">
                <a:solidFill>
                  <a:srgbClr val="777777"/>
                </a:solidFill>
                <a:latin typeface="Noto Sans Arabic"/>
                <a:ea typeface="Noto Sans Arabic"/>
                <a:cs typeface="Noto Sans Arabic"/>
                <a:sym typeface="Noto Sans Arabic"/>
              </a:rPr>
              <a:t>Perf. Max</a:t>
            </a:r>
            <a:endParaRPr sz="800" b="0" i="0" u="none" strike="noStrike" cap="none">
              <a:solidFill>
                <a:schemeClr val="dk1"/>
              </a:solidFill>
              <a:latin typeface="Calibri"/>
              <a:ea typeface="Calibri"/>
              <a:cs typeface="Calibri"/>
              <a:sym typeface="Calibri"/>
            </a:endParaRPr>
          </a:p>
        </p:txBody>
      </p:sp>
      <p:sp>
        <p:nvSpPr>
          <p:cNvPr id="618" name="Google Shape;618;p41"/>
          <p:cNvSpPr/>
          <p:nvPr/>
        </p:nvSpPr>
        <p:spPr>
          <a:xfrm>
            <a:off x="4424368" y="2160203"/>
            <a:ext cx="1457400" cy="118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6000</a:t>
            </a:r>
            <a:endParaRPr sz="800" b="0" i="0" u="none" strike="noStrike" cap="none" dirty="0">
              <a:solidFill>
                <a:schemeClr val="dk1"/>
              </a:solidFill>
              <a:latin typeface="Calibri"/>
              <a:ea typeface="Calibri"/>
              <a:cs typeface="Calibri"/>
              <a:sym typeface="Calibri"/>
            </a:endParaRPr>
          </a:p>
        </p:txBody>
      </p:sp>
      <p:sp>
        <p:nvSpPr>
          <p:cNvPr id="619" name="Google Shape;619;p41"/>
          <p:cNvSpPr/>
          <p:nvPr/>
        </p:nvSpPr>
        <p:spPr>
          <a:xfrm>
            <a:off x="4424368" y="2329979"/>
            <a:ext cx="14574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800"/>
              <a:buFont typeface="Noto Sans Arabic"/>
              <a:buNone/>
            </a:pPr>
            <a:r>
              <a:rPr lang="en" sz="800" b="1" i="0" u="none" strike="noStrike" cap="none" dirty="0">
                <a:solidFill>
                  <a:srgbClr val="0D1B3E"/>
                </a:solidFill>
                <a:latin typeface="Noto Sans Arabic"/>
                <a:ea typeface="Noto Sans Arabic"/>
                <a:cs typeface="Noto Sans Arabic"/>
                <a:sym typeface="Noto Sans Arabic"/>
              </a:rPr>
              <a:t>SAR </a:t>
            </a:r>
            <a:r>
              <a:rPr lang="en" sz="800" b="1" dirty="0">
                <a:solidFill>
                  <a:srgbClr val="0D1B3E"/>
                </a:solidFill>
                <a:latin typeface="Noto Sans Arabic"/>
                <a:ea typeface="Noto Sans Arabic"/>
                <a:cs typeface="Noto Sans Arabic"/>
                <a:sym typeface="Noto Sans Arabic"/>
              </a:rPr>
              <a:t>2000</a:t>
            </a:r>
            <a:endParaRPr sz="800" b="0" i="0" u="none" strike="noStrike" cap="none" dirty="0">
              <a:solidFill>
                <a:schemeClr val="dk1"/>
              </a:solidFill>
              <a:latin typeface="Calibri"/>
              <a:ea typeface="Calibri"/>
              <a:cs typeface="Calibri"/>
              <a:sym typeface="Calibri"/>
            </a:endParaRPr>
          </a:p>
        </p:txBody>
      </p:sp>
      <p:sp>
        <p:nvSpPr>
          <p:cNvPr id="620" name="Google Shape;620;p41"/>
          <p:cNvSpPr/>
          <p:nvPr/>
        </p:nvSpPr>
        <p:spPr>
          <a:xfrm>
            <a:off x="3811791" y="2844328"/>
            <a:ext cx="2071800" cy="17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3E"/>
              </a:buClr>
              <a:buSzPts val="1100"/>
              <a:buFont typeface="Noto Sans Arabic"/>
              <a:buNone/>
            </a:pPr>
            <a:r>
              <a:rPr lang="en" sz="1100" b="1" i="0" u="none" strike="noStrike" cap="none" dirty="0">
                <a:solidFill>
                  <a:srgbClr val="0D1B3E"/>
                </a:solidFill>
                <a:latin typeface="Noto Sans Arabic"/>
                <a:ea typeface="Noto Sans Arabic"/>
                <a:cs typeface="Noto Sans Arabic"/>
                <a:sym typeface="Noto Sans Arabic"/>
              </a:rPr>
              <a:t>SAR </a:t>
            </a:r>
            <a:r>
              <a:rPr lang="en" sz="1100" b="1" dirty="0">
                <a:solidFill>
                  <a:srgbClr val="0D1B3E"/>
                </a:solidFill>
                <a:latin typeface="Noto Sans Arabic"/>
                <a:ea typeface="Noto Sans Arabic"/>
                <a:cs typeface="Noto Sans Arabic"/>
                <a:sym typeface="Noto Sans Arabic"/>
              </a:rPr>
              <a:t>8</a:t>
            </a:r>
            <a:r>
              <a:rPr lang="en" sz="1100" b="1" i="0" u="none" strike="noStrike" cap="none" dirty="0">
                <a:solidFill>
                  <a:srgbClr val="0D1B3E"/>
                </a:solidFill>
                <a:latin typeface="Noto Sans Arabic"/>
                <a:ea typeface="Noto Sans Arabic"/>
                <a:cs typeface="Noto Sans Arabic"/>
                <a:sym typeface="Noto Sans Arabic"/>
              </a:rPr>
              <a:t>,000</a:t>
            </a:r>
            <a:endParaRPr sz="1100" b="0" i="0" u="none" strike="noStrike" cap="none" dirty="0">
              <a:solidFill>
                <a:schemeClr val="dk1"/>
              </a:solidFill>
              <a:latin typeface="Calibri"/>
              <a:ea typeface="Calibri"/>
              <a:cs typeface="Calibri"/>
              <a:sym typeface="Calibri"/>
            </a:endParaRPr>
          </a:p>
        </p:txBody>
      </p:sp>
      <p:sp>
        <p:nvSpPr>
          <p:cNvPr id="621" name="Google Shape;621;p41"/>
          <p:cNvSpPr/>
          <p:nvPr/>
        </p:nvSpPr>
        <p:spPr>
          <a:xfrm>
            <a:off x="3747721" y="3204307"/>
            <a:ext cx="1743000" cy="92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77777"/>
              </a:buClr>
              <a:buSzPts val="600"/>
              <a:buFont typeface="Noto Sans Arabic"/>
              <a:buNone/>
            </a:pPr>
            <a:r>
              <a:rPr lang="en" sz="600" b="1" i="0" u="none" strike="noStrike" cap="none">
                <a:solidFill>
                  <a:srgbClr val="777777"/>
                </a:solidFill>
                <a:latin typeface="Noto Sans Arabic"/>
                <a:ea typeface="Noto Sans Arabic"/>
                <a:cs typeface="Noto Sans Arabic"/>
                <a:sym typeface="Noto Sans Arabic"/>
              </a:rPr>
              <a:t>PROJECTED B2B LEADS</a:t>
            </a:r>
            <a:endParaRPr sz="600" b="0" i="0" u="none" strike="noStrike" cap="none">
              <a:solidFill>
                <a:schemeClr val="dk1"/>
              </a:solidFill>
              <a:latin typeface="Calibri"/>
              <a:ea typeface="Calibri"/>
              <a:cs typeface="Calibri"/>
              <a:sym typeface="Calibri"/>
            </a:endParaRPr>
          </a:p>
        </p:txBody>
      </p:sp>
      <p:sp>
        <p:nvSpPr>
          <p:cNvPr id="622" name="Google Shape;622;p41"/>
          <p:cNvSpPr/>
          <p:nvPr/>
        </p:nvSpPr>
        <p:spPr>
          <a:xfrm>
            <a:off x="3839138" y="3456347"/>
            <a:ext cx="1843200" cy="15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1100"/>
              <a:buFont typeface="Noto Sans Arabic"/>
              <a:buNone/>
            </a:pPr>
            <a:r>
              <a:rPr lang="en" sz="1100" b="1" dirty="0">
                <a:solidFill>
                  <a:srgbClr val="27A770"/>
                </a:solidFill>
                <a:latin typeface="Noto Sans Arabic"/>
                <a:ea typeface="Noto Sans Arabic"/>
                <a:cs typeface="Noto Sans Arabic"/>
                <a:sym typeface="Noto Sans Arabic"/>
              </a:rPr>
              <a:t>30</a:t>
            </a:r>
            <a:r>
              <a:rPr lang="en" sz="1100" b="1" i="0" u="none" strike="noStrike" cap="none" dirty="0">
                <a:solidFill>
                  <a:srgbClr val="27A770"/>
                </a:solidFill>
                <a:latin typeface="Noto Sans Arabic"/>
                <a:ea typeface="Noto Sans Arabic"/>
                <a:cs typeface="Noto Sans Arabic"/>
                <a:sym typeface="Noto Sans Arabic"/>
              </a:rPr>
              <a:t>+ Leads</a:t>
            </a:r>
            <a:endParaRPr sz="1100" b="0" i="0" u="none" strike="noStrike" cap="none" dirty="0">
              <a:solidFill>
                <a:schemeClr val="dk1"/>
              </a:solidFill>
              <a:latin typeface="Calibri"/>
              <a:ea typeface="Calibri"/>
              <a:cs typeface="Calibri"/>
              <a:sym typeface="Calibri"/>
            </a:endParaRPr>
          </a:p>
        </p:txBody>
      </p:sp>
      <p:sp>
        <p:nvSpPr>
          <p:cNvPr id="631" name="Google Shape;631;p41"/>
          <p:cNvSpPr/>
          <p:nvPr/>
        </p:nvSpPr>
        <p:spPr>
          <a:xfrm>
            <a:off x="3240037" y="3908971"/>
            <a:ext cx="13431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Search Ads</a:t>
            </a:r>
            <a:endParaRPr sz="800" b="0" i="0" u="none" strike="noStrike" cap="none">
              <a:solidFill>
                <a:schemeClr val="dk1"/>
              </a:solidFill>
              <a:latin typeface="Calibri"/>
              <a:ea typeface="Calibri"/>
              <a:cs typeface="Calibri"/>
              <a:sym typeface="Calibri"/>
            </a:endParaRPr>
          </a:p>
        </p:txBody>
      </p:sp>
      <p:sp>
        <p:nvSpPr>
          <p:cNvPr id="632" name="Google Shape;632;p41"/>
          <p:cNvSpPr/>
          <p:nvPr/>
        </p:nvSpPr>
        <p:spPr>
          <a:xfrm>
            <a:off x="4842967" y="3908971"/>
            <a:ext cx="1986000" cy="113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Performance Max</a:t>
            </a:r>
            <a:endParaRPr sz="800" b="0" i="0" u="none" strike="noStrike" cap="none">
              <a:solidFill>
                <a:schemeClr val="dk1"/>
              </a:solidFill>
              <a:latin typeface="Calibri"/>
              <a:ea typeface="Calibri"/>
              <a:cs typeface="Calibri"/>
              <a:sym typeface="Calibri"/>
            </a:endParaRPr>
          </a:p>
        </p:txBody>
      </p:sp>
      <p:sp>
        <p:nvSpPr>
          <p:cNvPr id="633" name="Google Shape;633;p41"/>
          <p:cNvSpPr/>
          <p:nvPr/>
        </p:nvSpPr>
        <p:spPr>
          <a:xfrm>
            <a:off x="1325835" y="4253657"/>
            <a:ext cx="1977390"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SEARCH ADS TOTAL</a:t>
            </a:r>
            <a:endParaRPr sz="800" b="0" i="0" u="none" strike="noStrike" cap="none">
              <a:solidFill>
                <a:schemeClr val="dk1"/>
              </a:solidFill>
              <a:latin typeface="Calibri"/>
              <a:ea typeface="Calibri"/>
              <a:cs typeface="Calibri"/>
              <a:sym typeface="Calibri"/>
            </a:endParaRPr>
          </a:p>
        </p:txBody>
      </p:sp>
      <p:sp>
        <p:nvSpPr>
          <p:cNvPr id="634" name="Google Shape;634;p41"/>
          <p:cNvSpPr/>
          <p:nvPr/>
        </p:nvSpPr>
        <p:spPr>
          <a:xfrm>
            <a:off x="1143000" y="4454240"/>
            <a:ext cx="4007644" cy="28284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900"/>
              <a:buFont typeface="Noto Sans Arabic"/>
              <a:buNone/>
            </a:pPr>
            <a:r>
              <a:rPr lang="en" sz="1900" b="1" i="0" u="none" strike="noStrike" cap="none" dirty="0">
                <a:solidFill>
                  <a:srgbClr val="FFFFFF"/>
                </a:solidFill>
                <a:latin typeface="Noto Sans Arabic"/>
                <a:ea typeface="Noto Sans Arabic"/>
                <a:cs typeface="Noto Sans Arabic"/>
                <a:sym typeface="Noto Sans Arabic"/>
              </a:rPr>
              <a:t>SAR </a:t>
            </a:r>
            <a:r>
              <a:rPr lang="en" sz="1900" b="1" dirty="0">
                <a:solidFill>
                  <a:srgbClr val="FFFFFF"/>
                </a:solidFill>
                <a:latin typeface="Noto Sans Arabic"/>
                <a:ea typeface="Noto Sans Arabic"/>
                <a:cs typeface="Noto Sans Arabic"/>
                <a:sym typeface="Noto Sans Arabic"/>
              </a:rPr>
              <a:t>12000</a:t>
            </a:r>
            <a:endParaRPr sz="1900" b="0" i="0" u="none" strike="noStrike" cap="none" dirty="0">
              <a:solidFill>
                <a:schemeClr val="dk1"/>
              </a:solidFill>
              <a:latin typeface="Calibri"/>
              <a:ea typeface="Calibri"/>
              <a:cs typeface="Calibri"/>
              <a:sym typeface="Calibri"/>
            </a:endParaRPr>
          </a:p>
        </p:txBody>
      </p:sp>
      <p:sp>
        <p:nvSpPr>
          <p:cNvPr id="636" name="Google Shape;636;p41"/>
          <p:cNvSpPr/>
          <p:nvPr/>
        </p:nvSpPr>
        <p:spPr>
          <a:xfrm>
            <a:off x="3675794" y="4253657"/>
            <a:ext cx="2577465"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PERFORMANCE MAX TOTAL</a:t>
            </a:r>
            <a:endParaRPr sz="800" b="0" i="0" u="none" strike="noStrike" cap="none">
              <a:solidFill>
                <a:schemeClr val="dk1"/>
              </a:solidFill>
              <a:latin typeface="Calibri"/>
              <a:ea typeface="Calibri"/>
              <a:cs typeface="Calibri"/>
              <a:sym typeface="Calibri"/>
            </a:endParaRPr>
          </a:p>
        </p:txBody>
      </p:sp>
      <p:sp>
        <p:nvSpPr>
          <p:cNvPr id="637" name="Google Shape;637;p41"/>
          <p:cNvSpPr/>
          <p:nvPr/>
        </p:nvSpPr>
        <p:spPr>
          <a:xfrm>
            <a:off x="3749018" y="4454240"/>
            <a:ext cx="3521869" cy="28284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900"/>
              <a:buFont typeface="Noto Sans Arabic"/>
              <a:buNone/>
            </a:pPr>
            <a:r>
              <a:rPr lang="en" sz="1900" b="1" i="0" u="none" strike="noStrike" cap="none" dirty="0">
                <a:solidFill>
                  <a:srgbClr val="FFFFFF"/>
                </a:solidFill>
                <a:latin typeface="Noto Sans Arabic"/>
                <a:ea typeface="Noto Sans Arabic"/>
                <a:cs typeface="Noto Sans Arabic"/>
                <a:sym typeface="Noto Sans Arabic"/>
              </a:rPr>
              <a:t>SAR </a:t>
            </a:r>
            <a:r>
              <a:rPr lang="en" sz="1900" b="1" dirty="0">
                <a:solidFill>
                  <a:srgbClr val="FFFFFF"/>
                </a:solidFill>
                <a:latin typeface="Noto Sans Arabic"/>
                <a:ea typeface="Noto Sans Arabic"/>
                <a:cs typeface="Noto Sans Arabic"/>
                <a:sym typeface="Noto Sans Arabic"/>
              </a:rPr>
              <a:t>4000</a:t>
            </a:r>
            <a:endParaRPr sz="1900" b="0" i="0" u="none" strike="noStrike" cap="none" dirty="0">
              <a:solidFill>
                <a:schemeClr val="dk1"/>
              </a:solidFill>
              <a:latin typeface="Calibri"/>
              <a:ea typeface="Calibri"/>
              <a:cs typeface="Calibri"/>
              <a:sym typeface="Calibri"/>
            </a:endParaRPr>
          </a:p>
        </p:txBody>
      </p:sp>
      <p:sp>
        <p:nvSpPr>
          <p:cNvPr id="639" name="Google Shape;639;p41"/>
          <p:cNvSpPr/>
          <p:nvPr/>
        </p:nvSpPr>
        <p:spPr>
          <a:xfrm>
            <a:off x="6483065" y="4253657"/>
            <a:ext cx="1977390" cy="12334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800"/>
              <a:buFont typeface="Noto Sans Arabic"/>
              <a:buNone/>
            </a:pPr>
            <a:r>
              <a:rPr lang="en" sz="800" b="1" i="0" u="none" strike="noStrike" cap="none">
                <a:solidFill>
                  <a:srgbClr val="FFFFFF"/>
                </a:solidFill>
                <a:latin typeface="Noto Sans Arabic"/>
                <a:ea typeface="Noto Sans Arabic"/>
                <a:cs typeface="Noto Sans Arabic"/>
                <a:sym typeface="Noto Sans Arabic"/>
              </a:rPr>
              <a:t>TOTAL INVESTMENT</a:t>
            </a:r>
            <a:endParaRPr sz="800" b="0" i="0" u="none" strike="noStrike" cap="none">
              <a:solidFill>
                <a:schemeClr val="dk1"/>
              </a:solidFill>
              <a:latin typeface="Calibri"/>
              <a:ea typeface="Calibri"/>
              <a:cs typeface="Calibri"/>
              <a:sym typeface="Calibri"/>
            </a:endParaRPr>
          </a:p>
        </p:txBody>
      </p:sp>
      <p:sp>
        <p:nvSpPr>
          <p:cNvPr id="640" name="Google Shape;640;p41"/>
          <p:cNvSpPr/>
          <p:nvPr/>
        </p:nvSpPr>
        <p:spPr>
          <a:xfrm>
            <a:off x="6272771" y="4454240"/>
            <a:ext cx="2871230" cy="28284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1900"/>
              <a:buFont typeface="Noto Sans Arabic"/>
              <a:buNone/>
            </a:pPr>
            <a:r>
              <a:rPr lang="en" sz="1900" b="1" i="0" u="none" strike="noStrike" cap="none" dirty="0">
                <a:solidFill>
                  <a:srgbClr val="27A770"/>
                </a:solidFill>
                <a:latin typeface="Noto Sans Arabic"/>
                <a:ea typeface="Noto Sans Arabic"/>
                <a:cs typeface="Noto Sans Arabic"/>
                <a:sym typeface="Noto Sans Arabic"/>
              </a:rPr>
              <a:t>SAR </a:t>
            </a:r>
            <a:r>
              <a:rPr lang="en" sz="1900" b="1" dirty="0">
                <a:solidFill>
                  <a:srgbClr val="27A770"/>
                </a:solidFill>
                <a:latin typeface="Noto Sans Arabic"/>
                <a:ea typeface="Noto Sans Arabic"/>
                <a:cs typeface="Noto Sans Arabic"/>
                <a:sym typeface="Noto Sans Arabic"/>
              </a:rPr>
              <a:t>16000</a:t>
            </a:r>
            <a:endParaRPr sz="1900" b="0" i="0" u="none" strike="noStrike" cap="none" dirty="0">
              <a:solidFill>
                <a:schemeClr val="dk1"/>
              </a:solidFill>
              <a:latin typeface="Calibri"/>
              <a:ea typeface="Calibri"/>
              <a:cs typeface="Calibri"/>
              <a:sym typeface="Calibri"/>
            </a:endParaRPr>
          </a:p>
        </p:txBody>
      </p:sp>
      <p:sp>
        <p:nvSpPr>
          <p:cNvPr id="641" name="Google Shape;641;p41"/>
          <p:cNvSpPr/>
          <p:nvPr/>
        </p:nvSpPr>
        <p:spPr>
          <a:xfrm>
            <a:off x="6300118" y="4783410"/>
            <a:ext cx="2843882" cy="14399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770"/>
              </a:buClr>
              <a:buSzPts val="800"/>
              <a:buFont typeface="Noto Sans Arabic"/>
              <a:buNone/>
            </a:pPr>
            <a:r>
              <a:rPr lang="en" sz="800" dirty="0">
                <a:solidFill>
                  <a:srgbClr val="27A770"/>
                </a:solidFill>
                <a:latin typeface="Noto Sans Arabic"/>
                <a:ea typeface="Noto Sans Arabic"/>
                <a:cs typeface="Noto Sans Arabic"/>
                <a:sym typeface="Noto Sans Arabic"/>
              </a:rPr>
              <a:t>60</a:t>
            </a:r>
            <a:r>
              <a:rPr lang="en" sz="800" b="0" i="0" u="none" strike="noStrike" cap="none" dirty="0">
                <a:solidFill>
                  <a:srgbClr val="27A770"/>
                </a:solidFill>
                <a:latin typeface="Noto Sans Arabic"/>
                <a:ea typeface="Noto Sans Arabic"/>
                <a:cs typeface="Noto Sans Arabic"/>
                <a:sym typeface="Noto Sans Arabic"/>
              </a:rPr>
              <a:t>+ Projected B2B Leads</a:t>
            </a:r>
            <a:endParaRPr sz="8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70276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pic>
        <p:nvPicPr>
          <p:cNvPr id="647" name="Google Shape;647;p42"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648" name="Google Shape;648;p42" descr="preencoded.png"/>
          <p:cNvPicPr preferRelativeResize="0"/>
          <p:nvPr/>
        </p:nvPicPr>
        <p:blipFill rotWithShape="1">
          <a:blip r:embed="rId4">
            <a:alphaModFix/>
          </a:blip>
          <a:srcRect/>
          <a:stretch/>
        </p:blipFill>
        <p:spPr>
          <a:xfrm>
            <a:off x="6089824" y="4320518"/>
            <a:ext cx="475394" cy="442243"/>
          </a:xfrm>
          <a:prstGeom prst="rect">
            <a:avLst/>
          </a:prstGeom>
          <a:noFill/>
          <a:ln>
            <a:noFill/>
          </a:ln>
        </p:spPr>
      </p:pic>
      <p:pic>
        <p:nvPicPr>
          <p:cNvPr id="649" name="Google Shape;649;p42" descr="preencoded.png"/>
          <p:cNvPicPr preferRelativeResize="0"/>
          <p:nvPr/>
        </p:nvPicPr>
        <p:blipFill rotWithShape="1">
          <a:blip r:embed="rId5">
            <a:alphaModFix/>
          </a:blip>
          <a:srcRect/>
          <a:stretch/>
        </p:blipFill>
        <p:spPr>
          <a:xfrm>
            <a:off x="3502112" y="4305002"/>
            <a:ext cx="484547" cy="488566"/>
          </a:xfrm>
          <a:prstGeom prst="rect">
            <a:avLst/>
          </a:prstGeom>
          <a:noFill/>
          <a:ln>
            <a:noFill/>
          </a:ln>
        </p:spPr>
      </p:pic>
      <p:pic>
        <p:nvPicPr>
          <p:cNvPr id="650" name="Google Shape;650;p42" descr="preencoded.png"/>
          <p:cNvPicPr preferRelativeResize="0"/>
          <p:nvPr/>
        </p:nvPicPr>
        <p:blipFill rotWithShape="1">
          <a:blip r:embed="rId6">
            <a:alphaModFix/>
          </a:blip>
          <a:srcRect/>
          <a:stretch/>
        </p:blipFill>
        <p:spPr>
          <a:xfrm>
            <a:off x="777217" y="4341056"/>
            <a:ext cx="457200" cy="416570"/>
          </a:xfrm>
          <a:prstGeom prst="rect">
            <a:avLst/>
          </a:prstGeom>
          <a:noFill/>
          <a:ln>
            <a:noFill/>
          </a:ln>
        </p:spPr>
      </p:pic>
      <p:pic>
        <p:nvPicPr>
          <p:cNvPr id="651" name="Google Shape;651;p42" descr="preencoded.png"/>
          <p:cNvPicPr preferRelativeResize="0"/>
          <p:nvPr/>
        </p:nvPicPr>
        <p:blipFill rotWithShape="1">
          <a:blip r:embed="rId7">
            <a:alphaModFix/>
          </a:blip>
          <a:srcRect/>
          <a:stretch/>
        </p:blipFill>
        <p:spPr>
          <a:xfrm>
            <a:off x="7251130" y="1856705"/>
            <a:ext cx="768065" cy="534888"/>
          </a:xfrm>
          <a:prstGeom prst="rect">
            <a:avLst/>
          </a:prstGeom>
          <a:noFill/>
          <a:ln>
            <a:noFill/>
          </a:ln>
        </p:spPr>
      </p:pic>
      <p:pic>
        <p:nvPicPr>
          <p:cNvPr id="652" name="Google Shape;652;p42" descr="preencoded.png"/>
          <p:cNvPicPr preferRelativeResize="0"/>
          <p:nvPr/>
        </p:nvPicPr>
        <p:blipFill rotWithShape="1">
          <a:blip r:embed="rId8">
            <a:alphaModFix/>
          </a:blip>
          <a:srcRect/>
          <a:stretch/>
        </p:blipFill>
        <p:spPr>
          <a:xfrm>
            <a:off x="5230341" y="1831033"/>
            <a:ext cx="694841" cy="586346"/>
          </a:xfrm>
          <a:prstGeom prst="rect">
            <a:avLst/>
          </a:prstGeom>
          <a:noFill/>
          <a:ln>
            <a:noFill/>
          </a:ln>
        </p:spPr>
      </p:pic>
      <p:pic>
        <p:nvPicPr>
          <p:cNvPr id="653" name="Google Shape;653;p42" descr="preencoded.png"/>
          <p:cNvPicPr preferRelativeResize="0"/>
          <p:nvPr/>
        </p:nvPicPr>
        <p:blipFill rotWithShape="1">
          <a:blip r:embed="rId9">
            <a:alphaModFix/>
          </a:blip>
          <a:srcRect/>
          <a:stretch/>
        </p:blipFill>
        <p:spPr>
          <a:xfrm>
            <a:off x="3255206" y="1825897"/>
            <a:ext cx="585118" cy="575965"/>
          </a:xfrm>
          <a:prstGeom prst="rect">
            <a:avLst/>
          </a:prstGeom>
          <a:noFill/>
          <a:ln>
            <a:noFill/>
          </a:ln>
        </p:spPr>
      </p:pic>
      <p:pic>
        <p:nvPicPr>
          <p:cNvPr id="654" name="Google Shape;654;p42" descr="preencoded.png"/>
          <p:cNvPicPr preferRelativeResize="0"/>
          <p:nvPr/>
        </p:nvPicPr>
        <p:blipFill rotWithShape="1">
          <a:blip r:embed="rId10">
            <a:alphaModFix/>
          </a:blip>
          <a:srcRect/>
          <a:stretch/>
        </p:blipFill>
        <p:spPr>
          <a:xfrm>
            <a:off x="1161194" y="1831033"/>
            <a:ext cx="685800" cy="462892"/>
          </a:xfrm>
          <a:prstGeom prst="rect">
            <a:avLst/>
          </a:prstGeom>
          <a:noFill/>
          <a:ln>
            <a:noFill/>
          </a:ln>
        </p:spPr>
      </p:pic>
      <p:sp>
        <p:nvSpPr>
          <p:cNvPr id="655" name="Google Shape;655;p42"/>
          <p:cNvSpPr/>
          <p:nvPr/>
        </p:nvSpPr>
        <p:spPr>
          <a:xfrm>
            <a:off x="575965" y="293117"/>
            <a:ext cx="4076224" cy="13885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29063"/>
              </a:buClr>
              <a:buSzPts val="1000"/>
              <a:buFont typeface="Noto Sans Arabic"/>
              <a:buNone/>
            </a:pPr>
            <a:r>
              <a:rPr lang="en" sz="1000" b="1" i="0" u="none" strike="noStrike" cap="none">
                <a:solidFill>
                  <a:srgbClr val="129063"/>
                </a:solidFill>
                <a:latin typeface="Noto Sans Arabic"/>
                <a:ea typeface="Noto Sans Arabic"/>
                <a:cs typeface="Noto Sans Arabic"/>
                <a:sym typeface="Noto Sans Arabic"/>
              </a:rPr>
              <a:t>PERFORMANCE ACCOUNTABILITY</a:t>
            </a:r>
            <a:endParaRPr sz="1000" b="0" i="0" u="none" strike="noStrike" cap="none">
              <a:solidFill>
                <a:schemeClr val="dk1"/>
              </a:solidFill>
              <a:latin typeface="Calibri"/>
              <a:ea typeface="Calibri"/>
              <a:cs typeface="Calibri"/>
              <a:sym typeface="Calibri"/>
            </a:endParaRPr>
          </a:p>
        </p:txBody>
      </p:sp>
      <p:sp>
        <p:nvSpPr>
          <p:cNvPr id="656" name="Google Shape;656;p42"/>
          <p:cNvSpPr/>
          <p:nvPr/>
        </p:nvSpPr>
        <p:spPr>
          <a:xfrm>
            <a:off x="585118" y="545158"/>
            <a:ext cx="7710964" cy="32403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1A3F"/>
              </a:buClr>
              <a:buSzPts val="2400"/>
              <a:buFont typeface="Noto Sans Arabic"/>
              <a:buNone/>
            </a:pPr>
            <a:r>
              <a:rPr lang="en" sz="2400" b="1" i="0" u="none" strike="noStrike" cap="none">
                <a:solidFill>
                  <a:srgbClr val="001A3F"/>
                </a:solidFill>
                <a:latin typeface="Noto Sans Arabic"/>
                <a:ea typeface="Noto Sans Arabic"/>
                <a:cs typeface="Noto Sans Arabic"/>
                <a:sym typeface="Noto Sans Arabic"/>
              </a:rPr>
              <a:t>Measurement Framework</a:t>
            </a:r>
            <a:endParaRPr sz="2400" b="0" i="0" u="none" strike="noStrike" cap="none">
              <a:solidFill>
                <a:schemeClr val="dk1"/>
              </a:solidFill>
              <a:latin typeface="Calibri"/>
              <a:ea typeface="Calibri"/>
              <a:cs typeface="Calibri"/>
              <a:sym typeface="Calibri"/>
            </a:endParaRPr>
          </a:p>
        </p:txBody>
      </p:sp>
      <p:sp>
        <p:nvSpPr>
          <p:cNvPr id="657" name="Google Shape;657;p42"/>
          <p:cNvSpPr/>
          <p:nvPr/>
        </p:nvSpPr>
        <p:spPr>
          <a:xfrm>
            <a:off x="557771" y="1177826"/>
            <a:ext cx="8586229" cy="15939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900"/>
              <a:buFont typeface="Noto Sans Arabic"/>
              <a:buNone/>
            </a:pPr>
            <a:r>
              <a:rPr lang="en" sz="900" b="0" i="0" u="none" strike="noStrike" cap="none">
                <a:solidFill>
                  <a:srgbClr val="555555"/>
                </a:solidFill>
                <a:latin typeface="Noto Sans Arabic"/>
                <a:ea typeface="Noto Sans Arabic"/>
                <a:cs typeface="Noto Sans Arabic"/>
                <a:sym typeface="Noto Sans Arabic"/>
              </a:rPr>
              <a:t>Tracking what matters — lead quality, cost efficiency, and CRM-integrated conversion progress</a:t>
            </a:r>
            <a:endParaRPr sz="900" b="0" i="0" u="none" strike="noStrike" cap="none">
              <a:solidFill>
                <a:schemeClr val="dk1"/>
              </a:solidFill>
              <a:latin typeface="Calibri"/>
              <a:ea typeface="Calibri"/>
              <a:cs typeface="Calibri"/>
              <a:sym typeface="Calibri"/>
            </a:endParaRPr>
          </a:p>
        </p:txBody>
      </p:sp>
      <p:sp>
        <p:nvSpPr>
          <p:cNvPr id="658" name="Google Shape;658;p42"/>
          <p:cNvSpPr/>
          <p:nvPr/>
        </p:nvSpPr>
        <p:spPr>
          <a:xfrm>
            <a:off x="969206" y="2499643"/>
            <a:ext cx="1051471" cy="365113"/>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KPI 01</a:t>
            </a:r>
            <a:endParaRPr sz="1100" b="0" i="0" u="none" strike="noStrike" cap="none">
              <a:solidFill>
                <a:schemeClr val="dk1"/>
              </a:solidFill>
              <a:latin typeface="Calibri"/>
              <a:ea typeface="Calibri"/>
              <a:cs typeface="Calibri"/>
              <a:sym typeface="Calibri"/>
            </a:endParaRPr>
          </a:p>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Cost Per Lead</a:t>
            </a:r>
            <a:endParaRPr sz="1100" b="0" i="0" u="none" strike="noStrike" cap="none">
              <a:solidFill>
                <a:schemeClr val="dk1"/>
              </a:solidFill>
              <a:latin typeface="Calibri"/>
              <a:ea typeface="Calibri"/>
              <a:cs typeface="Calibri"/>
              <a:sym typeface="Calibri"/>
            </a:endParaRPr>
          </a:p>
        </p:txBody>
      </p:sp>
      <p:sp>
        <p:nvSpPr>
          <p:cNvPr id="659" name="Google Shape;659;p42"/>
          <p:cNvSpPr/>
          <p:nvPr/>
        </p:nvSpPr>
        <p:spPr>
          <a:xfrm>
            <a:off x="777217" y="3019127"/>
            <a:ext cx="1453865" cy="601749"/>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Tracked via Google Ads</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conversion tag on B2B inquiry</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form submissions and phone</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call button clicks</a:t>
            </a:r>
            <a:endParaRPr sz="800" b="0" i="0" u="none" strike="noStrike" cap="none">
              <a:solidFill>
                <a:schemeClr val="dk1"/>
              </a:solidFill>
              <a:latin typeface="Calibri"/>
              <a:ea typeface="Calibri"/>
              <a:cs typeface="Calibri"/>
              <a:sym typeface="Calibri"/>
            </a:endParaRPr>
          </a:p>
        </p:txBody>
      </p:sp>
      <p:sp>
        <p:nvSpPr>
          <p:cNvPr id="660" name="Google Shape;660;p42"/>
          <p:cNvSpPr/>
          <p:nvPr/>
        </p:nvSpPr>
        <p:spPr>
          <a:xfrm>
            <a:off x="1214996" y="3759845"/>
            <a:ext cx="587462" cy="11820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29063"/>
              </a:buClr>
              <a:buSzPts val="800"/>
              <a:buFont typeface="Noto Sans Arabic"/>
              <a:buNone/>
            </a:pPr>
            <a:r>
              <a:rPr lang="en" sz="800" b="1" i="0" u="none" strike="noStrike" cap="none">
                <a:solidFill>
                  <a:srgbClr val="129063"/>
                </a:solidFill>
                <a:latin typeface="Noto Sans Arabic"/>
                <a:ea typeface="Noto Sans Arabic"/>
                <a:cs typeface="Noto Sans Arabic"/>
                <a:sym typeface="Noto Sans Arabic"/>
              </a:rPr>
              <a:t>CPA / CPL</a:t>
            </a:r>
            <a:endParaRPr sz="800" b="0" i="0" u="none" strike="noStrike" cap="none">
              <a:solidFill>
                <a:schemeClr val="dk1"/>
              </a:solidFill>
              <a:latin typeface="Calibri"/>
              <a:ea typeface="Calibri"/>
              <a:cs typeface="Calibri"/>
              <a:sym typeface="Calibri"/>
            </a:endParaRPr>
          </a:p>
        </p:txBody>
      </p:sp>
      <p:sp>
        <p:nvSpPr>
          <p:cNvPr id="661" name="Google Shape;661;p42"/>
          <p:cNvSpPr/>
          <p:nvPr/>
        </p:nvSpPr>
        <p:spPr>
          <a:xfrm>
            <a:off x="2880271" y="2510024"/>
            <a:ext cx="1325835" cy="370247"/>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KPI 02</a:t>
            </a:r>
            <a:endParaRPr sz="1100" b="0" i="0" u="none" strike="noStrike" cap="none">
              <a:solidFill>
                <a:schemeClr val="dk1"/>
              </a:solidFill>
              <a:latin typeface="Calibri"/>
              <a:ea typeface="Calibri"/>
              <a:cs typeface="Calibri"/>
              <a:sym typeface="Calibri"/>
            </a:endParaRPr>
          </a:p>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Lead Quality Rate</a:t>
            </a:r>
            <a:endParaRPr sz="1100" b="0" i="0" u="none" strike="noStrike" cap="none">
              <a:solidFill>
                <a:schemeClr val="dk1"/>
              </a:solidFill>
              <a:latin typeface="Calibri"/>
              <a:ea typeface="Calibri"/>
              <a:cs typeface="Calibri"/>
              <a:sym typeface="Calibri"/>
            </a:endParaRPr>
          </a:p>
        </p:txBody>
      </p:sp>
      <p:sp>
        <p:nvSpPr>
          <p:cNvPr id="662" name="Google Shape;662;p42"/>
          <p:cNvSpPr/>
          <p:nvPr/>
        </p:nvSpPr>
        <p:spPr>
          <a:xfrm>
            <a:off x="2834618" y="3013993"/>
            <a:ext cx="1408100" cy="617153"/>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 of incoming leads that are</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legitimate corporate RFQs —</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not job seekers, students,</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or spam</a:t>
            </a:r>
            <a:endParaRPr sz="800" b="0" i="0" u="none" strike="noStrike" cap="none">
              <a:solidFill>
                <a:schemeClr val="dk1"/>
              </a:solidFill>
              <a:latin typeface="Calibri"/>
              <a:ea typeface="Calibri"/>
              <a:cs typeface="Calibri"/>
              <a:sym typeface="Calibri"/>
            </a:endParaRPr>
          </a:p>
        </p:txBody>
      </p:sp>
      <p:sp>
        <p:nvSpPr>
          <p:cNvPr id="663" name="Google Shape;663;p42"/>
          <p:cNvSpPr/>
          <p:nvPr/>
        </p:nvSpPr>
        <p:spPr>
          <a:xfrm>
            <a:off x="3144366" y="3759845"/>
            <a:ext cx="806909" cy="11820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29063"/>
              </a:buClr>
              <a:buSzPts val="800"/>
              <a:buFont typeface="Noto Sans Arabic"/>
              <a:buNone/>
            </a:pPr>
            <a:r>
              <a:rPr lang="en" sz="800" b="1" i="0" u="none" strike="noStrike" cap="none">
                <a:solidFill>
                  <a:srgbClr val="129063"/>
                </a:solidFill>
                <a:latin typeface="Noto Sans Arabic"/>
                <a:ea typeface="Noto Sans Arabic"/>
                <a:cs typeface="Noto Sans Arabic"/>
                <a:sym typeface="Noto Sans Arabic"/>
              </a:rPr>
              <a:t>B2B RFQ Filter</a:t>
            </a:r>
            <a:endParaRPr sz="800" b="0" i="0" u="none" strike="noStrike" cap="none">
              <a:solidFill>
                <a:schemeClr val="dk1"/>
              </a:solidFill>
              <a:latin typeface="Calibri"/>
              <a:ea typeface="Calibri"/>
              <a:cs typeface="Calibri"/>
              <a:sym typeface="Calibri"/>
            </a:endParaRPr>
          </a:p>
        </p:txBody>
      </p:sp>
      <p:sp>
        <p:nvSpPr>
          <p:cNvPr id="664" name="Google Shape;664;p42"/>
          <p:cNvSpPr/>
          <p:nvPr/>
        </p:nvSpPr>
        <p:spPr>
          <a:xfrm>
            <a:off x="4855406" y="2510024"/>
            <a:ext cx="1444711" cy="370247"/>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KPI 03</a:t>
            </a:r>
            <a:endParaRPr sz="1100" b="0" i="0" u="none" strike="noStrike" cap="none">
              <a:solidFill>
                <a:schemeClr val="dk1"/>
              </a:solidFill>
              <a:latin typeface="Calibri"/>
              <a:ea typeface="Calibri"/>
              <a:cs typeface="Calibri"/>
              <a:sym typeface="Calibri"/>
            </a:endParaRPr>
          </a:p>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Click-Through Rate</a:t>
            </a:r>
            <a:endParaRPr sz="1100" b="0" i="0" u="none" strike="noStrike" cap="none">
              <a:solidFill>
                <a:schemeClr val="dk1"/>
              </a:solidFill>
              <a:latin typeface="Calibri"/>
              <a:ea typeface="Calibri"/>
              <a:cs typeface="Calibri"/>
              <a:sym typeface="Calibri"/>
            </a:endParaRPr>
          </a:p>
        </p:txBody>
      </p:sp>
      <p:sp>
        <p:nvSpPr>
          <p:cNvPr id="665" name="Google Shape;665;p42"/>
          <p:cNvSpPr/>
          <p:nvPr/>
        </p:nvSpPr>
        <p:spPr>
          <a:xfrm>
            <a:off x="4864559" y="3013993"/>
            <a:ext cx="1426406" cy="606884"/>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B2B-specific ad copy CTR</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monitored to maintain strong</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Google Quality Scores and</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reduce CPC</a:t>
            </a:r>
            <a:endParaRPr sz="800" b="0" i="0" u="none" strike="noStrike" cap="none">
              <a:solidFill>
                <a:schemeClr val="dk1"/>
              </a:solidFill>
              <a:latin typeface="Calibri"/>
              <a:ea typeface="Calibri"/>
              <a:cs typeface="Calibri"/>
              <a:sym typeface="Calibri"/>
            </a:endParaRPr>
          </a:p>
        </p:txBody>
      </p:sp>
      <p:sp>
        <p:nvSpPr>
          <p:cNvPr id="666" name="Google Shape;666;p42"/>
          <p:cNvSpPr/>
          <p:nvPr/>
        </p:nvSpPr>
        <p:spPr>
          <a:xfrm>
            <a:off x="5037125" y="3759845"/>
            <a:ext cx="1081274" cy="118207"/>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29063"/>
              </a:buClr>
              <a:buSzPts val="800"/>
              <a:buFont typeface="Noto Sans Arabic"/>
              <a:buNone/>
            </a:pPr>
            <a:r>
              <a:rPr lang="en" sz="800" b="1" i="0" u="none" strike="noStrike" cap="none">
                <a:solidFill>
                  <a:srgbClr val="129063"/>
                </a:solidFill>
                <a:latin typeface="Noto Sans Arabic"/>
                <a:ea typeface="Noto Sans Arabic"/>
                <a:cs typeface="Noto Sans Arabic"/>
                <a:sym typeface="Noto Sans Arabic"/>
              </a:rPr>
              <a:t>Ad Relevance Score</a:t>
            </a:r>
            <a:endParaRPr sz="800" b="0" i="0" u="none" strike="noStrike" cap="none">
              <a:solidFill>
                <a:schemeClr val="dk1"/>
              </a:solidFill>
              <a:latin typeface="Calibri"/>
              <a:ea typeface="Calibri"/>
              <a:cs typeface="Calibri"/>
              <a:sym typeface="Calibri"/>
            </a:endParaRPr>
          </a:p>
        </p:txBody>
      </p:sp>
      <p:sp>
        <p:nvSpPr>
          <p:cNvPr id="667" name="Google Shape;667;p42"/>
          <p:cNvSpPr/>
          <p:nvPr/>
        </p:nvSpPr>
        <p:spPr>
          <a:xfrm>
            <a:off x="7095641" y="2510024"/>
            <a:ext cx="1014971" cy="370247"/>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KPI 04</a:t>
            </a:r>
            <a:endParaRPr sz="1100" b="0" i="0" u="none" strike="noStrike" cap="none">
              <a:solidFill>
                <a:schemeClr val="dk1"/>
              </a:solidFill>
              <a:latin typeface="Calibri"/>
              <a:ea typeface="Calibri"/>
              <a:cs typeface="Calibri"/>
              <a:sym typeface="Calibri"/>
            </a:endParaRPr>
          </a:p>
          <a:p>
            <a:pPr marL="0" marR="0" lvl="0" indent="0" algn="ctr" rtl="0">
              <a:lnSpc>
                <a:spcPct val="120000"/>
              </a:lnSpc>
              <a:spcBef>
                <a:spcPts val="0"/>
              </a:spcBef>
              <a:spcAft>
                <a:spcPts val="0"/>
              </a:spcAft>
              <a:buClr>
                <a:srgbClr val="001A3F"/>
              </a:buClr>
              <a:buSzPts val="1100"/>
              <a:buFont typeface="Noto Sans Arabic"/>
              <a:buNone/>
            </a:pPr>
            <a:r>
              <a:rPr lang="en" sz="1100" b="1" i="0" u="none" strike="noStrike" cap="none">
                <a:solidFill>
                  <a:srgbClr val="001A3F"/>
                </a:solidFill>
                <a:latin typeface="Noto Sans Arabic"/>
                <a:ea typeface="Noto Sans Arabic"/>
                <a:cs typeface="Noto Sans Arabic"/>
                <a:sym typeface="Noto Sans Arabic"/>
              </a:rPr>
              <a:t>CRM Tracking</a:t>
            </a:r>
            <a:endParaRPr sz="1100" b="0" i="0" u="none" strike="noStrike" cap="none">
              <a:solidFill>
                <a:schemeClr val="dk1"/>
              </a:solidFill>
              <a:latin typeface="Calibri"/>
              <a:ea typeface="Calibri"/>
              <a:cs typeface="Calibri"/>
              <a:sym typeface="Calibri"/>
            </a:endParaRPr>
          </a:p>
        </p:txBody>
      </p:sp>
      <p:sp>
        <p:nvSpPr>
          <p:cNvPr id="668" name="Google Shape;668;p42"/>
          <p:cNvSpPr/>
          <p:nvPr/>
        </p:nvSpPr>
        <p:spPr>
          <a:xfrm>
            <a:off x="6876194" y="3019127"/>
            <a:ext cx="1472171" cy="612019"/>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Every lead tracked from first</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click to deal closure — with</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sales feedback loops to refine</a:t>
            </a:r>
            <a:endParaRPr sz="800" b="0" i="0" u="none" strike="noStrike" cap="none">
              <a:solidFill>
                <a:schemeClr val="dk1"/>
              </a:solidFill>
              <a:latin typeface="Calibri"/>
              <a:ea typeface="Calibri"/>
              <a:cs typeface="Calibri"/>
              <a:sym typeface="Calibri"/>
            </a:endParaRPr>
          </a:p>
          <a:p>
            <a:pPr marL="0" marR="0" lvl="0" indent="0" algn="ctr"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targeting daily</a:t>
            </a:r>
            <a:endParaRPr sz="800" b="0" i="0" u="none" strike="noStrike" cap="none">
              <a:solidFill>
                <a:schemeClr val="dk1"/>
              </a:solidFill>
              <a:latin typeface="Calibri"/>
              <a:ea typeface="Calibri"/>
              <a:cs typeface="Calibri"/>
              <a:sym typeface="Calibri"/>
            </a:endParaRPr>
          </a:p>
        </p:txBody>
      </p:sp>
      <p:sp>
        <p:nvSpPr>
          <p:cNvPr id="669" name="Google Shape;669;p42"/>
          <p:cNvSpPr/>
          <p:nvPr/>
        </p:nvSpPr>
        <p:spPr>
          <a:xfrm>
            <a:off x="7003108" y="3759845"/>
            <a:ext cx="1218344" cy="12858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29063"/>
              </a:buClr>
              <a:buSzPts val="800"/>
              <a:buFont typeface="Noto Sans Arabic"/>
              <a:buNone/>
            </a:pPr>
            <a:r>
              <a:rPr lang="en" sz="800" b="1" i="0" u="none" strike="noStrike" cap="none">
                <a:solidFill>
                  <a:srgbClr val="129063"/>
                </a:solidFill>
                <a:latin typeface="Noto Sans Arabic"/>
                <a:ea typeface="Noto Sans Arabic"/>
                <a:cs typeface="Noto Sans Arabic"/>
                <a:sym typeface="Noto Sans Arabic"/>
              </a:rPr>
              <a:t>Lead-to-Close Pipeline</a:t>
            </a:r>
            <a:endParaRPr sz="800" b="0" i="0" u="none" strike="noStrike" cap="none">
              <a:solidFill>
                <a:schemeClr val="dk1"/>
              </a:solidFill>
              <a:latin typeface="Calibri"/>
              <a:ea typeface="Calibri"/>
              <a:cs typeface="Calibri"/>
              <a:sym typeface="Calibri"/>
            </a:endParaRPr>
          </a:p>
        </p:txBody>
      </p:sp>
      <p:sp>
        <p:nvSpPr>
          <p:cNvPr id="670" name="Google Shape;670;p42"/>
          <p:cNvSpPr/>
          <p:nvPr/>
        </p:nvSpPr>
        <p:spPr>
          <a:xfrm>
            <a:off x="1316683" y="4330787"/>
            <a:ext cx="1508671" cy="462893"/>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Separate lead volume from</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lead quality — quantity</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without quality wastes budget</a:t>
            </a:r>
            <a:endParaRPr sz="800" b="0" i="0" u="none" strike="noStrike" cap="none">
              <a:solidFill>
                <a:schemeClr val="dk1"/>
              </a:solidFill>
              <a:latin typeface="Calibri"/>
              <a:ea typeface="Calibri"/>
              <a:cs typeface="Calibri"/>
              <a:sym typeface="Calibri"/>
            </a:endParaRPr>
          </a:p>
        </p:txBody>
      </p:sp>
      <p:sp>
        <p:nvSpPr>
          <p:cNvPr id="671" name="Google Shape;671;p42"/>
          <p:cNvSpPr/>
          <p:nvPr/>
        </p:nvSpPr>
        <p:spPr>
          <a:xfrm>
            <a:off x="4078188" y="4330787"/>
            <a:ext cx="1353294" cy="452624"/>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Daily traffic and conversion</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monitoring by campaign</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and product line</a:t>
            </a:r>
            <a:endParaRPr sz="800" b="0" i="0" u="none" strike="noStrike" cap="none">
              <a:solidFill>
                <a:schemeClr val="dk1"/>
              </a:solidFill>
              <a:latin typeface="Calibri"/>
              <a:ea typeface="Calibri"/>
              <a:cs typeface="Calibri"/>
              <a:sym typeface="Calibri"/>
            </a:endParaRPr>
          </a:p>
        </p:txBody>
      </p:sp>
      <p:sp>
        <p:nvSpPr>
          <p:cNvPr id="672" name="Google Shape;672;p42"/>
          <p:cNvSpPr/>
          <p:nvPr/>
        </p:nvSpPr>
        <p:spPr>
          <a:xfrm>
            <a:off x="6675053" y="4330787"/>
            <a:ext cx="1499518" cy="442243"/>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Sales feedback to marketing</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daily — refine targeting based</a:t>
            </a:r>
            <a:endParaRPr sz="800" b="0" i="0" u="none" strike="noStrike" cap="none">
              <a:solidFill>
                <a:schemeClr val="dk1"/>
              </a:solidFill>
              <a:latin typeface="Calibri"/>
              <a:ea typeface="Calibri"/>
              <a:cs typeface="Calibri"/>
              <a:sym typeface="Calibri"/>
            </a:endParaRPr>
          </a:p>
          <a:p>
            <a:pPr marL="0" marR="0" lvl="0" indent="0" algn="l" rtl="0">
              <a:lnSpc>
                <a:spcPct val="130000"/>
              </a:lnSpc>
              <a:spcBef>
                <a:spcPts val="0"/>
              </a:spcBef>
              <a:spcAft>
                <a:spcPts val="0"/>
              </a:spcAft>
              <a:buClr>
                <a:srgbClr val="555555"/>
              </a:buClr>
              <a:buSzPts val="800"/>
              <a:buFont typeface="Noto Sans Arabic"/>
              <a:buNone/>
            </a:pPr>
            <a:r>
              <a:rPr lang="en" sz="800" b="0" i="0" u="none" strike="noStrike" cap="none">
                <a:solidFill>
                  <a:srgbClr val="555555"/>
                </a:solidFill>
                <a:latin typeface="Noto Sans Arabic"/>
                <a:ea typeface="Noto Sans Arabic"/>
                <a:cs typeface="Noto Sans Arabic"/>
                <a:sym typeface="Noto Sans Arabic"/>
              </a:rPr>
              <a:t>on real lead outcomes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43"/>
          <p:cNvSpPr/>
          <p:nvPr/>
        </p:nvSpPr>
        <p:spPr>
          <a:xfrm>
            <a:off x="0" y="0"/>
            <a:ext cx="9144000" cy="5143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78" name="Google Shape;678;p43"/>
          <p:cNvSpPr txBox="1"/>
          <p:nvPr/>
        </p:nvSpPr>
        <p:spPr>
          <a:xfrm>
            <a:off x="457200" y="228600"/>
            <a:ext cx="6000000" cy="20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100" b="1" i="0" u="none" strike="noStrike" cap="none">
                <a:solidFill>
                  <a:srgbClr val="00565B"/>
                </a:solidFill>
                <a:latin typeface="Calibri"/>
                <a:ea typeface="Calibri"/>
                <a:cs typeface="Calibri"/>
                <a:sym typeface="Calibri"/>
              </a:rPr>
              <a:t>GOOGLE ADS STRATEGY</a:t>
            </a:r>
            <a:endParaRPr/>
          </a:p>
        </p:txBody>
      </p:sp>
      <p:sp>
        <p:nvSpPr>
          <p:cNvPr id="679" name="Google Shape;679;p43"/>
          <p:cNvSpPr txBox="1"/>
          <p:nvPr/>
        </p:nvSpPr>
        <p:spPr>
          <a:xfrm>
            <a:off x="457200" y="420000"/>
            <a:ext cx="8229600" cy="48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2600" b="1" i="0" u="none" strike="noStrike" cap="none">
                <a:solidFill>
                  <a:srgbClr val="001F3F"/>
                </a:solidFill>
                <a:latin typeface="Calibri"/>
                <a:ea typeface="Calibri"/>
                <a:cs typeface="Calibri"/>
                <a:sym typeface="Calibri"/>
              </a:rPr>
              <a:t>Campaign Rollout Timeline</a:t>
            </a:r>
            <a:endParaRPr/>
          </a:p>
        </p:txBody>
      </p:sp>
      <p:sp>
        <p:nvSpPr>
          <p:cNvPr id="680" name="Google Shape;680;p43"/>
          <p:cNvSpPr txBox="1"/>
          <p:nvPr/>
        </p:nvSpPr>
        <p:spPr>
          <a:xfrm>
            <a:off x="457200" y="880000"/>
            <a:ext cx="8229600" cy="1846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200" b="0" i="1" u="none" strike="noStrike" cap="none">
                <a:solidFill>
                  <a:srgbClr val="666666"/>
                </a:solidFill>
                <a:latin typeface="Calibri"/>
                <a:ea typeface="Calibri"/>
                <a:cs typeface="Calibri"/>
                <a:sym typeface="Calibri"/>
              </a:rPr>
              <a:t>From launch to scale review — a 30-day path to the 76+ lead target</a:t>
            </a:r>
            <a:endParaRPr/>
          </a:p>
        </p:txBody>
      </p:sp>
      <p:sp>
        <p:nvSpPr>
          <p:cNvPr id="681" name="Google Shape;681;p43"/>
          <p:cNvSpPr/>
          <p:nvPr/>
        </p:nvSpPr>
        <p:spPr>
          <a:xfrm>
            <a:off x="457200" y="1300000"/>
            <a:ext cx="1937400" cy="2400000"/>
          </a:xfrm>
          <a:prstGeom prst="roundRect">
            <a:avLst>
              <a:gd name="adj" fmla="val 6000"/>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2" name="Google Shape;682;p43"/>
          <p:cNvSpPr/>
          <p:nvPr/>
        </p:nvSpPr>
        <p:spPr>
          <a:xfrm>
            <a:off x="587200" y="1430000"/>
            <a:ext cx="300000" cy="300000"/>
          </a:xfrm>
          <a:prstGeom prst="ellipse">
            <a:avLst/>
          </a:prstGeom>
          <a:solidFill>
            <a:srgbClr val="00565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FFFFFF"/>
                </a:solidFill>
                <a:latin typeface="Calibri"/>
                <a:ea typeface="Calibri"/>
                <a:cs typeface="Calibri"/>
                <a:sym typeface="Calibri"/>
              </a:rPr>
              <a:t>01</a:t>
            </a:r>
            <a:endParaRPr/>
          </a:p>
        </p:txBody>
      </p:sp>
      <p:sp>
        <p:nvSpPr>
          <p:cNvPr id="683" name="Google Shape;683;p43"/>
          <p:cNvSpPr txBox="1"/>
          <p:nvPr/>
        </p:nvSpPr>
        <p:spPr>
          <a:xfrm>
            <a:off x="607200" y="1780000"/>
            <a:ext cx="1637400" cy="1384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00" b="1" i="0" u="none" strike="noStrike" cap="none">
                <a:solidFill>
                  <a:srgbClr val="00565B"/>
                </a:solidFill>
                <a:latin typeface="Calibri"/>
                <a:ea typeface="Calibri"/>
                <a:cs typeface="Calibri"/>
                <a:sym typeface="Calibri"/>
              </a:rPr>
              <a:t>date</a:t>
            </a:r>
            <a:endParaRPr sz="900" b="1" i="0" u="none" strike="noStrike" cap="none">
              <a:solidFill>
                <a:srgbClr val="00565B"/>
              </a:solidFill>
              <a:latin typeface="Calibri"/>
              <a:ea typeface="Calibri"/>
              <a:cs typeface="Calibri"/>
              <a:sym typeface="Calibri"/>
            </a:endParaRPr>
          </a:p>
        </p:txBody>
      </p:sp>
      <p:sp>
        <p:nvSpPr>
          <p:cNvPr id="684" name="Google Shape;684;p43"/>
          <p:cNvSpPr txBox="1"/>
          <p:nvPr/>
        </p:nvSpPr>
        <p:spPr>
          <a:xfrm>
            <a:off x="607200" y="2040000"/>
            <a:ext cx="1637400" cy="32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400" b="1" i="0" u="none" strike="noStrike" cap="none">
                <a:solidFill>
                  <a:srgbClr val="001F3F"/>
                </a:solidFill>
                <a:latin typeface="Calibri"/>
                <a:ea typeface="Calibri"/>
                <a:cs typeface="Calibri"/>
                <a:sym typeface="Calibri"/>
              </a:rPr>
              <a:t>Setup &amp; Launch</a:t>
            </a:r>
            <a:endParaRPr/>
          </a:p>
        </p:txBody>
      </p:sp>
      <p:sp>
        <p:nvSpPr>
          <p:cNvPr id="685" name="Google Shape;685;p43"/>
          <p:cNvSpPr txBox="1"/>
          <p:nvPr/>
        </p:nvSpPr>
        <p:spPr>
          <a:xfrm>
            <a:off x="607200" y="2440000"/>
            <a:ext cx="1637400" cy="111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50" b="0" i="0" u="none" strike="noStrike" cap="none">
                <a:solidFill>
                  <a:srgbClr val="666666"/>
                </a:solidFill>
                <a:latin typeface="Calibri"/>
                <a:ea typeface="Calibri"/>
                <a:cs typeface="Calibri"/>
                <a:sym typeface="Calibri"/>
              </a:rPr>
              <a:t>• Account build &amp; conversion tracking live</a:t>
            </a:r>
            <a:endParaRPr/>
          </a:p>
          <a:p>
            <a:pPr marL="0" marR="0" lvl="0" indent="0" algn="l" rtl="0">
              <a:lnSpc>
                <a:spcPct val="100000"/>
              </a:lnSpc>
              <a:spcBef>
                <a:spcPts val="400"/>
              </a:spcBef>
              <a:spcAft>
                <a:spcPts val="0"/>
              </a:spcAft>
              <a:buNone/>
            </a:pPr>
            <a:r>
              <a:rPr lang="en" sz="950" b="0" i="0" u="none" strike="noStrike" cap="none">
                <a:solidFill>
                  <a:srgbClr val="666666"/>
                </a:solidFill>
                <a:latin typeface="Calibri"/>
                <a:ea typeface="Calibri"/>
                <a:cs typeface="Calibri"/>
                <a:sym typeface="Calibri"/>
              </a:rPr>
              <a:t>• Search + PMax launched per product</a:t>
            </a:r>
            <a:endParaRPr/>
          </a:p>
        </p:txBody>
      </p:sp>
      <p:sp>
        <p:nvSpPr>
          <p:cNvPr id="686" name="Google Shape;686;p43"/>
          <p:cNvSpPr/>
          <p:nvPr/>
        </p:nvSpPr>
        <p:spPr>
          <a:xfrm>
            <a:off x="2554600" y="1300000"/>
            <a:ext cx="1937400" cy="2400000"/>
          </a:xfrm>
          <a:prstGeom prst="roundRect">
            <a:avLst>
              <a:gd name="adj" fmla="val 6000"/>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7" name="Google Shape;687;p43"/>
          <p:cNvSpPr/>
          <p:nvPr/>
        </p:nvSpPr>
        <p:spPr>
          <a:xfrm>
            <a:off x="2684600" y="1430000"/>
            <a:ext cx="300000" cy="300000"/>
          </a:xfrm>
          <a:prstGeom prst="ellipse">
            <a:avLst/>
          </a:prstGeom>
          <a:solidFill>
            <a:srgbClr val="2D7D5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FFFFFF"/>
                </a:solidFill>
                <a:latin typeface="Calibri"/>
                <a:ea typeface="Calibri"/>
                <a:cs typeface="Calibri"/>
                <a:sym typeface="Calibri"/>
              </a:rPr>
              <a:t>02</a:t>
            </a:r>
            <a:endParaRPr/>
          </a:p>
        </p:txBody>
      </p:sp>
      <p:sp>
        <p:nvSpPr>
          <p:cNvPr id="688" name="Google Shape;688;p43"/>
          <p:cNvSpPr txBox="1"/>
          <p:nvPr/>
        </p:nvSpPr>
        <p:spPr>
          <a:xfrm>
            <a:off x="2704600" y="1780000"/>
            <a:ext cx="1637400" cy="1384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00" b="1" i="0" u="none" strike="noStrike" cap="none">
                <a:solidFill>
                  <a:srgbClr val="2D7D5F"/>
                </a:solidFill>
                <a:latin typeface="Calibri"/>
                <a:ea typeface="Calibri"/>
                <a:cs typeface="Calibri"/>
                <a:sym typeface="Calibri"/>
              </a:rPr>
              <a:t>date</a:t>
            </a:r>
            <a:endParaRPr sz="900" b="1" i="0" u="none" strike="noStrike" cap="none">
              <a:solidFill>
                <a:srgbClr val="2D7D5F"/>
              </a:solidFill>
              <a:latin typeface="Calibri"/>
              <a:ea typeface="Calibri"/>
              <a:cs typeface="Calibri"/>
              <a:sym typeface="Calibri"/>
            </a:endParaRPr>
          </a:p>
        </p:txBody>
      </p:sp>
      <p:sp>
        <p:nvSpPr>
          <p:cNvPr id="689" name="Google Shape;689;p43"/>
          <p:cNvSpPr txBox="1"/>
          <p:nvPr/>
        </p:nvSpPr>
        <p:spPr>
          <a:xfrm>
            <a:off x="2704600" y="2040000"/>
            <a:ext cx="1637400" cy="32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400" b="1" i="0" u="none" strike="noStrike" cap="none">
                <a:solidFill>
                  <a:srgbClr val="001F3F"/>
                </a:solidFill>
                <a:latin typeface="Calibri"/>
                <a:ea typeface="Calibri"/>
                <a:cs typeface="Calibri"/>
                <a:sym typeface="Calibri"/>
              </a:rPr>
              <a:t>Learning Phase</a:t>
            </a:r>
            <a:endParaRPr/>
          </a:p>
        </p:txBody>
      </p:sp>
      <p:sp>
        <p:nvSpPr>
          <p:cNvPr id="690" name="Google Shape;690;p43"/>
          <p:cNvSpPr txBox="1"/>
          <p:nvPr/>
        </p:nvSpPr>
        <p:spPr>
          <a:xfrm>
            <a:off x="2704600" y="2440000"/>
            <a:ext cx="1637400" cy="111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50" b="0" i="0" u="none" strike="noStrike" cap="none">
                <a:solidFill>
                  <a:srgbClr val="666666"/>
                </a:solidFill>
                <a:latin typeface="Calibri"/>
                <a:ea typeface="Calibri"/>
                <a:cs typeface="Calibri"/>
                <a:sym typeface="Calibri"/>
              </a:rPr>
              <a:t>• Algorithm exits learning phase</a:t>
            </a:r>
            <a:endParaRPr/>
          </a:p>
          <a:p>
            <a:pPr marL="0" marR="0" lvl="0" indent="0" algn="l" rtl="0">
              <a:lnSpc>
                <a:spcPct val="100000"/>
              </a:lnSpc>
              <a:spcBef>
                <a:spcPts val="400"/>
              </a:spcBef>
              <a:spcAft>
                <a:spcPts val="0"/>
              </a:spcAft>
              <a:buNone/>
            </a:pPr>
            <a:r>
              <a:rPr lang="en" sz="950" b="0" i="0" u="none" strike="noStrike" cap="none">
                <a:solidFill>
                  <a:srgbClr val="666666"/>
                </a:solidFill>
                <a:latin typeface="Calibri"/>
                <a:ea typeface="Calibri"/>
                <a:cs typeface="Calibri"/>
                <a:sym typeface="Calibri"/>
              </a:rPr>
              <a:t>• Daily search-term &amp; negative review</a:t>
            </a:r>
            <a:endParaRPr/>
          </a:p>
        </p:txBody>
      </p:sp>
      <p:sp>
        <p:nvSpPr>
          <p:cNvPr id="691" name="Google Shape;691;p43"/>
          <p:cNvSpPr/>
          <p:nvPr/>
        </p:nvSpPr>
        <p:spPr>
          <a:xfrm>
            <a:off x="4652000" y="1300000"/>
            <a:ext cx="1937400" cy="2400000"/>
          </a:xfrm>
          <a:prstGeom prst="roundRect">
            <a:avLst>
              <a:gd name="adj" fmla="val 6000"/>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2" name="Google Shape;692;p43"/>
          <p:cNvSpPr/>
          <p:nvPr/>
        </p:nvSpPr>
        <p:spPr>
          <a:xfrm>
            <a:off x="4782000" y="1430000"/>
            <a:ext cx="300000" cy="300000"/>
          </a:xfrm>
          <a:prstGeom prst="ellipse">
            <a:avLst/>
          </a:prstGeom>
          <a:solidFill>
            <a:srgbClr val="00565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FFFFFF"/>
                </a:solidFill>
                <a:latin typeface="Calibri"/>
                <a:ea typeface="Calibri"/>
                <a:cs typeface="Calibri"/>
                <a:sym typeface="Calibri"/>
              </a:rPr>
              <a:t>03</a:t>
            </a:r>
            <a:endParaRPr/>
          </a:p>
        </p:txBody>
      </p:sp>
      <p:sp>
        <p:nvSpPr>
          <p:cNvPr id="693" name="Google Shape;693;p43"/>
          <p:cNvSpPr txBox="1"/>
          <p:nvPr/>
        </p:nvSpPr>
        <p:spPr>
          <a:xfrm>
            <a:off x="4802000" y="1780000"/>
            <a:ext cx="1637400" cy="1384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00" b="1" i="0" u="none" strike="noStrike" cap="none">
                <a:solidFill>
                  <a:srgbClr val="00565B"/>
                </a:solidFill>
                <a:latin typeface="Calibri"/>
                <a:ea typeface="Calibri"/>
                <a:cs typeface="Calibri"/>
                <a:sym typeface="Calibri"/>
              </a:rPr>
              <a:t>date</a:t>
            </a:r>
            <a:endParaRPr sz="900" b="1" i="0" u="none" strike="noStrike" cap="none">
              <a:solidFill>
                <a:srgbClr val="00565B"/>
              </a:solidFill>
              <a:latin typeface="Calibri"/>
              <a:ea typeface="Calibri"/>
              <a:cs typeface="Calibri"/>
              <a:sym typeface="Calibri"/>
            </a:endParaRPr>
          </a:p>
        </p:txBody>
      </p:sp>
      <p:sp>
        <p:nvSpPr>
          <p:cNvPr id="694" name="Google Shape;694;p43"/>
          <p:cNvSpPr txBox="1"/>
          <p:nvPr/>
        </p:nvSpPr>
        <p:spPr>
          <a:xfrm>
            <a:off x="4802000" y="2040000"/>
            <a:ext cx="1637400" cy="32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400" b="1" i="0" u="none" strike="noStrike" cap="none">
                <a:solidFill>
                  <a:srgbClr val="001F3F"/>
                </a:solidFill>
                <a:latin typeface="Calibri"/>
                <a:ea typeface="Calibri"/>
                <a:cs typeface="Calibri"/>
                <a:sym typeface="Calibri"/>
              </a:rPr>
              <a:t>Optimization</a:t>
            </a:r>
            <a:endParaRPr/>
          </a:p>
        </p:txBody>
      </p:sp>
      <p:sp>
        <p:nvSpPr>
          <p:cNvPr id="695" name="Google Shape;695;p43"/>
          <p:cNvSpPr txBox="1"/>
          <p:nvPr/>
        </p:nvSpPr>
        <p:spPr>
          <a:xfrm>
            <a:off x="4802000" y="2440000"/>
            <a:ext cx="1637400" cy="111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50" b="0" i="0" u="none" strike="noStrike" cap="none">
                <a:solidFill>
                  <a:srgbClr val="666666"/>
                </a:solidFill>
                <a:latin typeface="Calibri"/>
                <a:ea typeface="Calibri"/>
                <a:cs typeface="Calibri"/>
                <a:sym typeface="Calibri"/>
              </a:rPr>
              <a:t>• Shift to Target CPA where data allows</a:t>
            </a:r>
            <a:endParaRPr/>
          </a:p>
          <a:p>
            <a:pPr marL="0" marR="0" lvl="0" indent="0" algn="l" rtl="0">
              <a:lnSpc>
                <a:spcPct val="100000"/>
              </a:lnSpc>
              <a:spcBef>
                <a:spcPts val="400"/>
              </a:spcBef>
              <a:spcAft>
                <a:spcPts val="0"/>
              </a:spcAft>
              <a:buNone/>
            </a:pPr>
            <a:r>
              <a:rPr lang="en" sz="950" b="0" i="0" u="none" strike="noStrike" cap="none">
                <a:solidFill>
                  <a:srgbClr val="666666"/>
                </a:solidFill>
                <a:latin typeface="Calibri"/>
                <a:ea typeface="Calibri"/>
                <a:cs typeface="Calibri"/>
                <a:sym typeface="Calibri"/>
              </a:rPr>
              <a:t>• Reallocate budget to top products</a:t>
            </a:r>
            <a:endParaRPr/>
          </a:p>
        </p:txBody>
      </p:sp>
      <p:sp>
        <p:nvSpPr>
          <p:cNvPr id="696" name="Google Shape;696;p43"/>
          <p:cNvSpPr/>
          <p:nvPr/>
        </p:nvSpPr>
        <p:spPr>
          <a:xfrm>
            <a:off x="6749400" y="1300000"/>
            <a:ext cx="1937400" cy="2400000"/>
          </a:xfrm>
          <a:prstGeom prst="roundRect">
            <a:avLst>
              <a:gd name="adj" fmla="val 6000"/>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7" name="Google Shape;697;p43"/>
          <p:cNvSpPr/>
          <p:nvPr/>
        </p:nvSpPr>
        <p:spPr>
          <a:xfrm>
            <a:off x="6879400" y="1430000"/>
            <a:ext cx="300000" cy="300000"/>
          </a:xfrm>
          <a:prstGeom prst="ellipse">
            <a:avLst/>
          </a:prstGeom>
          <a:solidFill>
            <a:srgbClr val="2D7D5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FFFFFF"/>
                </a:solidFill>
                <a:latin typeface="Calibri"/>
                <a:ea typeface="Calibri"/>
                <a:cs typeface="Calibri"/>
                <a:sym typeface="Calibri"/>
              </a:rPr>
              <a:t>04</a:t>
            </a:r>
            <a:endParaRPr/>
          </a:p>
        </p:txBody>
      </p:sp>
      <p:sp>
        <p:nvSpPr>
          <p:cNvPr id="698" name="Google Shape;698;p43"/>
          <p:cNvSpPr txBox="1"/>
          <p:nvPr/>
        </p:nvSpPr>
        <p:spPr>
          <a:xfrm>
            <a:off x="6899400" y="1780000"/>
            <a:ext cx="1637400" cy="1384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00" b="1" i="0" u="none" strike="noStrike" cap="none">
                <a:solidFill>
                  <a:srgbClr val="2D7D5F"/>
                </a:solidFill>
                <a:latin typeface="Calibri"/>
                <a:ea typeface="Calibri"/>
                <a:cs typeface="Calibri"/>
                <a:sym typeface="Calibri"/>
              </a:rPr>
              <a:t>date</a:t>
            </a:r>
            <a:endParaRPr sz="900" b="1" i="0" u="none" strike="noStrike" cap="none">
              <a:solidFill>
                <a:srgbClr val="2D7D5F"/>
              </a:solidFill>
              <a:latin typeface="Calibri"/>
              <a:ea typeface="Calibri"/>
              <a:cs typeface="Calibri"/>
              <a:sym typeface="Calibri"/>
            </a:endParaRPr>
          </a:p>
        </p:txBody>
      </p:sp>
      <p:sp>
        <p:nvSpPr>
          <p:cNvPr id="699" name="Google Shape;699;p43"/>
          <p:cNvSpPr txBox="1"/>
          <p:nvPr/>
        </p:nvSpPr>
        <p:spPr>
          <a:xfrm>
            <a:off x="6899400" y="2040000"/>
            <a:ext cx="1637400" cy="32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400" b="1" i="0" u="none" strike="noStrike" cap="none">
                <a:solidFill>
                  <a:srgbClr val="001F3F"/>
                </a:solidFill>
                <a:latin typeface="Calibri"/>
                <a:ea typeface="Calibri"/>
                <a:cs typeface="Calibri"/>
                <a:sym typeface="Calibri"/>
              </a:rPr>
              <a:t>Scale Review</a:t>
            </a:r>
            <a:endParaRPr/>
          </a:p>
        </p:txBody>
      </p:sp>
      <p:sp>
        <p:nvSpPr>
          <p:cNvPr id="700" name="Google Shape;700;p43"/>
          <p:cNvSpPr txBox="1"/>
          <p:nvPr/>
        </p:nvSpPr>
        <p:spPr>
          <a:xfrm>
            <a:off x="6899400" y="2440000"/>
            <a:ext cx="1637400" cy="111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50" b="0" i="0" u="none" strike="noStrike" cap="none">
                <a:solidFill>
                  <a:srgbClr val="666666"/>
                </a:solidFill>
                <a:latin typeface="Calibri"/>
                <a:ea typeface="Calibri"/>
                <a:cs typeface="Calibri"/>
                <a:sym typeface="Calibri"/>
              </a:rPr>
              <a:t>• 90-day review vs. 76+ lead target</a:t>
            </a:r>
            <a:endParaRPr/>
          </a:p>
          <a:p>
            <a:pPr marL="0" marR="0" lvl="0" indent="0" algn="l" rtl="0">
              <a:lnSpc>
                <a:spcPct val="100000"/>
              </a:lnSpc>
              <a:spcBef>
                <a:spcPts val="400"/>
              </a:spcBef>
              <a:spcAft>
                <a:spcPts val="0"/>
              </a:spcAft>
              <a:buNone/>
            </a:pPr>
            <a:r>
              <a:rPr lang="en" sz="950" b="0" i="0" u="none" strike="noStrike" cap="none">
                <a:solidFill>
                  <a:srgbClr val="666666"/>
                </a:solidFill>
                <a:latin typeface="Calibri"/>
                <a:ea typeface="Calibri"/>
                <a:cs typeface="Calibri"/>
                <a:sym typeface="Calibri"/>
              </a:rPr>
              <a:t>• Decision: renew, scale, or reallocate</a:t>
            </a:r>
            <a:endParaRPr/>
          </a:p>
        </p:txBody>
      </p:sp>
      <p:sp>
        <p:nvSpPr>
          <p:cNvPr id="701" name="Google Shape;701;p43"/>
          <p:cNvSpPr/>
          <p:nvPr/>
        </p:nvSpPr>
        <p:spPr>
          <a:xfrm>
            <a:off x="457200" y="3930000"/>
            <a:ext cx="2636533" cy="700000"/>
          </a:xfrm>
          <a:prstGeom prst="rect">
            <a:avLst/>
          </a:prstGeom>
          <a:solidFill>
            <a:srgbClr val="1122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02" name="Google Shape;702;p43"/>
          <p:cNvSpPr txBox="1"/>
          <p:nvPr/>
        </p:nvSpPr>
        <p:spPr>
          <a:xfrm>
            <a:off x="457200" y="4020000"/>
            <a:ext cx="2636533" cy="3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2000" b="1" i="0" u="none" strike="noStrike" cap="none">
                <a:solidFill>
                  <a:srgbClr val="FFFFFF"/>
                </a:solidFill>
                <a:latin typeface="Calibri"/>
                <a:ea typeface="Calibri"/>
                <a:cs typeface="Calibri"/>
                <a:sym typeface="Calibri"/>
              </a:rPr>
              <a:t>Date</a:t>
            </a:r>
            <a:endParaRPr sz="2000" b="1" i="0" u="none" strike="noStrike" cap="none">
              <a:solidFill>
                <a:srgbClr val="FFFFFF"/>
              </a:solidFill>
              <a:latin typeface="Calibri"/>
              <a:ea typeface="Calibri"/>
              <a:cs typeface="Calibri"/>
              <a:sym typeface="Calibri"/>
            </a:endParaRPr>
          </a:p>
        </p:txBody>
      </p:sp>
      <p:sp>
        <p:nvSpPr>
          <p:cNvPr id="703" name="Google Shape;703;p43"/>
          <p:cNvSpPr txBox="1"/>
          <p:nvPr/>
        </p:nvSpPr>
        <p:spPr>
          <a:xfrm>
            <a:off x="457200" y="4350000"/>
            <a:ext cx="2636533" cy="2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900" b="0" i="0" u="none" strike="noStrike" cap="none">
                <a:solidFill>
                  <a:srgbClr val="CADCFC"/>
                </a:solidFill>
                <a:latin typeface="Calibri"/>
                <a:ea typeface="Calibri"/>
                <a:cs typeface="Calibri"/>
                <a:sym typeface="Calibri"/>
              </a:rPr>
              <a:t>First Leads Expected</a:t>
            </a:r>
            <a:endParaRPr/>
          </a:p>
        </p:txBody>
      </p:sp>
      <p:sp>
        <p:nvSpPr>
          <p:cNvPr id="704" name="Google Shape;704;p43"/>
          <p:cNvSpPr/>
          <p:nvPr/>
        </p:nvSpPr>
        <p:spPr>
          <a:xfrm>
            <a:off x="3253733" y="3930000"/>
            <a:ext cx="2636533" cy="700000"/>
          </a:xfrm>
          <a:prstGeom prst="rect">
            <a:avLst/>
          </a:prstGeom>
          <a:solidFill>
            <a:srgbClr val="1122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05" name="Google Shape;705;p43"/>
          <p:cNvSpPr txBox="1"/>
          <p:nvPr/>
        </p:nvSpPr>
        <p:spPr>
          <a:xfrm>
            <a:off x="3253733" y="4020000"/>
            <a:ext cx="2636533" cy="3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2000" b="1" i="0" u="none" strike="noStrike" cap="none">
                <a:solidFill>
                  <a:srgbClr val="FFFFFF"/>
                </a:solidFill>
                <a:latin typeface="Calibri"/>
                <a:ea typeface="Calibri"/>
                <a:cs typeface="Calibri"/>
                <a:sym typeface="Calibri"/>
              </a:rPr>
              <a:t>Date</a:t>
            </a:r>
            <a:endParaRPr/>
          </a:p>
        </p:txBody>
      </p:sp>
      <p:sp>
        <p:nvSpPr>
          <p:cNvPr id="706" name="Google Shape;706;p43"/>
          <p:cNvSpPr txBox="1"/>
          <p:nvPr/>
        </p:nvSpPr>
        <p:spPr>
          <a:xfrm>
            <a:off x="3253733" y="4350000"/>
            <a:ext cx="2636533" cy="2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900" b="0" i="0" u="none" strike="noStrike" cap="none">
                <a:solidFill>
                  <a:srgbClr val="CADCFC"/>
                </a:solidFill>
                <a:latin typeface="Calibri"/>
                <a:ea typeface="Calibri"/>
                <a:cs typeface="Calibri"/>
                <a:sym typeface="Calibri"/>
              </a:rPr>
              <a:t>Full Optimization Window</a:t>
            </a:r>
            <a:endParaRPr/>
          </a:p>
        </p:txBody>
      </p:sp>
      <p:sp>
        <p:nvSpPr>
          <p:cNvPr id="707" name="Google Shape;707;p43"/>
          <p:cNvSpPr/>
          <p:nvPr/>
        </p:nvSpPr>
        <p:spPr>
          <a:xfrm>
            <a:off x="6050266" y="3930000"/>
            <a:ext cx="2636533" cy="700000"/>
          </a:xfrm>
          <a:prstGeom prst="rect">
            <a:avLst/>
          </a:prstGeom>
          <a:solidFill>
            <a:srgbClr val="11223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08" name="Google Shape;708;p43"/>
          <p:cNvSpPr txBox="1"/>
          <p:nvPr/>
        </p:nvSpPr>
        <p:spPr>
          <a:xfrm>
            <a:off x="6050266" y="4020000"/>
            <a:ext cx="2636533" cy="3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2000" b="1" i="0" u="none" strike="noStrike" cap="none">
                <a:solidFill>
                  <a:srgbClr val="FFFFFF"/>
                </a:solidFill>
                <a:latin typeface="Calibri"/>
                <a:ea typeface="Calibri"/>
                <a:cs typeface="Calibri"/>
                <a:sym typeface="Calibri"/>
              </a:rPr>
              <a:t>Date</a:t>
            </a:r>
            <a:endParaRPr/>
          </a:p>
        </p:txBody>
      </p:sp>
      <p:sp>
        <p:nvSpPr>
          <p:cNvPr id="709" name="Google Shape;709;p43"/>
          <p:cNvSpPr txBox="1"/>
          <p:nvPr/>
        </p:nvSpPr>
        <p:spPr>
          <a:xfrm>
            <a:off x="6050266" y="4350000"/>
            <a:ext cx="2636533" cy="2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900" b="0" i="0" u="none" strike="noStrike" cap="none">
                <a:solidFill>
                  <a:srgbClr val="CADCFC"/>
                </a:solidFill>
                <a:latin typeface="Calibri"/>
                <a:ea typeface="Calibri"/>
                <a:cs typeface="Calibri"/>
                <a:sym typeface="Calibri"/>
              </a:rPr>
              <a:t>Budget &amp; Scale Review</a:t>
            </a:r>
            <a:endParaRPr/>
          </a:p>
        </p:txBody>
      </p:sp>
      <p:sp>
        <p:nvSpPr>
          <p:cNvPr id="710" name="Google Shape;710;p43"/>
          <p:cNvSpPr/>
          <p:nvPr/>
        </p:nvSpPr>
        <p:spPr>
          <a:xfrm>
            <a:off x="448047" y="4855406"/>
            <a:ext cx="5586300" cy="159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800"/>
              <a:buFont typeface="Noto Sans Arabic"/>
              <a:buNone/>
            </a:pPr>
            <a:r>
              <a:rPr lang="en" sz="800" b="0" i="0" u="none" strike="noStrike" cap="none">
                <a:solidFill>
                  <a:srgbClr val="999999"/>
                </a:solidFill>
                <a:latin typeface="Noto Sans Arabic"/>
                <a:ea typeface="Noto Sans Arabic"/>
                <a:cs typeface="Noto Sans Arabic"/>
                <a:sym typeface="Noto Sans Arabic"/>
              </a:rPr>
              <a:t>Etihad Pioneers</a:t>
            </a:r>
            <a:endParaRPr sz="800" b="0" i="0" u="none" strike="noStrike" cap="none">
              <a:solidFill>
                <a:schemeClr val="dk1"/>
              </a:solidFill>
              <a:latin typeface="Calibri"/>
              <a:ea typeface="Calibri"/>
              <a:cs typeface="Calibri"/>
              <a:sym typeface="Calibri"/>
            </a:endParaRPr>
          </a:p>
        </p:txBody>
      </p:sp>
      <p:sp>
        <p:nvSpPr>
          <p:cNvPr id="711" name="Google Shape;711;p43"/>
          <p:cNvSpPr/>
          <p:nvPr/>
        </p:nvSpPr>
        <p:spPr>
          <a:xfrm>
            <a:off x="6812235" y="4860541"/>
            <a:ext cx="2331900" cy="149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900"/>
              <a:buFont typeface="Open Sans"/>
              <a:buNone/>
            </a:pPr>
            <a:r>
              <a:rPr lang="en" sz="900" b="0" i="0" u="none" strike="noStrike" cap="none">
                <a:solidFill>
                  <a:srgbClr val="999999"/>
                </a:solidFill>
                <a:latin typeface="Open Sans"/>
                <a:ea typeface="Open Sans"/>
                <a:cs typeface="Open Sans"/>
                <a:sym typeface="Open Sans"/>
              </a:rPr>
              <a:t>Google Ads Growth Proposal</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44"/>
          <p:cNvSpPr/>
          <p:nvPr/>
        </p:nvSpPr>
        <p:spPr>
          <a:xfrm>
            <a:off x="0" y="0"/>
            <a:ext cx="9144000" cy="5143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17" name="Google Shape;717;p44"/>
          <p:cNvSpPr txBox="1"/>
          <p:nvPr/>
        </p:nvSpPr>
        <p:spPr>
          <a:xfrm>
            <a:off x="457200" y="228600"/>
            <a:ext cx="6000000" cy="20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100" b="1" i="0" u="none" strike="noStrike" cap="none">
                <a:solidFill>
                  <a:srgbClr val="00565B"/>
                </a:solidFill>
                <a:latin typeface="Calibri"/>
                <a:ea typeface="Calibri"/>
                <a:cs typeface="Calibri"/>
                <a:sym typeface="Calibri"/>
              </a:rPr>
              <a:t>PERFORMANCE ACCOUNTABILITY</a:t>
            </a:r>
            <a:endParaRPr/>
          </a:p>
        </p:txBody>
      </p:sp>
      <p:sp>
        <p:nvSpPr>
          <p:cNvPr id="718" name="Google Shape;718;p44"/>
          <p:cNvSpPr txBox="1"/>
          <p:nvPr/>
        </p:nvSpPr>
        <p:spPr>
          <a:xfrm>
            <a:off x="457200" y="420000"/>
            <a:ext cx="8229600" cy="48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2600" b="1" i="0" u="none" strike="noStrike" cap="none">
                <a:solidFill>
                  <a:srgbClr val="001F3F"/>
                </a:solidFill>
                <a:latin typeface="Calibri"/>
                <a:ea typeface="Calibri"/>
                <a:cs typeface="Calibri"/>
                <a:sym typeface="Calibri"/>
              </a:rPr>
              <a:t>ROI Projection &amp; Risk Management</a:t>
            </a:r>
            <a:endParaRPr/>
          </a:p>
        </p:txBody>
      </p:sp>
      <p:sp>
        <p:nvSpPr>
          <p:cNvPr id="719" name="Google Shape;719;p44"/>
          <p:cNvSpPr txBox="1"/>
          <p:nvPr/>
        </p:nvSpPr>
        <p:spPr>
          <a:xfrm>
            <a:off x="457200" y="880000"/>
            <a:ext cx="8229600" cy="28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200" b="0" i="1" u="none" strike="noStrike" cap="none">
                <a:solidFill>
                  <a:srgbClr val="666666"/>
                </a:solidFill>
                <a:latin typeface="Calibri"/>
                <a:ea typeface="Calibri"/>
                <a:cs typeface="Calibri"/>
                <a:sym typeface="Calibri"/>
              </a:rPr>
              <a:t>Reconciling projected economics with historical CRM data, and the triggers that protect spend</a:t>
            </a:r>
            <a:endParaRPr/>
          </a:p>
        </p:txBody>
      </p:sp>
      <p:sp>
        <p:nvSpPr>
          <p:cNvPr id="720" name="Google Shape;720;p44"/>
          <p:cNvSpPr/>
          <p:nvPr/>
        </p:nvSpPr>
        <p:spPr>
          <a:xfrm>
            <a:off x="457200" y="1300000"/>
            <a:ext cx="4014800" cy="3380000"/>
          </a:xfrm>
          <a:prstGeom prst="roundRect">
            <a:avLst>
              <a:gd name="adj" fmla="val 4000"/>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1" name="Google Shape;721;p44"/>
          <p:cNvSpPr txBox="1"/>
          <p:nvPr/>
        </p:nvSpPr>
        <p:spPr>
          <a:xfrm>
            <a:off x="677200" y="1500000"/>
            <a:ext cx="3574800" cy="32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300" b="1" i="0" u="none" strike="noStrike" cap="none">
                <a:solidFill>
                  <a:srgbClr val="00565B"/>
                </a:solidFill>
                <a:latin typeface="Calibri"/>
                <a:ea typeface="Calibri"/>
                <a:cs typeface="Calibri"/>
                <a:sym typeface="Calibri"/>
              </a:rPr>
              <a:t>ROI PROJECTION</a:t>
            </a:r>
            <a:endParaRPr/>
          </a:p>
        </p:txBody>
      </p:sp>
      <p:sp>
        <p:nvSpPr>
          <p:cNvPr id="722" name="Google Shape;722;p44"/>
          <p:cNvSpPr txBox="1"/>
          <p:nvPr/>
        </p:nvSpPr>
        <p:spPr>
          <a:xfrm>
            <a:off x="677200" y="1920000"/>
            <a:ext cx="3574800" cy="24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b="1" i="0" u="none" strike="noStrike" cap="none">
                <a:solidFill>
                  <a:srgbClr val="666666"/>
                </a:solidFill>
                <a:latin typeface="Calibri"/>
                <a:ea typeface="Calibri"/>
                <a:cs typeface="Calibri"/>
                <a:sym typeface="Calibri"/>
              </a:rPr>
              <a:t>Projected CPL</a:t>
            </a:r>
            <a:endParaRPr/>
          </a:p>
        </p:txBody>
      </p:sp>
      <p:sp>
        <p:nvSpPr>
          <p:cNvPr id="723" name="Google Shape;723;p44"/>
          <p:cNvSpPr txBox="1"/>
          <p:nvPr/>
        </p:nvSpPr>
        <p:spPr>
          <a:xfrm>
            <a:off x="677200" y="2120000"/>
            <a:ext cx="357480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800" b="1" i="0" u="none" strike="noStrike" cap="none" dirty="0">
                <a:solidFill>
                  <a:srgbClr val="001F3F"/>
                </a:solidFill>
                <a:latin typeface="Calibri"/>
                <a:ea typeface="Calibri"/>
                <a:cs typeface="Calibri"/>
                <a:sym typeface="Calibri"/>
              </a:rPr>
              <a:t>SAR 300</a:t>
            </a:r>
            <a:r>
              <a:rPr lang="en" sz="900" b="0" i="1" u="none" strike="noStrike" cap="none" dirty="0">
                <a:solidFill>
                  <a:srgbClr val="666666"/>
                </a:solidFill>
                <a:latin typeface="Calibri"/>
                <a:ea typeface="Calibri"/>
                <a:cs typeface="Calibri"/>
                <a:sym typeface="Calibri"/>
              </a:rPr>
              <a:t>  (SAR 22,000 ÷ 76 leads)</a:t>
            </a:r>
            <a:endParaRPr dirty="0"/>
          </a:p>
        </p:txBody>
      </p:sp>
      <p:sp>
        <p:nvSpPr>
          <p:cNvPr id="724" name="Google Shape;724;p44"/>
          <p:cNvSpPr txBox="1"/>
          <p:nvPr/>
        </p:nvSpPr>
        <p:spPr>
          <a:xfrm>
            <a:off x="677200" y="2480000"/>
            <a:ext cx="3574800" cy="24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b="1" i="0" u="none" strike="noStrike" cap="none">
                <a:solidFill>
                  <a:srgbClr val="666666"/>
                </a:solidFill>
                <a:latin typeface="Calibri"/>
                <a:ea typeface="Calibri"/>
                <a:cs typeface="Calibri"/>
                <a:sym typeface="Calibri"/>
              </a:rPr>
              <a:t>Historical Blended B2B CPL</a:t>
            </a:r>
            <a:endParaRPr/>
          </a:p>
        </p:txBody>
      </p:sp>
      <p:sp>
        <p:nvSpPr>
          <p:cNvPr id="725" name="Google Shape;725;p44"/>
          <p:cNvSpPr txBox="1"/>
          <p:nvPr/>
        </p:nvSpPr>
        <p:spPr>
          <a:xfrm>
            <a:off x="677200" y="2680000"/>
            <a:ext cx="3574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800" b="1" i="0" u="none" strike="noStrike" cap="none">
                <a:solidFill>
                  <a:srgbClr val="001F3F"/>
                </a:solidFill>
                <a:latin typeface="Calibri"/>
                <a:ea typeface="Calibri"/>
                <a:cs typeface="Calibri"/>
                <a:sym typeface="Calibri"/>
              </a:rPr>
              <a:t>SAR </a:t>
            </a:r>
            <a:r>
              <a:rPr lang="en" sz="1800" b="1">
                <a:solidFill>
                  <a:srgbClr val="001F3F"/>
                </a:solidFill>
                <a:latin typeface="Calibri"/>
                <a:ea typeface="Calibri"/>
                <a:cs typeface="Calibri"/>
                <a:sym typeface="Calibri"/>
              </a:rPr>
              <a:t>444</a:t>
            </a:r>
            <a:r>
              <a:rPr lang="en" sz="900" b="0" i="1" u="none" strike="noStrike" cap="none">
                <a:solidFill>
                  <a:srgbClr val="666666"/>
                </a:solidFill>
                <a:latin typeface="Calibri"/>
                <a:ea typeface="Calibri"/>
                <a:cs typeface="Calibri"/>
                <a:sym typeface="Calibri"/>
              </a:rPr>
              <a:t>  (CRM, Jun 2026 actuals)</a:t>
            </a:r>
            <a:endParaRPr/>
          </a:p>
        </p:txBody>
      </p:sp>
      <p:sp>
        <p:nvSpPr>
          <p:cNvPr id="726" name="Google Shape;726;p44"/>
          <p:cNvSpPr/>
          <p:nvPr/>
        </p:nvSpPr>
        <p:spPr>
          <a:xfrm>
            <a:off x="4672000" y="1300000"/>
            <a:ext cx="4014800" cy="3380000"/>
          </a:xfrm>
          <a:prstGeom prst="roundRect">
            <a:avLst>
              <a:gd name="adj" fmla="val 4000"/>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7" name="Google Shape;727;p44"/>
          <p:cNvSpPr txBox="1"/>
          <p:nvPr/>
        </p:nvSpPr>
        <p:spPr>
          <a:xfrm>
            <a:off x="4892000" y="1500000"/>
            <a:ext cx="3574800" cy="32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300" b="1" i="0" u="none" strike="noStrike" cap="none">
                <a:solidFill>
                  <a:srgbClr val="C96A15"/>
                </a:solidFill>
                <a:latin typeface="Calibri"/>
                <a:ea typeface="Calibri"/>
                <a:cs typeface="Calibri"/>
                <a:sym typeface="Calibri"/>
              </a:rPr>
              <a:t>RISK &amp; CONTINGENCY</a:t>
            </a:r>
            <a:endParaRPr/>
          </a:p>
        </p:txBody>
      </p:sp>
      <p:sp>
        <p:nvSpPr>
          <p:cNvPr id="728" name="Google Shape;728;p44"/>
          <p:cNvSpPr txBox="1"/>
          <p:nvPr/>
        </p:nvSpPr>
        <p:spPr>
          <a:xfrm>
            <a:off x="4892000" y="1920000"/>
            <a:ext cx="3574800" cy="24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100" b="1" i="0" u="none" strike="noStrike" cap="none">
                <a:solidFill>
                  <a:srgbClr val="001F3F"/>
                </a:solidFill>
                <a:latin typeface="Calibri"/>
                <a:ea typeface="Calibri"/>
                <a:cs typeface="Calibri"/>
                <a:sym typeface="Calibri"/>
              </a:rPr>
              <a:t>CPL Trigger</a:t>
            </a:r>
            <a:endParaRPr/>
          </a:p>
        </p:txBody>
      </p:sp>
      <p:sp>
        <p:nvSpPr>
          <p:cNvPr id="729" name="Google Shape;729;p44"/>
          <p:cNvSpPr txBox="1"/>
          <p:nvPr/>
        </p:nvSpPr>
        <p:spPr>
          <a:xfrm>
            <a:off x="4892000" y="2150000"/>
            <a:ext cx="3574800" cy="292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50" b="0" i="0" u="none" strike="noStrike" cap="none">
                <a:solidFill>
                  <a:srgbClr val="666666"/>
                </a:solidFill>
                <a:latin typeface="Calibri"/>
                <a:ea typeface="Calibri"/>
                <a:cs typeface="Calibri"/>
                <a:sym typeface="Calibri"/>
              </a:rPr>
              <a:t>If CPL exceeds SAR 400 by Day</a:t>
            </a:r>
            <a:r>
              <a:rPr lang="en" sz="950">
                <a:solidFill>
                  <a:srgbClr val="666666"/>
                </a:solidFill>
                <a:latin typeface="Calibri"/>
                <a:ea typeface="Calibri"/>
                <a:cs typeface="Calibri"/>
                <a:sym typeface="Calibri"/>
              </a:rPr>
              <a:t> 15</a:t>
            </a:r>
            <a:r>
              <a:rPr lang="en" sz="950" b="0" i="0" u="none" strike="noStrike" cap="none">
                <a:solidFill>
                  <a:srgbClr val="666666"/>
                </a:solidFill>
                <a:latin typeface="Calibri"/>
                <a:ea typeface="Calibri"/>
                <a:cs typeface="Calibri"/>
                <a:sym typeface="Calibri"/>
              </a:rPr>
              <a:t>, pause the underperforming ad group and reallocate budget to top performers.</a:t>
            </a:r>
            <a:endParaRPr/>
          </a:p>
        </p:txBody>
      </p:sp>
      <p:sp>
        <p:nvSpPr>
          <p:cNvPr id="730" name="Google Shape;730;p44"/>
          <p:cNvSpPr txBox="1"/>
          <p:nvPr/>
        </p:nvSpPr>
        <p:spPr>
          <a:xfrm>
            <a:off x="4892000" y="2790000"/>
            <a:ext cx="3574800" cy="24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100" b="1" i="0" u="none" strike="noStrike" cap="none">
                <a:solidFill>
                  <a:srgbClr val="001F3F"/>
                </a:solidFill>
                <a:latin typeface="Calibri"/>
                <a:ea typeface="Calibri"/>
                <a:cs typeface="Calibri"/>
                <a:sym typeface="Calibri"/>
              </a:rPr>
              <a:t>Lead Quality Trigger</a:t>
            </a:r>
            <a:endParaRPr/>
          </a:p>
        </p:txBody>
      </p:sp>
      <p:sp>
        <p:nvSpPr>
          <p:cNvPr id="731" name="Google Shape;731;p44"/>
          <p:cNvSpPr txBox="1"/>
          <p:nvPr/>
        </p:nvSpPr>
        <p:spPr>
          <a:xfrm>
            <a:off x="4892000" y="3020000"/>
            <a:ext cx="3574800" cy="56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50" b="0" i="0" u="none" strike="noStrike" cap="none">
                <a:solidFill>
                  <a:srgbClr val="666666"/>
                </a:solidFill>
                <a:latin typeface="Calibri"/>
                <a:ea typeface="Calibri"/>
                <a:cs typeface="Calibri"/>
                <a:sym typeface="Calibri"/>
              </a:rPr>
              <a:t>If the legitimate-RFQ rate falls below 50%, tighten negative keywords and audience signals before scaling further spend.</a:t>
            </a:r>
            <a:endParaRPr/>
          </a:p>
        </p:txBody>
      </p:sp>
      <p:sp>
        <p:nvSpPr>
          <p:cNvPr id="732" name="Google Shape;732;p44"/>
          <p:cNvSpPr txBox="1"/>
          <p:nvPr/>
        </p:nvSpPr>
        <p:spPr>
          <a:xfrm>
            <a:off x="4892000" y="3660000"/>
            <a:ext cx="3574800" cy="24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100" b="1" i="0" u="none" strike="noStrike" cap="none">
                <a:solidFill>
                  <a:srgbClr val="001F3F"/>
                </a:solidFill>
                <a:latin typeface="Calibri"/>
                <a:ea typeface="Calibri"/>
                <a:cs typeface="Calibri"/>
                <a:sym typeface="Calibri"/>
              </a:rPr>
              <a:t>Governance</a:t>
            </a:r>
            <a:endParaRPr/>
          </a:p>
        </p:txBody>
      </p:sp>
      <p:sp>
        <p:nvSpPr>
          <p:cNvPr id="733" name="Google Shape;733;p44"/>
          <p:cNvSpPr txBox="1"/>
          <p:nvPr/>
        </p:nvSpPr>
        <p:spPr>
          <a:xfrm>
            <a:off x="4892000" y="3890000"/>
            <a:ext cx="3574800" cy="292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50" b="0" i="0" u="none" strike="noStrike" cap="none">
                <a:solidFill>
                  <a:srgbClr val="666666"/>
                </a:solidFill>
                <a:latin typeface="Calibri"/>
                <a:ea typeface="Calibri"/>
                <a:cs typeface="Calibri"/>
                <a:sym typeface="Calibri"/>
              </a:rPr>
              <a:t>Weekly marketing-sales sync validates lead quality against pipeline conversion, feeding the Day-</a:t>
            </a:r>
            <a:r>
              <a:rPr lang="en" sz="950">
                <a:solidFill>
                  <a:srgbClr val="666666"/>
                </a:solidFill>
                <a:latin typeface="Calibri"/>
                <a:ea typeface="Calibri"/>
                <a:cs typeface="Calibri"/>
                <a:sym typeface="Calibri"/>
              </a:rPr>
              <a:t>1</a:t>
            </a:r>
            <a:r>
              <a:rPr lang="en" sz="950" b="0" i="0" u="none" strike="noStrike" cap="none">
                <a:solidFill>
                  <a:srgbClr val="666666"/>
                </a:solidFill>
                <a:latin typeface="Calibri"/>
                <a:ea typeface="Calibri"/>
                <a:cs typeface="Calibri"/>
                <a:sym typeface="Calibri"/>
              </a:rPr>
              <a:t>0 and Day-</a:t>
            </a:r>
            <a:r>
              <a:rPr lang="en" sz="950">
                <a:solidFill>
                  <a:srgbClr val="666666"/>
                </a:solidFill>
                <a:latin typeface="Calibri"/>
                <a:ea typeface="Calibri"/>
                <a:cs typeface="Calibri"/>
                <a:sym typeface="Calibri"/>
              </a:rPr>
              <a:t>3</a:t>
            </a:r>
            <a:r>
              <a:rPr lang="en" sz="950" b="0" i="0" u="none" strike="noStrike" cap="none">
                <a:solidFill>
                  <a:srgbClr val="666666"/>
                </a:solidFill>
                <a:latin typeface="Calibri"/>
                <a:ea typeface="Calibri"/>
                <a:cs typeface="Calibri"/>
                <a:sym typeface="Calibri"/>
              </a:rPr>
              <a:t>0 review.</a:t>
            </a:r>
            <a:endParaRPr/>
          </a:p>
        </p:txBody>
      </p:sp>
      <p:sp>
        <p:nvSpPr>
          <p:cNvPr id="734" name="Google Shape;734;p44"/>
          <p:cNvSpPr/>
          <p:nvPr/>
        </p:nvSpPr>
        <p:spPr>
          <a:xfrm>
            <a:off x="448047" y="4855406"/>
            <a:ext cx="5586300" cy="159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800"/>
              <a:buFont typeface="Noto Sans Arabic"/>
              <a:buNone/>
            </a:pPr>
            <a:r>
              <a:rPr lang="en" sz="800" b="0" i="0" u="none" strike="noStrike" cap="none">
                <a:solidFill>
                  <a:srgbClr val="999999"/>
                </a:solidFill>
                <a:latin typeface="Noto Sans Arabic"/>
                <a:ea typeface="Noto Sans Arabic"/>
                <a:cs typeface="Noto Sans Arabic"/>
                <a:sym typeface="Noto Sans Arabic"/>
              </a:rPr>
              <a:t>Etihad Pioneers</a:t>
            </a:r>
            <a:endParaRPr sz="800" b="0" i="0" u="none" strike="noStrike" cap="none">
              <a:solidFill>
                <a:schemeClr val="dk1"/>
              </a:solidFill>
              <a:latin typeface="Calibri"/>
              <a:ea typeface="Calibri"/>
              <a:cs typeface="Calibri"/>
              <a:sym typeface="Calibri"/>
            </a:endParaRPr>
          </a:p>
        </p:txBody>
      </p:sp>
      <p:sp>
        <p:nvSpPr>
          <p:cNvPr id="735" name="Google Shape;735;p44"/>
          <p:cNvSpPr/>
          <p:nvPr/>
        </p:nvSpPr>
        <p:spPr>
          <a:xfrm>
            <a:off x="6812235" y="4860541"/>
            <a:ext cx="2331900" cy="149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99999"/>
              </a:buClr>
              <a:buSzPts val="900"/>
              <a:buFont typeface="Open Sans"/>
              <a:buNone/>
            </a:pPr>
            <a:r>
              <a:rPr lang="en" sz="900" b="0" i="0" u="none" strike="noStrike" cap="none">
                <a:solidFill>
                  <a:srgbClr val="999999"/>
                </a:solidFill>
                <a:latin typeface="Open Sans"/>
                <a:ea typeface="Open Sans"/>
                <a:cs typeface="Open Sans"/>
                <a:sym typeface="Open Sans"/>
              </a:rPr>
              <a:t>Google Ads Growth Proposal</a:t>
            </a:r>
            <a:endParaRPr sz="900" b="0" i="0" u="none" strike="noStrike" cap="none">
              <a:solidFill>
                <a:schemeClr val="dk1"/>
              </a:solidFill>
              <a:latin typeface="Calibri"/>
              <a:ea typeface="Calibri"/>
              <a:cs typeface="Calibri"/>
              <a:sym typeface="Calibri"/>
            </a:endParaRPr>
          </a:p>
        </p:txBody>
      </p:sp>
      <p:sp>
        <p:nvSpPr>
          <p:cNvPr id="736" name="Google Shape;736;p44"/>
          <p:cNvSpPr txBox="1"/>
          <p:nvPr/>
        </p:nvSpPr>
        <p:spPr>
          <a:xfrm>
            <a:off x="677200" y="3099100"/>
            <a:ext cx="35748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b="1">
                <a:solidFill>
                  <a:srgbClr val="666666"/>
                </a:solidFill>
                <a:latin typeface="Calibri"/>
                <a:ea typeface="Calibri"/>
                <a:cs typeface="Calibri"/>
                <a:sym typeface="Calibri"/>
              </a:rPr>
              <a:t>Expected B2B Deal Created Value</a:t>
            </a:r>
            <a:endParaRPr/>
          </a:p>
        </p:txBody>
      </p:sp>
      <p:sp>
        <p:nvSpPr>
          <p:cNvPr id="737" name="Google Shape;737;p44"/>
          <p:cNvSpPr txBox="1"/>
          <p:nvPr/>
        </p:nvSpPr>
        <p:spPr>
          <a:xfrm>
            <a:off x="677200" y="3299100"/>
            <a:ext cx="35748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800" b="1" i="0" u="none" strike="noStrike" cap="none" dirty="0">
                <a:solidFill>
                  <a:srgbClr val="001F3F"/>
                </a:solidFill>
                <a:latin typeface="Calibri"/>
                <a:ea typeface="Calibri"/>
                <a:cs typeface="Calibri"/>
                <a:sym typeface="Calibri"/>
              </a:rPr>
              <a:t>SAR </a:t>
            </a:r>
            <a:r>
              <a:rPr lang="en" sz="1800" b="1" dirty="0">
                <a:solidFill>
                  <a:srgbClr val="001F3F"/>
                </a:solidFill>
                <a:latin typeface="Calibri"/>
                <a:ea typeface="Calibri"/>
                <a:cs typeface="Calibri"/>
                <a:sym typeface="Calibri"/>
              </a:rPr>
              <a:t>300,000+</a:t>
            </a:r>
            <a:r>
              <a:rPr lang="en" sz="900" b="0" i="1" u="none" strike="noStrike" cap="none" dirty="0">
                <a:solidFill>
                  <a:srgbClr val="666666"/>
                </a:solidFill>
                <a:latin typeface="Calibri"/>
                <a:ea typeface="Calibri"/>
                <a:cs typeface="Calibri"/>
                <a:sym typeface="Calibri"/>
              </a:rPr>
              <a:t>  (</a:t>
            </a:r>
            <a:r>
              <a:rPr lang="en" sz="900" i="1" dirty="0">
                <a:solidFill>
                  <a:srgbClr val="666666"/>
                </a:solidFill>
                <a:latin typeface="Calibri"/>
                <a:ea typeface="Calibri"/>
                <a:cs typeface="Calibri"/>
                <a:sym typeface="Calibri"/>
              </a:rPr>
              <a:t>July</a:t>
            </a:r>
            <a:r>
              <a:rPr lang="en" sz="900" b="0" i="1" u="none" strike="noStrike" cap="none" dirty="0">
                <a:solidFill>
                  <a:srgbClr val="666666"/>
                </a:solidFill>
                <a:latin typeface="Calibri"/>
                <a:ea typeface="Calibri"/>
                <a:cs typeface="Calibri"/>
                <a:sym typeface="Calibri"/>
              </a:rPr>
              <a: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pic>
        <p:nvPicPr>
          <p:cNvPr id="743" name="Google Shape;743;p45"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744" name="Google Shape;744;p45" descr="preencoded.png"/>
          <p:cNvPicPr preferRelativeResize="0"/>
          <p:nvPr/>
        </p:nvPicPr>
        <p:blipFill rotWithShape="1">
          <a:blip r:embed="rId4">
            <a:alphaModFix/>
          </a:blip>
          <a:srcRect/>
          <a:stretch/>
        </p:blipFill>
        <p:spPr>
          <a:xfrm>
            <a:off x="0" y="2777468"/>
            <a:ext cx="9144000" cy="2365921"/>
          </a:xfrm>
          <a:prstGeom prst="rect">
            <a:avLst/>
          </a:prstGeom>
          <a:noFill/>
          <a:ln>
            <a:noFill/>
          </a:ln>
        </p:spPr>
      </p:pic>
      <p:pic>
        <p:nvPicPr>
          <p:cNvPr id="745" name="Google Shape;745;p45" descr="preencoded.png"/>
          <p:cNvPicPr preferRelativeResize="0"/>
          <p:nvPr/>
        </p:nvPicPr>
        <p:blipFill rotWithShape="1">
          <a:blip r:embed="rId5">
            <a:alphaModFix/>
          </a:blip>
          <a:srcRect/>
          <a:stretch/>
        </p:blipFill>
        <p:spPr>
          <a:xfrm>
            <a:off x="22052" y="2598428"/>
            <a:ext cx="9144000" cy="359978"/>
          </a:xfrm>
          <a:prstGeom prst="rect">
            <a:avLst/>
          </a:prstGeom>
          <a:noFill/>
          <a:ln>
            <a:noFill/>
          </a:ln>
        </p:spPr>
      </p:pic>
      <p:pic>
        <p:nvPicPr>
          <p:cNvPr id="746" name="Google Shape;746;p45" descr="preencoded.png"/>
          <p:cNvPicPr preferRelativeResize="0"/>
          <p:nvPr/>
        </p:nvPicPr>
        <p:blipFill rotWithShape="1">
          <a:blip r:embed="rId6">
            <a:alphaModFix/>
          </a:blip>
          <a:srcRect/>
          <a:stretch/>
        </p:blipFill>
        <p:spPr>
          <a:xfrm>
            <a:off x="255947" y="725202"/>
            <a:ext cx="493700" cy="66861"/>
          </a:xfrm>
          <a:prstGeom prst="rect">
            <a:avLst/>
          </a:prstGeom>
          <a:noFill/>
          <a:ln>
            <a:noFill/>
          </a:ln>
        </p:spPr>
      </p:pic>
      <p:pic>
        <p:nvPicPr>
          <p:cNvPr id="747" name="Google Shape;747;p45" descr="preencoded.png"/>
          <p:cNvPicPr preferRelativeResize="0"/>
          <p:nvPr/>
        </p:nvPicPr>
        <p:blipFill rotWithShape="1">
          <a:blip r:embed="rId7">
            <a:alphaModFix/>
          </a:blip>
          <a:srcRect/>
          <a:stretch/>
        </p:blipFill>
        <p:spPr>
          <a:xfrm>
            <a:off x="255947" y="1157288"/>
            <a:ext cx="2926035" cy="1476077"/>
          </a:xfrm>
          <a:prstGeom prst="rect">
            <a:avLst/>
          </a:prstGeom>
          <a:noFill/>
          <a:ln>
            <a:noFill/>
          </a:ln>
        </p:spPr>
      </p:pic>
      <p:pic>
        <p:nvPicPr>
          <p:cNvPr id="748" name="Google Shape;748;p45" descr="preencoded.png"/>
          <p:cNvPicPr preferRelativeResize="0"/>
          <p:nvPr/>
        </p:nvPicPr>
        <p:blipFill rotWithShape="1">
          <a:blip r:embed="rId8">
            <a:alphaModFix/>
          </a:blip>
          <a:srcRect/>
          <a:stretch/>
        </p:blipFill>
        <p:spPr>
          <a:xfrm>
            <a:off x="255947" y="1224149"/>
            <a:ext cx="73111" cy="1352736"/>
          </a:xfrm>
          <a:prstGeom prst="rect">
            <a:avLst/>
          </a:prstGeom>
          <a:noFill/>
          <a:ln>
            <a:noFill/>
          </a:ln>
        </p:spPr>
      </p:pic>
      <p:pic>
        <p:nvPicPr>
          <p:cNvPr id="749" name="Google Shape;749;p45" descr="preencoded.png"/>
          <p:cNvPicPr preferRelativeResize="0"/>
          <p:nvPr/>
        </p:nvPicPr>
        <p:blipFill rotWithShape="1">
          <a:blip r:embed="rId9">
            <a:alphaModFix/>
          </a:blip>
          <a:srcRect/>
          <a:stretch/>
        </p:blipFill>
        <p:spPr>
          <a:xfrm>
            <a:off x="4315941" y="1141772"/>
            <a:ext cx="2331653" cy="1496727"/>
          </a:xfrm>
          <a:prstGeom prst="rect">
            <a:avLst/>
          </a:prstGeom>
          <a:noFill/>
          <a:ln>
            <a:noFill/>
          </a:ln>
        </p:spPr>
      </p:pic>
      <p:pic>
        <p:nvPicPr>
          <p:cNvPr id="750" name="Google Shape;750;p45" descr="preencoded.png"/>
          <p:cNvPicPr preferRelativeResize="0"/>
          <p:nvPr/>
        </p:nvPicPr>
        <p:blipFill rotWithShape="1">
          <a:blip r:embed="rId10">
            <a:alphaModFix/>
          </a:blip>
          <a:srcRect/>
          <a:stretch/>
        </p:blipFill>
        <p:spPr>
          <a:xfrm>
            <a:off x="4315941" y="1208633"/>
            <a:ext cx="36500" cy="1388678"/>
          </a:xfrm>
          <a:prstGeom prst="rect">
            <a:avLst/>
          </a:prstGeom>
          <a:noFill/>
          <a:ln>
            <a:noFill/>
          </a:ln>
        </p:spPr>
      </p:pic>
      <p:pic>
        <p:nvPicPr>
          <p:cNvPr id="751" name="Google Shape;751;p45" descr="preencoded.png"/>
          <p:cNvPicPr preferRelativeResize="0"/>
          <p:nvPr/>
        </p:nvPicPr>
        <p:blipFill rotWithShape="1">
          <a:blip r:embed="rId11">
            <a:alphaModFix/>
          </a:blip>
          <a:srcRect/>
          <a:stretch/>
        </p:blipFill>
        <p:spPr>
          <a:xfrm>
            <a:off x="3429000" y="1594396"/>
            <a:ext cx="575965" cy="581211"/>
          </a:xfrm>
          <a:prstGeom prst="rect">
            <a:avLst/>
          </a:prstGeom>
          <a:noFill/>
          <a:ln>
            <a:noFill/>
          </a:ln>
        </p:spPr>
      </p:pic>
      <p:pic>
        <p:nvPicPr>
          <p:cNvPr id="752" name="Google Shape;752;p45" descr="preencoded.png"/>
          <p:cNvPicPr preferRelativeResize="0"/>
          <p:nvPr/>
        </p:nvPicPr>
        <p:blipFill rotWithShape="1">
          <a:blip r:embed="rId12">
            <a:alphaModFix/>
          </a:blip>
          <a:srcRect/>
          <a:stretch/>
        </p:blipFill>
        <p:spPr>
          <a:xfrm>
            <a:off x="3182094" y="1878918"/>
            <a:ext cx="246794" cy="7144"/>
          </a:xfrm>
          <a:prstGeom prst="rect">
            <a:avLst/>
          </a:prstGeom>
          <a:noFill/>
          <a:ln>
            <a:noFill/>
          </a:ln>
        </p:spPr>
      </p:pic>
      <p:pic>
        <p:nvPicPr>
          <p:cNvPr id="753" name="Google Shape;753;p45" descr="preencoded.png"/>
          <p:cNvPicPr preferRelativeResize="0"/>
          <p:nvPr/>
        </p:nvPicPr>
        <p:blipFill rotWithShape="1">
          <a:blip r:embed="rId13">
            <a:alphaModFix/>
          </a:blip>
          <a:srcRect/>
          <a:stretch/>
        </p:blipFill>
        <p:spPr>
          <a:xfrm>
            <a:off x="4004965" y="1878918"/>
            <a:ext cx="310864" cy="7144"/>
          </a:xfrm>
          <a:prstGeom prst="rect">
            <a:avLst/>
          </a:prstGeom>
          <a:noFill/>
          <a:ln>
            <a:noFill/>
          </a:ln>
        </p:spPr>
      </p:pic>
      <p:pic>
        <p:nvPicPr>
          <p:cNvPr id="754" name="Google Shape;754;p45" descr="preencoded.png"/>
          <p:cNvPicPr preferRelativeResize="0"/>
          <p:nvPr/>
        </p:nvPicPr>
        <p:blipFill rotWithShape="1">
          <a:blip r:embed="rId14">
            <a:alphaModFix/>
          </a:blip>
          <a:srcRect/>
          <a:stretch/>
        </p:blipFill>
        <p:spPr>
          <a:xfrm>
            <a:off x="484547" y="3461482"/>
            <a:ext cx="393130" cy="66861"/>
          </a:xfrm>
          <a:prstGeom prst="rect">
            <a:avLst/>
          </a:prstGeom>
          <a:noFill/>
          <a:ln>
            <a:noFill/>
          </a:ln>
        </p:spPr>
      </p:pic>
      <p:pic>
        <p:nvPicPr>
          <p:cNvPr id="755" name="Google Shape;755;p45" descr="preencoded.png"/>
          <p:cNvPicPr preferRelativeResize="0"/>
          <p:nvPr/>
        </p:nvPicPr>
        <p:blipFill rotWithShape="1">
          <a:blip r:embed="rId15">
            <a:alphaModFix/>
          </a:blip>
          <a:srcRect/>
          <a:stretch/>
        </p:blipFill>
        <p:spPr>
          <a:xfrm>
            <a:off x="5212035" y="3147715"/>
            <a:ext cx="3474653" cy="1620180"/>
          </a:xfrm>
          <a:prstGeom prst="rect">
            <a:avLst/>
          </a:prstGeom>
          <a:noFill/>
          <a:ln>
            <a:noFill/>
          </a:ln>
        </p:spPr>
      </p:pic>
      <p:pic>
        <p:nvPicPr>
          <p:cNvPr id="756" name="Google Shape;756;p45" descr="preencoded.png"/>
          <p:cNvPicPr preferRelativeResize="0"/>
          <p:nvPr/>
        </p:nvPicPr>
        <p:blipFill rotWithShape="1">
          <a:blip r:embed="rId16">
            <a:alphaModFix/>
          </a:blip>
          <a:srcRect/>
          <a:stretch/>
        </p:blipFill>
        <p:spPr>
          <a:xfrm>
            <a:off x="5943600" y="4210460"/>
            <a:ext cx="2057400" cy="14288"/>
          </a:xfrm>
          <a:prstGeom prst="rect">
            <a:avLst/>
          </a:prstGeom>
          <a:noFill/>
          <a:ln>
            <a:noFill/>
          </a:ln>
        </p:spPr>
      </p:pic>
      <p:pic>
        <p:nvPicPr>
          <p:cNvPr id="757" name="Google Shape;757;p45" descr="preencoded.png"/>
          <p:cNvPicPr preferRelativeResize="0"/>
          <p:nvPr/>
        </p:nvPicPr>
        <p:blipFill rotWithShape="1">
          <a:blip r:embed="rId16">
            <a:alphaModFix/>
          </a:blip>
          <a:srcRect/>
          <a:stretch/>
        </p:blipFill>
        <p:spPr>
          <a:xfrm>
            <a:off x="5943600" y="4431692"/>
            <a:ext cx="2057400" cy="14288"/>
          </a:xfrm>
          <a:prstGeom prst="rect">
            <a:avLst/>
          </a:prstGeom>
          <a:noFill/>
          <a:ln>
            <a:noFill/>
          </a:ln>
        </p:spPr>
      </p:pic>
      <p:pic>
        <p:nvPicPr>
          <p:cNvPr id="758" name="Google Shape;758;p45" descr="preencoded.png"/>
          <p:cNvPicPr preferRelativeResize="0"/>
          <p:nvPr/>
        </p:nvPicPr>
        <p:blipFill rotWithShape="1">
          <a:blip r:embed="rId17">
            <a:alphaModFix/>
          </a:blip>
          <a:srcRect/>
          <a:stretch/>
        </p:blipFill>
        <p:spPr>
          <a:xfrm>
            <a:off x="475394" y="4546774"/>
            <a:ext cx="219447" cy="215986"/>
          </a:xfrm>
          <a:prstGeom prst="rect">
            <a:avLst/>
          </a:prstGeom>
          <a:noFill/>
          <a:ln>
            <a:noFill/>
          </a:ln>
        </p:spPr>
      </p:pic>
      <p:pic>
        <p:nvPicPr>
          <p:cNvPr id="759" name="Google Shape;759;p45" descr="preencoded.png"/>
          <p:cNvPicPr preferRelativeResize="0"/>
          <p:nvPr/>
        </p:nvPicPr>
        <p:blipFill rotWithShape="1">
          <a:blip r:embed="rId18">
            <a:alphaModFix/>
          </a:blip>
          <a:srcRect/>
          <a:stretch/>
        </p:blipFill>
        <p:spPr>
          <a:xfrm>
            <a:off x="475394" y="4269060"/>
            <a:ext cx="228600" cy="215986"/>
          </a:xfrm>
          <a:prstGeom prst="rect">
            <a:avLst/>
          </a:prstGeom>
          <a:noFill/>
          <a:ln>
            <a:noFill/>
          </a:ln>
        </p:spPr>
      </p:pic>
      <p:pic>
        <p:nvPicPr>
          <p:cNvPr id="760" name="Google Shape;760;p45" descr="preencoded.png"/>
          <p:cNvPicPr preferRelativeResize="0"/>
          <p:nvPr/>
        </p:nvPicPr>
        <p:blipFill rotWithShape="1">
          <a:blip r:embed="rId19">
            <a:alphaModFix/>
          </a:blip>
          <a:srcRect/>
          <a:stretch/>
        </p:blipFill>
        <p:spPr>
          <a:xfrm>
            <a:off x="475394" y="3986213"/>
            <a:ext cx="228600" cy="210852"/>
          </a:xfrm>
          <a:prstGeom prst="rect">
            <a:avLst/>
          </a:prstGeom>
          <a:noFill/>
          <a:ln>
            <a:noFill/>
          </a:ln>
        </p:spPr>
      </p:pic>
      <p:pic>
        <p:nvPicPr>
          <p:cNvPr id="761" name="Google Shape;761;p45" descr="preencoded.png"/>
          <p:cNvPicPr preferRelativeResize="0"/>
          <p:nvPr/>
        </p:nvPicPr>
        <p:blipFill rotWithShape="1">
          <a:blip r:embed="rId20">
            <a:alphaModFix/>
          </a:blip>
          <a:srcRect/>
          <a:stretch/>
        </p:blipFill>
        <p:spPr>
          <a:xfrm>
            <a:off x="475394" y="3584935"/>
            <a:ext cx="228600" cy="226256"/>
          </a:xfrm>
          <a:prstGeom prst="rect">
            <a:avLst/>
          </a:prstGeom>
          <a:noFill/>
          <a:ln>
            <a:noFill/>
          </a:ln>
        </p:spPr>
      </p:pic>
      <p:pic>
        <p:nvPicPr>
          <p:cNvPr id="762" name="Google Shape;762;p45" descr="preencoded.png"/>
          <p:cNvPicPr preferRelativeResize="0"/>
          <p:nvPr/>
        </p:nvPicPr>
        <p:blipFill rotWithShape="1">
          <a:blip r:embed="rId21">
            <a:alphaModFix/>
          </a:blip>
          <a:srcRect/>
          <a:stretch/>
        </p:blipFill>
        <p:spPr>
          <a:xfrm>
            <a:off x="6980024" y="654825"/>
            <a:ext cx="2121359" cy="1815629"/>
          </a:xfrm>
          <a:prstGeom prst="rect">
            <a:avLst/>
          </a:prstGeom>
          <a:noFill/>
          <a:ln>
            <a:noFill/>
          </a:ln>
        </p:spPr>
      </p:pic>
      <p:pic>
        <p:nvPicPr>
          <p:cNvPr id="763" name="Google Shape;763;p45" descr="preencoded.png"/>
          <p:cNvPicPr preferRelativeResize="0"/>
          <p:nvPr/>
        </p:nvPicPr>
        <p:blipFill rotWithShape="1">
          <a:blip r:embed="rId22">
            <a:alphaModFix/>
          </a:blip>
          <a:srcRect/>
          <a:stretch/>
        </p:blipFill>
        <p:spPr>
          <a:xfrm>
            <a:off x="4443971" y="2376190"/>
            <a:ext cx="201141" cy="169664"/>
          </a:xfrm>
          <a:prstGeom prst="rect">
            <a:avLst/>
          </a:prstGeom>
          <a:noFill/>
          <a:ln>
            <a:noFill/>
          </a:ln>
        </p:spPr>
      </p:pic>
      <p:pic>
        <p:nvPicPr>
          <p:cNvPr id="764" name="Google Shape;764;p45" descr="preencoded.png"/>
          <p:cNvPicPr preferRelativeResize="0"/>
          <p:nvPr/>
        </p:nvPicPr>
        <p:blipFill rotWithShape="1">
          <a:blip r:embed="rId23">
            <a:alphaModFix/>
          </a:blip>
          <a:srcRect/>
          <a:stretch/>
        </p:blipFill>
        <p:spPr>
          <a:xfrm>
            <a:off x="4443971" y="2119015"/>
            <a:ext cx="191988" cy="164530"/>
          </a:xfrm>
          <a:prstGeom prst="rect">
            <a:avLst/>
          </a:prstGeom>
          <a:noFill/>
          <a:ln>
            <a:noFill/>
          </a:ln>
        </p:spPr>
      </p:pic>
      <p:pic>
        <p:nvPicPr>
          <p:cNvPr id="765" name="Google Shape;765;p45" descr="preencoded.png"/>
          <p:cNvPicPr preferRelativeResize="0"/>
          <p:nvPr/>
        </p:nvPicPr>
        <p:blipFill rotWithShape="1">
          <a:blip r:embed="rId24">
            <a:alphaModFix/>
          </a:blip>
          <a:srcRect/>
          <a:stretch/>
        </p:blipFill>
        <p:spPr>
          <a:xfrm>
            <a:off x="4443971" y="1861840"/>
            <a:ext cx="201141" cy="169664"/>
          </a:xfrm>
          <a:prstGeom prst="rect">
            <a:avLst/>
          </a:prstGeom>
          <a:noFill/>
          <a:ln>
            <a:noFill/>
          </a:ln>
        </p:spPr>
      </p:pic>
      <p:pic>
        <p:nvPicPr>
          <p:cNvPr id="766" name="Google Shape;766;p45" descr="preencoded.png"/>
          <p:cNvPicPr preferRelativeResize="0"/>
          <p:nvPr/>
        </p:nvPicPr>
        <p:blipFill rotWithShape="1">
          <a:blip r:embed="rId25">
            <a:alphaModFix/>
          </a:blip>
          <a:srcRect/>
          <a:stretch/>
        </p:blipFill>
        <p:spPr>
          <a:xfrm>
            <a:off x="4443971" y="1589261"/>
            <a:ext cx="182835" cy="174799"/>
          </a:xfrm>
          <a:prstGeom prst="rect">
            <a:avLst/>
          </a:prstGeom>
          <a:noFill/>
          <a:ln>
            <a:noFill/>
          </a:ln>
        </p:spPr>
      </p:pic>
      <p:pic>
        <p:nvPicPr>
          <p:cNvPr id="767" name="Google Shape;767;p45" descr="preencoded.png"/>
          <p:cNvPicPr preferRelativeResize="0"/>
          <p:nvPr/>
        </p:nvPicPr>
        <p:blipFill rotWithShape="1">
          <a:blip r:embed="rId26">
            <a:alphaModFix/>
          </a:blip>
          <a:srcRect/>
          <a:stretch/>
        </p:blipFill>
        <p:spPr>
          <a:xfrm>
            <a:off x="4398206" y="1234418"/>
            <a:ext cx="292559" cy="287983"/>
          </a:xfrm>
          <a:prstGeom prst="rect">
            <a:avLst/>
          </a:prstGeom>
          <a:noFill/>
          <a:ln>
            <a:noFill/>
          </a:ln>
        </p:spPr>
      </p:pic>
      <p:pic>
        <p:nvPicPr>
          <p:cNvPr id="768" name="Google Shape;768;p45" descr="preencoded.png"/>
          <p:cNvPicPr preferRelativeResize="0"/>
          <p:nvPr/>
        </p:nvPicPr>
        <p:blipFill rotWithShape="1">
          <a:blip r:embed="rId27">
            <a:alphaModFix/>
          </a:blip>
          <a:srcRect/>
          <a:stretch/>
        </p:blipFill>
        <p:spPr>
          <a:xfrm>
            <a:off x="475394" y="2376190"/>
            <a:ext cx="182835" cy="169664"/>
          </a:xfrm>
          <a:prstGeom prst="rect">
            <a:avLst/>
          </a:prstGeom>
          <a:noFill/>
          <a:ln>
            <a:noFill/>
          </a:ln>
        </p:spPr>
      </p:pic>
      <p:pic>
        <p:nvPicPr>
          <p:cNvPr id="769" name="Google Shape;769;p45" descr="preencoded.png"/>
          <p:cNvPicPr preferRelativeResize="0"/>
          <p:nvPr/>
        </p:nvPicPr>
        <p:blipFill rotWithShape="1">
          <a:blip r:embed="rId28">
            <a:alphaModFix/>
          </a:blip>
          <a:srcRect/>
          <a:stretch/>
        </p:blipFill>
        <p:spPr>
          <a:xfrm>
            <a:off x="475394" y="2113880"/>
            <a:ext cx="182835" cy="179933"/>
          </a:xfrm>
          <a:prstGeom prst="rect">
            <a:avLst/>
          </a:prstGeom>
          <a:noFill/>
          <a:ln>
            <a:noFill/>
          </a:ln>
        </p:spPr>
      </p:pic>
      <p:pic>
        <p:nvPicPr>
          <p:cNvPr id="770" name="Google Shape;770;p45" descr="preencoded.png"/>
          <p:cNvPicPr preferRelativeResize="0"/>
          <p:nvPr/>
        </p:nvPicPr>
        <p:blipFill rotWithShape="1">
          <a:blip r:embed="rId29">
            <a:alphaModFix/>
          </a:blip>
          <a:srcRect/>
          <a:stretch/>
        </p:blipFill>
        <p:spPr>
          <a:xfrm>
            <a:off x="475394" y="1856705"/>
            <a:ext cx="182835" cy="174799"/>
          </a:xfrm>
          <a:prstGeom prst="rect">
            <a:avLst/>
          </a:prstGeom>
          <a:noFill/>
          <a:ln>
            <a:noFill/>
          </a:ln>
        </p:spPr>
      </p:pic>
      <p:pic>
        <p:nvPicPr>
          <p:cNvPr id="771" name="Google Shape;771;p45" descr="preencoded.png"/>
          <p:cNvPicPr preferRelativeResize="0"/>
          <p:nvPr/>
        </p:nvPicPr>
        <p:blipFill rotWithShape="1">
          <a:blip r:embed="rId30">
            <a:alphaModFix/>
          </a:blip>
          <a:srcRect/>
          <a:stretch/>
        </p:blipFill>
        <p:spPr>
          <a:xfrm>
            <a:off x="475394" y="1594396"/>
            <a:ext cx="182835" cy="169664"/>
          </a:xfrm>
          <a:prstGeom prst="rect">
            <a:avLst/>
          </a:prstGeom>
          <a:noFill/>
          <a:ln>
            <a:noFill/>
          </a:ln>
        </p:spPr>
      </p:pic>
      <p:pic>
        <p:nvPicPr>
          <p:cNvPr id="772" name="Google Shape;772;p45" descr="preencoded.png"/>
          <p:cNvPicPr preferRelativeResize="0"/>
          <p:nvPr/>
        </p:nvPicPr>
        <p:blipFill rotWithShape="1">
          <a:blip r:embed="rId31">
            <a:alphaModFix/>
          </a:blip>
          <a:srcRect/>
          <a:stretch/>
        </p:blipFill>
        <p:spPr>
          <a:xfrm>
            <a:off x="466241" y="1244687"/>
            <a:ext cx="365671" cy="277713"/>
          </a:xfrm>
          <a:prstGeom prst="rect">
            <a:avLst/>
          </a:prstGeom>
          <a:noFill/>
          <a:ln>
            <a:noFill/>
          </a:ln>
        </p:spPr>
      </p:pic>
      <p:sp>
        <p:nvSpPr>
          <p:cNvPr id="773" name="Google Shape;773;p45"/>
          <p:cNvSpPr/>
          <p:nvPr/>
        </p:nvSpPr>
        <p:spPr>
          <a:xfrm>
            <a:off x="246794" y="107938"/>
            <a:ext cx="4024789" cy="13885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8A745"/>
              </a:buClr>
              <a:buSzPts val="1000"/>
              <a:buFont typeface="Roboto"/>
              <a:buNone/>
            </a:pPr>
            <a:r>
              <a:rPr lang="en" sz="1000" b="0" i="0" u="none" strike="noStrike" cap="none">
                <a:solidFill>
                  <a:srgbClr val="28A745"/>
                </a:solidFill>
                <a:latin typeface="Roboto"/>
                <a:ea typeface="Roboto"/>
                <a:cs typeface="Roboto"/>
                <a:sym typeface="Roboto"/>
              </a:rPr>
              <a:t>Final Section</a:t>
            </a:r>
            <a:endParaRPr sz="1000" b="0" i="0" u="none" strike="noStrike" cap="none">
              <a:solidFill>
                <a:schemeClr val="dk1"/>
              </a:solidFill>
              <a:latin typeface="Calibri"/>
              <a:ea typeface="Calibri"/>
              <a:cs typeface="Calibri"/>
              <a:sym typeface="Calibri"/>
            </a:endParaRPr>
          </a:p>
        </p:txBody>
      </p:sp>
      <p:sp>
        <p:nvSpPr>
          <p:cNvPr id="774" name="Google Shape;774;p45"/>
          <p:cNvSpPr/>
          <p:nvPr/>
        </p:nvSpPr>
        <p:spPr>
          <a:xfrm>
            <a:off x="228600" y="303386"/>
            <a:ext cx="7656671" cy="38576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A1D37"/>
              </a:buClr>
              <a:buSzPts val="2600"/>
              <a:buFont typeface="Roboto"/>
              <a:buNone/>
            </a:pPr>
            <a:r>
              <a:rPr lang="en" sz="2600" b="1" i="0" u="none" strike="noStrike" cap="none">
                <a:solidFill>
                  <a:srgbClr val="0A1D37"/>
                </a:solidFill>
                <a:latin typeface="Roboto"/>
                <a:ea typeface="Roboto"/>
                <a:cs typeface="Roboto"/>
                <a:sym typeface="Roboto"/>
              </a:rPr>
              <a:t>Conversion Approach</a:t>
            </a:r>
            <a:endParaRPr sz="2600" b="0" i="0" u="none" strike="noStrike" cap="none">
              <a:solidFill>
                <a:schemeClr val="dk1"/>
              </a:solidFill>
              <a:latin typeface="Calibri"/>
              <a:ea typeface="Calibri"/>
              <a:cs typeface="Calibri"/>
              <a:sym typeface="Calibri"/>
            </a:endParaRPr>
          </a:p>
        </p:txBody>
      </p:sp>
      <p:sp>
        <p:nvSpPr>
          <p:cNvPr id="775" name="Google Shape;775;p45"/>
          <p:cNvSpPr/>
          <p:nvPr/>
        </p:nvSpPr>
        <p:spPr>
          <a:xfrm>
            <a:off x="228600" y="869194"/>
            <a:ext cx="7574519" cy="20058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8A745"/>
              </a:buClr>
              <a:buSzPts val="1300"/>
              <a:buFont typeface="Roboto"/>
              <a:buNone/>
            </a:pPr>
            <a:r>
              <a:rPr lang="en" sz="1300" b="1" i="0" u="none" strike="noStrike" cap="none">
                <a:solidFill>
                  <a:srgbClr val="28A745"/>
                </a:solidFill>
                <a:latin typeface="Roboto"/>
                <a:ea typeface="Roboto"/>
                <a:cs typeface="Roboto"/>
                <a:sym typeface="Roboto"/>
              </a:rPr>
              <a:t>Integrated Marketing × Sales Alignment</a:t>
            </a:r>
            <a:endParaRPr sz="1300" b="0" i="0" u="none" strike="noStrike" cap="none">
              <a:solidFill>
                <a:schemeClr val="dk1"/>
              </a:solidFill>
              <a:latin typeface="Calibri"/>
              <a:ea typeface="Calibri"/>
              <a:cs typeface="Calibri"/>
              <a:sym typeface="Calibri"/>
            </a:endParaRPr>
          </a:p>
        </p:txBody>
      </p:sp>
      <p:sp>
        <p:nvSpPr>
          <p:cNvPr id="776" name="Google Shape;776;p45"/>
          <p:cNvSpPr/>
          <p:nvPr/>
        </p:nvSpPr>
        <p:spPr>
          <a:xfrm>
            <a:off x="896094" y="1291010"/>
            <a:ext cx="1937385" cy="21085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A1D37"/>
              </a:buClr>
              <a:buSzPts val="1400"/>
              <a:buFont typeface="Roboto"/>
              <a:buNone/>
            </a:pPr>
            <a:r>
              <a:rPr lang="en" sz="1400" b="1" i="0" u="none" strike="noStrike" cap="none">
                <a:solidFill>
                  <a:srgbClr val="0A1D37"/>
                </a:solidFill>
                <a:latin typeface="Roboto"/>
                <a:ea typeface="Roboto"/>
                <a:cs typeface="Roboto"/>
                <a:sym typeface="Roboto"/>
              </a:rPr>
              <a:t>Marketing</a:t>
            </a:r>
            <a:endParaRPr sz="1400" b="0" i="0" u="none" strike="noStrike" cap="none">
              <a:solidFill>
                <a:schemeClr val="dk1"/>
              </a:solidFill>
              <a:latin typeface="Calibri"/>
              <a:ea typeface="Calibri"/>
              <a:cs typeface="Calibri"/>
              <a:sym typeface="Calibri"/>
            </a:endParaRPr>
          </a:p>
        </p:txBody>
      </p:sp>
      <p:sp>
        <p:nvSpPr>
          <p:cNvPr id="777" name="Google Shape;777;p45"/>
          <p:cNvSpPr/>
          <p:nvPr/>
        </p:nvSpPr>
        <p:spPr>
          <a:xfrm>
            <a:off x="777218" y="1620180"/>
            <a:ext cx="6257925"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Weekly B2B emailer — offers, benefits, testimonials</a:t>
            </a:r>
            <a:endParaRPr sz="800" b="0" i="0" u="none" strike="noStrike" cap="none">
              <a:solidFill>
                <a:schemeClr val="dk1"/>
              </a:solidFill>
              <a:latin typeface="Calibri"/>
              <a:ea typeface="Calibri"/>
              <a:cs typeface="Calibri"/>
              <a:sym typeface="Calibri"/>
            </a:endParaRPr>
          </a:p>
        </p:txBody>
      </p:sp>
      <p:sp>
        <p:nvSpPr>
          <p:cNvPr id="778" name="Google Shape;778;p45"/>
          <p:cNvSpPr/>
          <p:nvPr/>
        </p:nvSpPr>
        <p:spPr>
          <a:xfrm>
            <a:off x="777217" y="1882490"/>
            <a:ext cx="4977765"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Daily traffic and landing page monitoring</a:t>
            </a:r>
            <a:endParaRPr sz="800" b="0" i="0" u="none" strike="noStrike" cap="none">
              <a:solidFill>
                <a:schemeClr val="dk1"/>
              </a:solidFill>
              <a:latin typeface="Calibri"/>
              <a:ea typeface="Calibri"/>
              <a:cs typeface="Calibri"/>
              <a:sym typeface="Calibri"/>
            </a:endParaRPr>
          </a:p>
        </p:txBody>
      </p:sp>
      <p:sp>
        <p:nvSpPr>
          <p:cNvPr id="779" name="Google Shape;779;p45"/>
          <p:cNvSpPr/>
          <p:nvPr/>
        </p:nvSpPr>
        <p:spPr>
          <a:xfrm>
            <a:off x="777218" y="2139664"/>
            <a:ext cx="5337810" cy="14399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Lead quality reporting to sales (daily sync)</a:t>
            </a:r>
            <a:endParaRPr sz="800" b="0" i="0" u="none" strike="noStrike" cap="none">
              <a:solidFill>
                <a:schemeClr val="dk1"/>
              </a:solidFill>
              <a:latin typeface="Calibri"/>
              <a:ea typeface="Calibri"/>
              <a:cs typeface="Calibri"/>
              <a:sym typeface="Calibri"/>
            </a:endParaRPr>
          </a:p>
        </p:txBody>
      </p:sp>
      <p:sp>
        <p:nvSpPr>
          <p:cNvPr id="780" name="Google Shape;780;p45"/>
          <p:cNvSpPr/>
          <p:nvPr/>
        </p:nvSpPr>
        <p:spPr>
          <a:xfrm>
            <a:off x="777217" y="2396840"/>
            <a:ext cx="4977765"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Message testing and campaign optimization</a:t>
            </a:r>
            <a:endParaRPr sz="800" b="0" i="0" u="none" strike="noStrike" cap="none">
              <a:solidFill>
                <a:schemeClr val="dk1"/>
              </a:solidFill>
              <a:latin typeface="Calibri"/>
              <a:ea typeface="Calibri"/>
              <a:cs typeface="Calibri"/>
              <a:sym typeface="Calibri"/>
            </a:endParaRPr>
          </a:p>
        </p:txBody>
      </p:sp>
      <p:sp>
        <p:nvSpPr>
          <p:cNvPr id="781" name="Google Shape;781;p45"/>
          <p:cNvSpPr/>
          <p:nvPr/>
        </p:nvSpPr>
        <p:spPr>
          <a:xfrm>
            <a:off x="3529571" y="1743633"/>
            <a:ext cx="383977" cy="293117"/>
          </a:xfrm>
          <a:prstGeom prst="rect">
            <a:avLst/>
          </a:prstGeom>
          <a:noFill/>
          <a:ln>
            <a:noFill/>
          </a:ln>
        </p:spPr>
        <p:txBody>
          <a:bodyPr spcFirstLastPara="1" wrap="square" lIns="0" tIns="0" rIns="0" bIns="0" anchor="ctr" anchorCtr="0">
            <a:noAutofit/>
          </a:bodyPr>
          <a:lstStyle/>
          <a:p>
            <a:pPr marL="0" marR="0" lvl="0" indent="0" algn="ctr" rtl="0">
              <a:lnSpc>
                <a:spcPct val="110035"/>
              </a:lnSpc>
              <a:spcBef>
                <a:spcPts val="0"/>
              </a:spcBef>
              <a:spcAft>
                <a:spcPts val="0"/>
              </a:spcAft>
              <a:buClr>
                <a:srgbClr val="FFFFFF"/>
              </a:buClr>
              <a:buSzPts val="1100"/>
              <a:buFont typeface="Roboto"/>
              <a:buNone/>
            </a:pPr>
            <a:r>
              <a:rPr lang="en" sz="1100" b="1" i="0" u="none" strike="noStrike" cap="none">
                <a:solidFill>
                  <a:srgbClr val="FFFFFF"/>
                </a:solidFill>
                <a:latin typeface="Roboto"/>
                <a:ea typeface="Roboto"/>
                <a:cs typeface="Roboto"/>
                <a:sym typeface="Roboto"/>
              </a:rPr>
              <a:t>DAILY</a:t>
            </a:r>
            <a:endParaRPr sz="1100" b="0" i="0" u="none" strike="noStrike" cap="none">
              <a:solidFill>
                <a:schemeClr val="dk1"/>
              </a:solidFill>
              <a:latin typeface="Calibri"/>
              <a:ea typeface="Calibri"/>
              <a:cs typeface="Calibri"/>
              <a:sym typeface="Calibri"/>
            </a:endParaRPr>
          </a:p>
          <a:p>
            <a:pPr marL="0" marR="0" lvl="0" indent="0" algn="ctr" rtl="0">
              <a:lnSpc>
                <a:spcPct val="110035"/>
              </a:lnSpc>
              <a:spcBef>
                <a:spcPts val="0"/>
              </a:spcBef>
              <a:spcAft>
                <a:spcPts val="0"/>
              </a:spcAft>
              <a:buClr>
                <a:srgbClr val="FFFFFF"/>
              </a:buClr>
              <a:buSzPts val="1100"/>
              <a:buFont typeface="Roboto"/>
              <a:buNone/>
            </a:pPr>
            <a:r>
              <a:rPr lang="en" sz="1100" b="1" i="0" u="none" strike="noStrike" cap="none">
                <a:solidFill>
                  <a:srgbClr val="FFFFFF"/>
                </a:solidFill>
                <a:latin typeface="Roboto"/>
                <a:ea typeface="Roboto"/>
                <a:cs typeface="Roboto"/>
                <a:sym typeface="Roboto"/>
              </a:rPr>
              <a:t>SYNC</a:t>
            </a:r>
            <a:endParaRPr sz="1100" b="0" i="0" u="none" strike="noStrike" cap="none">
              <a:solidFill>
                <a:schemeClr val="dk1"/>
              </a:solidFill>
              <a:latin typeface="Calibri"/>
              <a:ea typeface="Calibri"/>
              <a:cs typeface="Calibri"/>
              <a:sym typeface="Calibri"/>
            </a:endParaRPr>
          </a:p>
        </p:txBody>
      </p:sp>
      <p:sp>
        <p:nvSpPr>
          <p:cNvPr id="782" name="Google Shape;782;p45"/>
          <p:cNvSpPr/>
          <p:nvPr/>
        </p:nvSpPr>
        <p:spPr>
          <a:xfrm>
            <a:off x="4791447" y="1296144"/>
            <a:ext cx="1114425" cy="17479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A1D37"/>
              </a:buClr>
              <a:buSzPts val="1400"/>
              <a:buFont typeface="Roboto"/>
              <a:buNone/>
            </a:pPr>
            <a:r>
              <a:rPr lang="en" sz="1400" b="1" i="0" u="none" strike="noStrike" cap="none">
                <a:solidFill>
                  <a:srgbClr val="0A1D37"/>
                </a:solidFill>
                <a:latin typeface="Roboto"/>
                <a:ea typeface="Roboto"/>
                <a:cs typeface="Roboto"/>
                <a:sym typeface="Roboto"/>
              </a:rPr>
              <a:t>Sales</a:t>
            </a:r>
            <a:endParaRPr sz="1400" b="0" i="0" u="none" strike="noStrike" cap="none">
              <a:solidFill>
                <a:schemeClr val="dk1"/>
              </a:solidFill>
              <a:latin typeface="Calibri"/>
              <a:ea typeface="Calibri"/>
              <a:cs typeface="Calibri"/>
              <a:sym typeface="Calibri"/>
            </a:endParaRPr>
          </a:p>
        </p:txBody>
      </p:sp>
      <p:sp>
        <p:nvSpPr>
          <p:cNvPr id="783" name="Google Shape;783;p45"/>
          <p:cNvSpPr/>
          <p:nvPr/>
        </p:nvSpPr>
        <p:spPr>
          <a:xfrm>
            <a:off x="4727377" y="1620180"/>
            <a:ext cx="4416623"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Follow up with every lead twice per week</a:t>
            </a:r>
            <a:endParaRPr sz="800" b="0" i="0" u="none" strike="noStrike" cap="none">
              <a:solidFill>
                <a:schemeClr val="dk1"/>
              </a:solidFill>
              <a:latin typeface="Calibri"/>
              <a:ea typeface="Calibri"/>
              <a:cs typeface="Calibri"/>
              <a:sym typeface="Calibri"/>
            </a:endParaRPr>
          </a:p>
        </p:txBody>
      </p:sp>
      <p:sp>
        <p:nvSpPr>
          <p:cNvPr id="784" name="Google Shape;784;p45"/>
          <p:cNvSpPr/>
          <p:nvPr/>
        </p:nvSpPr>
        <p:spPr>
          <a:xfrm>
            <a:off x="4727377" y="1882490"/>
            <a:ext cx="4416623"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Sales Head personally qualifies each inquiry</a:t>
            </a:r>
            <a:endParaRPr sz="800" b="0" i="0" u="none" strike="noStrike" cap="none">
              <a:solidFill>
                <a:schemeClr val="dk1"/>
              </a:solidFill>
              <a:latin typeface="Calibri"/>
              <a:ea typeface="Calibri"/>
              <a:cs typeface="Calibri"/>
              <a:sym typeface="Calibri"/>
            </a:endParaRPr>
          </a:p>
        </p:txBody>
      </p:sp>
      <p:sp>
        <p:nvSpPr>
          <p:cNvPr id="785" name="Google Shape;785;p45"/>
          <p:cNvSpPr/>
          <p:nvPr/>
        </p:nvSpPr>
        <p:spPr>
          <a:xfrm>
            <a:off x="4727377" y="2149934"/>
            <a:ext cx="4416623" cy="1285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Cross-sell additional products post-closure</a:t>
            </a:r>
            <a:endParaRPr sz="800" b="0" i="0" u="none" strike="noStrike" cap="none">
              <a:solidFill>
                <a:schemeClr val="dk1"/>
              </a:solidFill>
              <a:latin typeface="Calibri"/>
              <a:ea typeface="Calibri"/>
              <a:cs typeface="Calibri"/>
              <a:sym typeface="Calibri"/>
            </a:endParaRPr>
          </a:p>
        </p:txBody>
      </p:sp>
      <p:sp>
        <p:nvSpPr>
          <p:cNvPr id="786" name="Google Shape;786;p45"/>
          <p:cNvSpPr/>
          <p:nvPr/>
        </p:nvSpPr>
        <p:spPr>
          <a:xfrm>
            <a:off x="4727377" y="2396840"/>
            <a:ext cx="4416623" cy="13372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3333"/>
              </a:buClr>
              <a:buSzPts val="800"/>
              <a:buFont typeface="Roboto"/>
              <a:buNone/>
            </a:pPr>
            <a:r>
              <a:rPr lang="en" sz="800" b="0" i="0" u="none" strike="noStrike" cap="none">
                <a:solidFill>
                  <a:srgbClr val="333333"/>
                </a:solidFill>
                <a:latin typeface="Roboto"/>
                <a:ea typeface="Roboto"/>
                <a:cs typeface="Roboto"/>
                <a:sym typeface="Roboto"/>
              </a:rPr>
              <a:t>Daily feedback loop with marketing on lead quality</a:t>
            </a:r>
            <a:endParaRPr sz="800" b="0" i="0" u="none" strike="noStrike" cap="none">
              <a:solidFill>
                <a:schemeClr val="dk1"/>
              </a:solidFill>
              <a:latin typeface="Calibri"/>
              <a:ea typeface="Calibri"/>
              <a:cs typeface="Calibri"/>
              <a:sym typeface="Calibri"/>
            </a:endParaRPr>
          </a:p>
        </p:txBody>
      </p:sp>
      <p:sp>
        <p:nvSpPr>
          <p:cNvPr id="787" name="Google Shape;787;p45"/>
          <p:cNvSpPr/>
          <p:nvPr/>
        </p:nvSpPr>
        <p:spPr>
          <a:xfrm>
            <a:off x="4096494" y="2761952"/>
            <a:ext cx="1462326" cy="1799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300"/>
              <a:buFont typeface="Roboto"/>
              <a:buNone/>
            </a:pPr>
            <a:r>
              <a:rPr lang="en" sz="1300" b="1" i="0" u="none" strike="noStrike" cap="none">
                <a:solidFill>
                  <a:srgbClr val="FFFFFF"/>
                </a:solidFill>
                <a:latin typeface="Roboto"/>
                <a:ea typeface="Roboto"/>
                <a:cs typeface="Roboto"/>
                <a:sym typeface="Roboto"/>
              </a:rPr>
              <a:t>THE ASK</a:t>
            </a:r>
            <a:endParaRPr sz="1300" b="0" i="0" u="none" strike="noStrike" cap="none">
              <a:solidFill>
                <a:schemeClr val="dk1"/>
              </a:solidFill>
              <a:latin typeface="Calibri"/>
              <a:ea typeface="Calibri"/>
              <a:cs typeface="Calibri"/>
              <a:sym typeface="Calibri"/>
            </a:endParaRPr>
          </a:p>
        </p:txBody>
      </p:sp>
      <p:sp>
        <p:nvSpPr>
          <p:cNvPr id="788" name="Google Shape;788;p45"/>
          <p:cNvSpPr/>
          <p:nvPr/>
        </p:nvSpPr>
        <p:spPr>
          <a:xfrm>
            <a:off x="466241" y="3178634"/>
            <a:ext cx="4221956" cy="25192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700"/>
              <a:buFont typeface="Roboto"/>
              <a:buNone/>
            </a:pPr>
            <a:r>
              <a:rPr lang="en" sz="1700" b="1" i="0" u="none" strike="noStrike" cap="none">
                <a:solidFill>
                  <a:srgbClr val="FFFFFF"/>
                </a:solidFill>
                <a:latin typeface="Roboto"/>
                <a:ea typeface="Roboto"/>
                <a:cs typeface="Roboto"/>
                <a:sym typeface="Roboto"/>
              </a:rPr>
              <a:t>Approve &amp; Launch</a:t>
            </a:r>
            <a:endParaRPr sz="1700" b="0" i="0" u="none" strike="noStrike" cap="none">
              <a:solidFill>
                <a:schemeClr val="dk1"/>
              </a:solidFill>
              <a:latin typeface="Calibri"/>
              <a:ea typeface="Calibri"/>
              <a:cs typeface="Calibri"/>
              <a:sym typeface="Calibri"/>
            </a:endParaRPr>
          </a:p>
        </p:txBody>
      </p:sp>
      <p:sp>
        <p:nvSpPr>
          <p:cNvPr id="789" name="Google Shape;789;p45"/>
          <p:cNvSpPr/>
          <p:nvPr/>
        </p:nvSpPr>
        <p:spPr>
          <a:xfrm>
            <a:off x="795524" y="3595204"/>
            <a:ext cx="3776476" cy="31365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000"/>
              <a:buFont typeface="Roboto"/>
              <a:buNone/>
            </a:pPr>
            <a:r>
              <a:rPr lang="en" sz="1000" b="0" i="0" u="none" strike="noStrike" cap="none" dirty="0">
                <a:solidFill>
                  <a:srgbClr val="FFFFFF"/>
                </a:solidFill>
                <a:latin typeface="Roboto"/>
                <a:ea typeface="Roboto"/>
                <a:cs typeface="Roboto"/>
                <a:sym typeface="Roboto"/>
              </a:rPr>
              <a:t>SAR 40,000 Google Ads budget </a:t>
            </a:r>
            <a:r>
              <a:rPr lang="en-US" sz="1000" b="0" i="0" u="none" strike="noStrike" cap="none" dirty="0">
                <a:solidFill>
                  <a:srgbClr val="FFFFFF"/>
                </a:solidFill>
                <a:latin typeface="Roboto"/>
                <a:ea typeface="Roboto"/>
                <a:cs typeface="Roboto"/>
                <a:sym typeface="Roboto"/>
              </a:rPr>
              <a:t>IPAF, PASMA, D Driving, food safety, hospitality</a:t>
            </a:r>
            <a:endParaRPr sz="1000" b="0" i="0" u="none" strike="noStrike" cap="none" dirty="0">
              <a:solidFill>
                <a:schemeClr val="dk1"/>
              </a:solidFill>
              <a:latin typeface="Calibri"/>
              <a:ea typeface="Calibri"/>
              <a:cs typeface="Calibri"/>
              <a:sym typeface="Calibri"/>
            </a:endParaRPr>
          </a:p>
        </p:txBody>
      </p:sp>
      <p:sp>
        <p:nvSpPr>
          <p:cNvPr id="790" name="Google Shape;790;p45"/>
          <p:cNvSpPr/>
          <p:nvPr/>
        </p:nvSpPr>
        <p:spPr>
          <a:xfrm>
            <a:off x="795524" y="4017020"/>
            <a:ext cx="8348477" cy="16453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Roboto"/>
              <a:buNone/>
            </a:pPr>
            <a:r>
              <a:rPr lang="en" sz="1000" b="0" i="0" u="none" strike="noStrike" cap="none">
                <a:solidFill>
                  <a:srgbClr val="FFFFFF"/>
                </a:solidFill>
                <a:latin typeface="Roboto"/>
                <a:ea typeface="Roboto"/>
                <a:cs typeface="Roboto"/>
                <a:sym typeface="Roboto"/>
              </a:rPr>
              <a:t>Search + Performance Max dual-layer campaign architecture</a:t>
            </a:r>
            <a:endParaRPr sz="1000" b="0" i="0" u="none" strike="noStrike" cap="none">
              <a:solidFill>
                <a:schemeClr val="dk1"/>
              </a:solidFill>
              <a:latin typeface="Calibri"/>
              <a:ea typeface="Calibri"/>
              <a:cs typeface="Calibri"/>
              <a:sym typeface="Calibri"/>
            </a:endParaRPr>
          </a:p>
        </p:txBody>
      </p:sp>
      <p:sp>
        <p:nvSpPr>
          <p:cNvPr id="791" name="Google Shape;791;p45"/>
          <p:cNvSpPr/>
          <p:nvPr/>
        </p:nvSpPr>
        <p:spPr>
          <a:xfrm>
            <a:off x="795524" y="4289599"/>
            <a:ext cx="8348477" cy="16966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000"/>
              <a:buFont typeface="Roboto"/>
              <a:buNone/>
            </a:pPr>
            <a:r>
              <a:rPr lang="en" sz="1000" b="0" i="0" u="none" strike="noStrike" cap="none">
                <a:solidFill>
                  <a:srgbClr val="FFFFFF"/>
                </a:solidFill>
                <a:latin typeface="Roboto"/>
                <a:ea typeface="Roboto"/>
                <a:cs typeface="Roboto"/>
                <a:sym typeface="Roboto"/>
              </a:rPr>
              <a:t>CRM tracking — lead quality reporting and conversion monitoring</a:t>
            </a:r>
            <a:endParaRPr sz="1000" b="0" i="0" u="none" strike="noStrike" cap="none">
              <a:solidFill>
                <a:schemeClr val="dk1"/>
              </a:solidFill>
              <a:latin typeface="Calibri"/>
              <a:ea typeface="Calibri"/>
              <a:cs typeface="Calibri"/>
              <a:sym typeface="Calibri"/>
            </a:endParaRPr>
          </a:p>
        </p:txBody>
      </p:sp>
      <p:sp>
        <p:nvSpPr>
          <p:cNvPr id="792" name="Google Shape;792;p45"/>
          <p:cNvSpPr/>
          <p:nvPr/>
        </p:nvSpPr>
        <p:spPr>
          <a:xfrm>
            <a:off x="795524" y="4557043"/>
            <a:ext cx="2935188" cy="31365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FFFFFF"/>
              </a:buClr>
              <a:buSzPts val="1000"/>
              <a:buFont typeface="Roboto"/>
              <a:buNone/>
            </a:pPr>
            <a:r>
              <a:rPr lang="en" sz="1000" b="0" i="0" u="none" strike="noStrike" cap="none">
                <a:solidFill>
                  <a:srgbClr val="FFFFFF"/>
                </a:solidFill>
                <a:latin typeface="Roboto"/>
                <a:ea typeface="Roboto"/>
                <a:cs typeface="Roboto"/>
                <a:sym typeface="Roboto"/>
              </a:rPr>
              <a:t>Sales follow-up cadence — twice-weekly contact,</a:t>
            </a:r>
            <a:endParaRPr sz="1000" b="0" i="0" u="none" strike="noStrike" cap="none">
              <a:solidFill>
                <a:schemeClr val="dk1"/>
              </a:solidFill>
              <a:latin typeface="Calibri"/>
              <a:ea typeface="Calibri"/>
              <a:cs typeface="Calibri"/>
              <a:sym typeface="Calibri"/>
            </a:endParaRPr>
          </a:p>
          <a:p>
            <a:pPr marL="0" marR="0" lvl="0" indent="0" algn="l" rtl="0">
              <a:lnSpc>
                <a:spcPct val="120000"/>
              </a:lnSpc>
              <a:spcBef>
                <a:spcPts val="0"/>
              </a:spcBef>
              <a:spcAft>
                <a:spcPts val="0"/>
              </a:spcAft>
              <a:buClr>
                <a:srgbClr val="FFFFFF"/>
              </a:buClr>
              <a:buSzPts val="1000"/>
              <a:buFont typeface="Roboto"/>
              <a:buNone/>
            </a:pPr>
            <a:r>
              <a:rPr lang="en" sz="1000" b="0" i="0" u="none" strike="noStrike" cap="none">
                <a:solidFill>
                  <a:srgbClr val="FFFFFF"/>
                </a:solidFill>
                <a:latin typeface="Roboto"/>
                <a:ea typeface="Roboto"/>
                <a:cs typeface="Roboto"/>
                <a:sym typeface="Roboto"/>
              </a:rPr>
              <a:t>daily marketing-sales sync</a:t>
            </a:r>
            <a:endParaRPr sz="1000" b="0" i="0" u="none" strike="noStrike" cap="none">
              <a:solidFill>
                <a:schemeClr val="dk1"/>
              </a:solidFill>
              <a:latin typeface="Calibri"/>
              <a:ea typeface="Calibri"/>
              <a:cs typeface="Calibri"/>
              <a:sym typeface="Calibri"/>
            </a:endParaRPr>
          </a:p>
        </p:txBody>
      </p:sp>
      <p:sp>
        <p:nvSpPr>
          <p:cNvPr id="793" name="Google Shape;793;p45"/>
          <p:cNvSpPr/>
          <p:nvPr/>
        </p:nvSpPr>
        <p:spPr>
          <a:xfrm>
            <a:off x="6253349" y="3214688"/>
            <a:ext cx="1364680" cy="149125"/>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Roboto"/>
              <a:buNone/>
            </a:pPr>
            <a:r>
              <a:rPr lang="en" sz="800" b="0" i="0" u="none" strike="noStrike" cap="none">
                <a:solidFill>
                  <a:srgbClr val="FFFFFF"/>
                </a:solidFill>
                <a:latin typeface="Roboto"/>
                <a:ea typeface="Roboto"/>
                <a:cs typeface="Roboto"/>
                <a:sym typeface="Roboto"/>
              </a:rPr>
              <a:t>PROJECTED OUTCOME</a:t>
            </a:r>
            <a:endParaRPr sz="800" b="0" i="0" u="none" strike="noStrike" cap="none">
              <a:solidFill>
                <a:schemeClr val="dk1"/>
              </a:solidFill>
              <a:latin typeface="Calibri"/>
              <a:ea typeface="Calibri"/>
              <a:cs typeface="Calibri"/>
              <a:sym typeface="Calibri"/>
            </a:endParaRPr>
          </a:p>
        </p:txBody>
      </p:sp>
      <p:sp>
        <p:nvSpPr>
          <p:cNvPr id="794" name="Google Shape;794;p45"/>
          <p:cNvSpPr/>
          <p:nvPr/>
        </p:nvSpPr>
        <p:spPr>
          <a:xfrm>
            <a:off x="6245201" y="3425540"/>
            <a:ext cx="1371823" cy="519485"/>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4600"/>
              <a:buFont typeface="Roboto"/>
              <a:buNone/>
            </a:pPr>
            <a:r>
              <a:rPr lang="en" sz="4600" b="1" i="0" u="none" strike="noStrike" cap="none" dirty="0">
                <a:solidFill>
                  <a:srgbClr val="FFFFFF"/>
                </a:solidFill>
                <a:latin typeface="Roboto"/>
                <a:ea typeface="Roboto"/>
                <a:cs typeface="Roboto"/>
                <a:sym typeface="Roboto"/>
              </a:rPr>
              <a:t>150+</a:t>
            </a:r>
            <a:endParaRPr sz="4600" b="0" i="0" u="none" strike="noStrike" cap="none" dirty="0">
              <a:solidFill>
                <a:schemeClr val="dk1"/>
              </a:solidFill>
              <a:latin typeface="Calibri"/>
              <a:ea typeface="Calibri"/>
              <a:cs typeface="Calibri"/>
              <a:sym typeface="Calibri"/>
            </a:endParaRPr>
          </a:p>
        </p:txBody>
      </p:sp>
      <p:sp>
        <p:nvSpPr>
          <p:cNvPr id="795" name="Google Shape;795;p45"/>
          <p:cNvSpPr/>
          <p:nvPr/>
        </p:nvSpPr>
        <p:spPr>
          <a:xfrm>
            <a:off x="6132910" y="3975832"/>
            <a:ext cx="1559905" cy="16966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Roboto"/>
              <a:buNone/>
            </a:pPr>
            <a:r>
              <a:rPr lang="en" sz="1200" b="1" i="0" u="none" strike="noStrike" cap="none">
                <a:solidFill>
                  <a:srgbClr val="FFFFFF"/>
                </a:solidFill>
                <a:latin typeface="Roboto"/>
                <a:ea typeface="Roboto"/>
                <a:cs typeface="Roboto"/>
                <a:sym typeface="Roboto"/>
              </a:rPr>
              <a:t>Qualified B2B Leads</a:t>
            </a:r>
            <a:endParaRPr sz="1200" b="0" i="0" u="none" strike="noStrike" cap="none">
              <a:solidFill>
                <a:schemeClr val="dk1"/>
              </a:solidFill>
              <a:latin typeface="Calibri"/>
              <a:ea typeface="Calibri"/>
              <a:cs typeface="Calibri"/>
              <a:sym typeface="Calibri"/>
            </a:endParaRPr>
          </a:p>
        </p:txBody>
      </p:sp>
      <p:sp>
        <p:nvSpPr>
          <p:cNvPr id="796" name="Google Shape;796;p45"/>
          <p:cNvSpPr/>
          <p:nvPr/>
        </p:nvSpPr>
        <p:spPr>
          <a:xfrm>
            <a:off x="5832649" y="4289599"/>
            <a:ext cx="2196814" cy="1542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Roboto"/>
              <a:buNone/>
            </a:pPr>
            <a:r>
              <a:rPr lang="en" sz="800" b="0" i="0" u="none" strike="noStrike" cap="none" dirty="0">
                <a:solidFill>
                  <a:srgbClr val="FFFFFF"/>
                </a:solidFill>
                <a:latin typeface="Roboto"/>
                <a:ea typeface="Roboto"/>
                <a:cs typeface="Roboto"/>
                <a:sym typeface="Roboto"/>
              </a:rPr>
              <a:t>SAR 40,000 · Google Ads Investment</a:t>
            </a:r>
            <a:endParaRPr sz="800" b="0" i="0" u="none" strike="noStrike" cap="none" dirty="0">
              <a:solidFill>
                <a:schemeClr val="dk1"/>
              </a:solidFill>
              <a:latin typeface="Calibri"/>
              <a:ea typeface="Calibri"/>
              <a:cs typeface="Calibri"/>
              <a:sym typeface="Calibri"/>
            </a:endParaRPr>
          </a:p>
        </p:txBody>
      </p:sp>
      <p:sp>
        <p:nvSpPr>
          <p:cNvPr id="797" name="Google Shape;797;p45"/>
          <p:cNvSpPr/>
          <p:nvPr/>
        </p:nvSpPr>
        <p:spPr>
          <a:xfrm>
            <a:off x="5850955" y="4546774"/>
            <a:ext cx="2151050" cy="1542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00"/>
              <a:buFont typeface="Roboto"/>
              <a:buNone/>
            </a:pPr>
            <a:r>
              <a:rPr lang="en" sz="800" b="0" i="0" u="none" strike="noStrike" cap="none">
                <a:solidFill>
                  <a:srgbClr val="FFFFFF"/>
                </a:solidFill>
                <a:latin typeface="Roboto"/>
                <a:ea typeface="Roboto"/>
                <a:cs typeface="Roboto"/>
                <a:sym typeface="Roboto"/>
              </a:rPr>
              <a:t>Etihad Pioneers · etihadpioneers.sa</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TotalTime>
  <Words>4164</Words>
  <Application>Microsoft Office PowerPoint</Application>
  <PresentationFormat>On-screen Show (16:9)</PresentationFormat>
  <Paragraphs>504</Paragraphs>
  <Slides>20</Slides>
  <Notes>20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20</vt:i4>
      </vt:variant>
    </vt:vector>
  </HeadingPairs>
  <TitlesOfParts>
    <vt:vector size="28" baseType="lpstr">
      <vt:lpstr>Open Sans</vt:lpstr>
      <vt:lpstr>Arial</vt:lpstr>
      <vt:lpstr>Calibri</vt:lpstr>
      <vt:lpstr>Noto Sans Arabic</vt:lpstr>
      <vt:lpstr>Roboto</vt:lpstr>
      <vt:lpstr>Simple Light</vt:lpstr>
      <vt:lpstr>Office Theme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Mohd Aqib</cp:lastModifiedBy>
  <cp:revision>23</cp:revision>
  <dcterms:modified xsi:type="dcterms:W3CDTF">2026-09-03T08:32:33Z</dcterms:modified>
</cp:coreProperties>
</file>